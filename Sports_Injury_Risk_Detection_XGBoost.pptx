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2.svg" ContentType="image/svg+xml"/>
  <Override PartName="/ppt/media/image21.svg" ContentType="image/svg+xml"/>
  <Override PartName="/ppt/media/image2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8"/>
  </p:notesMasterIdLst>
  <p:sldIdLst>
    <p:sldId id="312" r:id="rId2"/>
    <p:sldId id="313" r:id="rId3"/>
    <p:sldId id="258" r:id="rId4"/>
    <p:sldId id="314" r:id="rId5"/>
    <p:sldId id="256" r:id="rId6"/>
    <p:sldId id="260" r:id="rId7"/>
    <p:sldId id="305" r:id="rId8"/>
    <p:sldId id="261" r:id="rId9"/>
    <p:sldId id="262" r:id="rId10"/>
    <p:sldId id="263" r:id="rId11"/>
    <p:sldId id="271" r:id="rId12"/>
    <p:sldId id="272" r:id="rId13"/>
    <p:sldId id="299" r:id="rId14"/>
    <p:sldId id="300" r:id="rId15"/>
    <p:sldId id="301" r:id="rId16"/>
    <p:sldId id="302" r:id="rId17"/>
    <p:sldId id="303" r:id="rId18"/>
    <p:sldId id="304" r:id="rId19"/>
    <p:sldId id="306" r:id="rId20"/>
    <p:sldId id="307" r:id="rId21"/>
    <p:sldId id="308" r:id="rId22"/>
    <p:sldId id="309" r:id="rId23"/>
    <p:sldId id="310" r:id="rId24"/>
    <p:sldId id="296" r:id="rId25"/>
    <p:sldId id="297" r:id="rId26"/>
    <p:sldId id="298" r:id="rId27"/>
  </p:sldIdLst>
  <p:sldSz cx="18288000" cy="10287000"/>
  <p:notesSz cx="6858000" cy="9144000"/>
  <p:embeddedFontLst>
    <p:embeddedFont>
      <p:font typeface="PT Sans" panose="020B0604020202020204" charset="0"/>
      <p:regular r:id="rId29"/>
      <p:bold r:id="rId30"/>
      <p:italic r:id="rId31"/>
      <p:boldItalic r:id="rId32"/>
    </p:embeddedFont>
    <p:embeddedFont>
      <p:font typeface="Public Sans" panose="020B0604020202020204" charset="0"/>
      <p:regular r:id="rId33"/>
    </p:embeddedFont>
    <p:embeddedFont>
      <p:font typeface="Public Sans Bold" panose="020B0604020202020204"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0ED"/>
    <a:srgbClr val="E7E4EF"/>
    <a:srgbClr val="AB9F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 dt="2026-08-16T09:46:20.2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font" Target="fonts/font1.fntdata"/><Relationship Id="rId30" Type="http://schemas.openxmlformats.org/officeDocument/2006/relationships/font" Target="fonts/font2.fntdata"/><Relationship Id="rId31" Type="http://schemas.openxmlformats.org/officeDocument/2006/relationships/font" Target="fonts/font3.fntdata"/><Relationship Id="rId32" Type="http://schemas.openxmlformats.org/officeDocument/2006/relationships/font" Target="fonts/font4.fntdata"/><Relationship Id="rId33" Type="http://schemas.openxmlformats.org/officeDocument/2006/relationships/font" Target="fonts/font5.fntdata"/><Relationship Id="rId34" Type="http://schemas.openxmlformats.org/officeDocument/2006/relationships/font" Target="fonts/font6.fntdata"/><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microsoft.com/office/2016/11/relationships/changesInfo" Target="changesInfos/changesInfo1.xml"/><Relationship Id="rId4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00000000-0000-0000-0000-000000000000}"/>
    <pc:docChg chg="delSld modSld">
      <pc:chgData name="Guest User" userId="" providerId="Windows Live" clId="Web-{00000000-0000-0000-0000-000000000000}" dt="2026-08-16T09:46:20.218" v="2" actId="20577"/>
      <pc:docMkLst>
        <pc:docMk/>
      </pc:docMkLst>
      <pc:sldChg chg="del">
        <pc:chgData name="Guest User" userId="" providerId="Windows Live" clId="Web-{00000000-0000-0000-0000-000000000000}" dt="2026-08-16T09:45:15.557" v="0"/>
        <pc:sldMkLst>
          <pc:docMk/>
          <pc:sldMk cId="0" sldId="257"/>
        </pc:sldMkLst>
      </pc:sldChg>
      <pc:sldChg chg="modSp">
        <pc:chgData name="Guest User" userId="" providerId="Windows Live" clId="Web-{00000000-0000-0000-0000-000000000000}" dt="2026-08-16T09:46:20.218" v="2" actId="20577"/>
        <pc:sldMkLst>
          <pc:docMk/>
          <pc:sldMk cId="0" sldId="297"/>
        </pc:sldMkLst>
        <pc:spChg chg="mod">
          <ac:chgData name="Guest User" userId="" providerId="Windows Live" clId="Web-{00000000-0000-0000-0000-000000000000}" dt="2026-08-16T09:46:20.218" v="2" actId="20577"/>
          <ac:spMkLst>
            <pc:docMk/>
            <pc:sldMk cId="0" sldId="297"/>
            <ac:spMk id="7"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B4D11AA-45E9-BE4C-8B92-496C5CD5649C}" type="doc">
      <dgm:prSet loTypeId="urn:microsoft.com/office/officeart/2005/8/layout/process1" loCatId="" qsTypeId="urn:microsoft.com/office/officeart/2005/8/quickstyle/simple1#1" qsCatId="simple" csTypeId="urn:microsoft.com/office/officeart/2005/8/colors/accent1_2#1" csCatId="accent1" phldr="1"/>
      <dgm:spPr/>
    </dgm:pt>
    <dgm:pt modelId="{7FCB9E8E-FA44-F14E-936E-1AF0633A9CA4}">
      <dgm:prSet phldrT="[Text]"/>
      <dgm:spPr>
        <a:solidFill>
          <a:schemeClr val="accent4">
            <a:lumMod val="60000"/>
            <a:lumOff val="40000"/>
          </a:schemeClr>
        </a:solidFill>
      </dgm:spPr>
      <dgm:t>
        <a:bodyPr/>
        <a:lstStyle/>
        <a:p>
          <a:r>
            <a:rPr lang="en-GB"/>
            <a:t>Register</a:t>
          </a:r>
        </a:p>
      </dgm:t>
    </dgm:pt>
    <dgm:pt modelId="{ABBB66E6-B1D2-444F-90D1-4CC854B687CF}" type="parTrans" cxnId="{BF25C11D-AADE-B849-9212-C43890878C92}">
      <dgm:prSet/>
      <dgm:spPr/>
      <dgm:t>
        <a:bodyPr/>
        <a:lstStyle/>
        <a:p>
          <a:endParaRPr lang="en-GB"/>
        </a:p>
      </dgm:t>
    </dgm:pt>
    <dgm:pt modelId="{080F8988-9FC3-8842-A27B-B495485D4E88}" type="sibTrans" cxnId="{BF25C11D-AADE-B849-9212-C43890878C92}">
      <dgm:prSet/>
      <dgm:spPr/>
      <dgm:t>
        <a:bodyPr/>
        <a:lstStyle/>
        <a:p>
          <a:endParaRPr lang="en-GB"/>
        </a:p>
      </dgm:t>
    </dgm:pt>
    <dgm:pt modelId="{36E71D73-BCB8-464B-85F3-FE22F58849C6}">
      <dgm:prSet phldrT="[Text]"/>
      <dgm:spPr>
        <a:solidFill>
          <a:schemeClr val="accent4">
            <a:lumMod val="60000"/>
            <a:lumOff val="40000"/>
          </a:schemeClr>
        </a:solidFill>
      </dgm:spPr>
      <dgm:t>
        <a:bodyPr/>
        <a:lstStyle/>
        <a:p>
          <a:r>
            <a:rPr lang="en-GB"/>
            <a:t>Login</a:t>
          </a:r>
        </a:p>
      </dgm:t>
    </dgm:pt>
    <dgm:pt modelId="{B5405AC3-849F-534D-8D55-82D067D2276B}" type="parTrans" cxnId="{F2F13F58-D35C-6143-B711-1C5575869837}">
      <dgm:prSet/>
      <dgm:spPr/>
      <dgm:t>
        <a:bodyPr/>
        <a:lstStyle/>
        <a:p>
          <a:endParaRPr lang="en-GB"/>
        </a:p>
      </dgm:t>
    </dgm:pt>
    <dgm:pt modelId="{DDC085DB-ADCA-AF47-BEE8-90232AE9EE09}" type="sibTrans" cxnId="{F2F13F58-D35C-6143-B711-1C5575869837}">
      <dgm:prSet/>
      <dgm:spPr/>
      <dgm:t>
        <a:bodyPr/>
        <a:lstStyle/>
        <a:p>
          <a:endParaRPr lang="en-GB"/>
        </a:p>
      </dgm:t>
    </dgm:pt>
    <dgm:pt modelId="{6B03E77F-A205-EA46-99E2-2122A94C94B2}">
      <dgm:prSet phldrT="[Text]"/>
      <dgm:spPr>
        <a:solidFill>
          <a:schemeClr val="accent4">
            <a:lumMod val="60000"/>
            <a:lumOff val="40000"/>
          </a:schemeClr>
        </a:solidFill>
      </dgm:spPr>
      <dgm:t>
        <a:bodyPr/>
        <a:lstStyle/>
        <a:p>
          <a:r>
            <a:rPr lang="en-GB"/>
            <a:t>Athlete Profile</a:t>
          </a:r>
        </a:p>
      </dgm:t>
    </dgm:pt>
    <dgm:pt modelId="{0628ED09-EA05-A54A-A174-0C05ED610870}" type="parTrans" cxnId="{54EC2901-109E-8549-A4AD-66313999EE6B}">
      <dgm:prSet/>
      <dgm:spPr/>
      <dgm:t>
        <a:bodyPr/>
        <a:lstStyle/>
        <a:p>
          <a:endParaRPr lang="en-GB"/>
        </a:p>
      </dgm:t>
    </dgm:pt>
    <dgm:pt modelId="{3A06F4B6-E420-8043-B528-53FAE7D62AC5}" type="sibTrans" cxnId="{54EC2901-109E-8549-A4AD-66313999EE6B}">
      <dgm:prSet/>
      <dgm:spPr/>
      <dgm:t>
        <a:bodyPr/>
        <a:lstStyle/>
        <a:p>
          <a:endParaRPr lang="en-GB"/>
        </a:p>
      </dgm:t>
    </dgm:pt>
    <dgm:pt modelId="{A7A8C51B-F8FC-7944-8DFE-1DF11E5656D4}">
      <dgm:prSet phldrT="[Text]"/>
      <dgm:spPr>
        <a:solidFill>
          <a:schemeClr val="accent4">
            <a:lumMod val="60000"/>
            <a:lumOff val="40000"/>
          </a:schemeClr>
        </a:solidFill>
      </dgm:spPr>
      <dgm:t>
        <a:bodyPr/>
        <a:lstStyle/>
        <a:p>
          <a:r>
            <a:rPr lang="en-GB"/>
            <a:t>Upload</a:t>
          </a:r>
        </a:p>
      </dgm:t>
    </dgm:pt>
    <dgm:pt modelId="{E5087AE4-50C1-C944-A141-443B40D1E96C}" type="parTrans" cxnId="{CA410003-9A37-F741-B136-CB464AD00ABA}">
      <dgm:prSet/>
      <dgm:spPr/>
      <dgm:t>
        <a:bodyPr/>
        <a:lstStyle/>
        <a:p>
          <a:endParaRPr lang="en-GB"/>
        </a:p>
      </dgm:t>
    </dgm:pt>
    <dgm:pt modelId="{90E3F037-F8A7-AC41-88C7-C1660B640614}" type="sibTrans" cxnId="{CA410003-9A37-F741-B136-CB464AD00ABA}">
      <dgm:prSet/>
      <dgm:spPr/>
      <dgm:t>
        <a:bodyPr/>
        <a:lstStyle/>
        <a:p>
          <a:endParaRPr lang="en-GB"/>
        </a:p>
      </dgm:t>
    </dgm:pt>
    <dgm:pt modelId="{70CE9BE1-311A-6D49-BCB5-48C3700EA27E}">
      <dgm:prSet phldrT="[Text]"/>
      <dgm:spPr>
        <a:solidFill>
          <a:schemeClr val="accent4">
            <a:lumMod val="60000"/>
            <a:lumOff val="40000"/>
          </a:schemeClr>
        </a:solidFill>
      </dgm:spPr>
      <dgm:t>
        <a:bodyPr/>
        <a:lstStyle/>
        <a:p>
          <a:r>
            <a:rPr lang="en-GB"/>
            <a:t>Analysis</a:t>
          </a:r>
        </a:p>
      </dgm:t>
    </dgm:pt>
    <dgm:pt modelId="{58B9DDE8-6128-B546-9D92-5C9DE7A881C3}" type="parTrans" cxnId="{B28018EF-6808-6D45-9144-F394A2DD81B3}">
      <dgm:prSet/>
      <dgm:spPr/>
      <dgm:t>
        <a:bodyPr/>
        <a:lstStyle/>
        <a:p>
          <a:endParaRPr lang="en-GB"/>
        </a:p>
      </dgm:t>
    </dgm:pt>
    <dgm:pt modelId="{AB7699F6-1053-1646-A8C7-75C133FD9204}" type="sibTrans" cxnId="{B28018EF-6808-6D45-9144-F394A2DD81B3}">
      <dgm:prSet/>
      <dgm:spPr/>
      <dgm:t>
        <a:bodyPr/>
        <a:lstStyle/>
        <a:p>
          <a:endParaRPr lang="en-GB"/>
        </a:p>
      </dgm:t>
    </dgm:pt>
    <dgm:pt modelId="{8BFF3D15-4D56-3D40-A6CB-48F05195C815}">
      <dgm:prSet phldrT="[Text]"/>
      <dgm:spPr>
        <a:solidFill>
          <a:schemeClr val="accent4">
            <a:lumMod val="60000"/>
            <a:lumOff val="40000"/>
          </a:schemeClr>
        </a:solidFill>
      </dgm:spPr>
      <dgm:t>
        <a:bodyPr/>
        <a:lstStyle/>
        <a:p>
          <a:r>
            <a:rPr lang="en-GB"/>
            <a:t>Risk Result</a:t>
          </a:r>
        </a:p>
      </dgm:t>
    </dgm:pt>
    <dgm:pt modelId="{B1F15234-E02E-F544-BDF3-B1768A404121}" type="parTrans" cxnId="{C83B6B66-0CBD-8A40-9151-DFD9A80954FF}">
      <dgm:prSet/>
      <dgm:spPr/>
      <dgm:t>
        <a:bodyPr/>
        <a:lstStyle/>
        <a:p>
          <a:endParaRPr lang="en-GB"/>
        </a:p>
      </dgm:t>
    </dgm:pt>
    <dgm:pt modelId="{65C59C91-3343-1648-9F7F-C215DDB50EED}" type="sibTrans" cxnId="{C83B6B66-0CBD-8A40-9151-DFD9A80954FF}">
      <dgm:prSet/>
      <dgm:spPr/>
      <dgm:t>
        <a:bodyPr/>
        <a:lstStyle/>
        <a:p>
          <a:endParaRPr lang="en-GB"/>
        </a:p>
      </dgm:t>
    </dgm:pt>
    <dgm:pt modelId="{62BD3BF4-EA92-5E4B-8DB2-314F18EE5BFB}">
      <dgm:prSet phldrT="[Text]"/>
      <dgm:spPr>
        <a:solidFill>
          <a:schemeClr val="accent4">
            <a:lumMod val="60000"/>
            <a:lumOff val="40000"/>
          </a:schemeClr>
        </a:solidFill>
      </dgm:spPr>
      <dgm:t>
        <a:bodyPr/>
        <a:lstStyle/>
        <a:p>
          <a:r>
            <a:rPr lang="en-GB"/>
            <a:t>Reports</a:t>
          </a:r>
        </a:p>
      </dgm:t>
    </dgm:pt>
    <dgm:pt modelId="{5909B650-1ED8-814B-BD03-143E1884EB3B}" type="parTrans" cxnId="{BA927541-6A81-A947-9567-5457CD656F28}">
      <dgm:prSet/>
      <dgm:spPr/>
      <dgm:t>
        <a:bodyPr/>
        <a:lstStyle/>
        <a:p>
          <a:endParaRPr lang="en-GB"/>
        </a:p>
      </dgm:t>
    </dgm:pt>
    <dgm:pt modelId="{C87B981F-43EE-EE4D-A2F1-D37272A617F6}" type="sibTrans" cxnId="{BA927541-6A81-A947-9567-5457CD656F28}">
      <dgm:prSet/>
      <dgm:spPr/>
      <dgm:t>
        <a:bodyPr/>
        <a:lstStyle/>
        <a:p>
          <a:endParaRPr lang="en-GB"/>
        </a:p>
      </dgm:t>
    </dgm:pt>
    <dgm:pt modelId="{0713EB24-55F3-964F-8126-52ABBEEAC25C}" type="pres">
      <dgm:prSet presAssocID="{AB4D11AA-45E9-BE4C-8B92-496C5CD5649C}" presName="Name0" presStyleCnt="0">
        <dgm:presLayoutVars>
          <dgm:dir/>
          <dgm:resizeHandles val="exact"/>
        </dgm:presLayoutVars>
      </dgm:prSet>
      <dgm:spPr/>
    </dgm:pt>
    <dgm:pt modelId="{21D52D93-7DB6-744F-BF18-FB6D4071304B}" type="pres">
      <dgm:prSet presAssocID="{7FCB9E8E-FA44-F14E-936E-1AF0633A9CA4}" presName="node" presStyleLbl="node1" presStyleIdx="0" presStyleCnt="7">
        <dgm:presLayoutVars>
          <dgm:bulletEnabled val="1"/>
        </dgm:presLayoutVars>
      </dgm:prSet>
      <dgm:spPr/>
    </dgm:pt>
    <dgm:pt modelId="{74EFC15F-1046-1C48-BBBA-A38D4320B78A}" type="pres">
      <dgm:prSet presAssocID="{080F8988-9FC3-8842-A27B-B495485D4E88}" presName="sibTrans" presStyleLbl="sibTrans2D1" presStyleIdx="0" presStyleCnt="6"/>
      <dgm:spPr/>
    </dgm:pt>
    <dgm:pt modelId="{48E3820B-112F-A84C-ACB9-5CA07992FA25}" type="pres">
      <dgm:prSet presAssocID="{080F8988-9FC3-8842-A27B-B495485D4E88}" presName="connectorText" presStyleLbl="sibTrans2D1" presStyleIdx="0" presStyleCnt="6"/>
      <dgm:spPr/>
    </dgm:pt>
    <dgm:pt modelId="{11176A5F-9F13-B644-95F8-A8D305FEE5D7}" type="pres">
      <dgm:prSet presAssocID="{36E71D73-BCB8-464B-85F3-FE22F58849C6}" presName="node" presStyleLbl="node1" presStyleIdx="1" presStyleCnt="7">
        <dgm:presLayoutVars>
          <dgm:bulletEnabled val="1"/>
        </dgm:presLayoutVars>
      </dgm:prSet>
      <dgm:spPr/>
    </dgm:pt>
    <dgm:pt modelId="{C741BD7F-23FC-8044-88B0-2C0A74F71479}" type="pres">
      <dgm:prSet presAssocID="{DDC085DB-ADCA-AF47-BEE8-90232AE9EE09}" presName="sibTrans" presStyleLbl="sibTrans2D1" presStyleIdx="1" presStyleCnt="6"/>
      <dgm:spPr/>
    </dgm:pt>
    <dgm:pt modelId="{E8C03A5C-C5A6-6745-9599-459D55591EC8}" type="pres">
      <dgm:prSet presAssocID="{DDC085DB-ADCA-AF47-BEE8-90232AE9EE09}" presName="connectorText" presStyleLbl="sibTrans2D1" presStyleIdx="1" presStyleCnt="6"/>
      <dgm:spPr/>
    </dgm:pt>
    <dgm:pt modelId="{003E0906-86AD-7048-B773-6C7C385E9CC9}" type="pres">
      <dgm:prSet presAssocID="{6B03E77F-A205-EA46-99E2-2122A94C94B2}" presName="node" presStyleLbl="node1" presStyleIdx="2" presStyleCnt="7">
        <dgm:presLayoutVars>
          <dgm:bulletEnabled val="1"/>
        </dgm:presLayoutVars>
      </dgm:prSet>
      <dgm:spPr/>
    </dgm:pt>
    <dgm:pt modelId="{82AFD3DA-9E53-3F44-AB57-B9FB311AD361}" type="pres">
      <dgm:prSet presAssocID="{3A06F4B6-E420-8043-B528-53FAE7D62AC5}" presName="sibTrans" presStyleLbl="sibTrans2D1" presStyleIdx="2" presStyleCnt="6"/>
      <dgm:spPr/>
    </dgm:pt>
    <dgm:pt modelId="{04BA1705-1AB9-6C41-9285-B04D453446BC}" type="pres">
      <dgm:prSet presAssocID="{3A06F4B6-E420-8043-B528-53FAE7D62AC5}" presName="connectorText" presStyleLbl="sibTrans2D1" presStyleIdx="2" presStyleCnt="6"/>
      <dgm:spPr/>
    </dgm:pt>
    <dgm:pt modelId="{915217B4-60E2-4249-90F3-40EF8FF25379}" type="pres">
      <dgm:prSet presAssocID="{A7A8C51B-F8FC-7944-8DFE-1DF11E5656D4}" presName="node" presStyleLbl="node1" presStyleIdx="3" presStyleCnt="7">
        <dgm:presLayoutVars>
          <dgm:bulletEnabled val="1"/>
        </dgm:presLayoutVars>
      </dgm:prSet>
      <dgm:spPr/>
    </dgm:pt>
    <dgm:pt modelId="{7551684C-302E-4347-B766-F012BB5E63D6}" type="pres">
      <dgm:prSet presAssocID="{90E3F037-F8A7-AC41-88C7-C1660B640614}" presName="sibTrans" presStyleLbl="sibTrans2D1" presStyleIdx="3" presStyleCnt="6"/>
      <dgm:spPr/>
    </dgm:pt>
    <dgm:pt modelId="{4F03E2D9-2023-B643-BFE3-B4D55E24784C}" type="pres">
      <dgm:prSet presAssocID="{90E3F037-F8A7-AC41-88C7-C1660B640614}" presName="connectorText" presStyleLbl="sibTrans2D1" presStyleIdx="3" presStyleCnt="6"/>
      <dgm:spPr/>
    </dgm:pt>
    <dgm:pt modelId="{18B8B98F-DF08-D042-8A47-545D93F7316A}" type="pres">
      <dgm:prSet presAssocID="{70CE9BE1-311A-6D49-BCB5-48C3700EA27E}" presName="node" presStyleLbl="node1" presStyleIdx="4" presStyleCnt="7">
        <dgm:presLayoutVars>
          <dgm:bulletEnabled val="1"/>
        </dgm:presLayoutVars>
      </dgm:prSet>
      <dgm:spPr/>
    </dgm:pt>
    <dgm:pt modelId="{921657C9-21DC-2E43-86BD-D2BCCFFBDB90}" type="pres">
      <dgm:prSet presAssocID="{AB7699F6-1053-1646-A8C7-75C133FD9204}" presName="sibTrans" presStyleLbl="sibTrans2D1" presStyleIdx="4" presStyleCnt="6"/>
      <dgm:spPr/>
    </dgm:pt>
    <dgm:pt modelId="{EB3FE0D1-3F7D-554B-B0D1-2A2B5CAE0062}" type="pres">
      <dgm:prSet presAssocID="{AB7699F6-1053-1646-A8C7-75C133FD9204}" presName="connectorText" presStyleLbl="sibTrans2D1" presStyleIdx="4" presStyleCnt="6"/>
      <dgm:spPr/>
    </dgm:pt>
    <dgm:pt modelId="{407B3839-859B-864E-8C25-DF8CC0C04D9E}" type="pres">
      <dgm:prSet presAssocID="{8BFF3D15-4D56-3D40-A6CB-48F05195C815}" presName="node" presStyleLbl="node1" presStyleIdx="5" presStyleCnt="7">
        <dgm:presLayoutVars>
          <dgm:bulletEnabled val="1"/>
        </dgm:presLayoutVars>
      </dgm:prSet>
      <dgm:spPr/>
    </dgm:pt>
    <dgm:pt modelId="{77CC1BC8-28CE-AA45-A637-48B957FB2F4D}" type="pres">
      <dgm:prSet presAssocID="{65C59C91-3343-1648-9F7F-C215DDB50EED}" presName="sibTrans" presStyleLbl="sibTrans2D1" presStyleIdx="5" presStyleCnt="6"/>
      <dgm:spPr/>
    </dgm:pt>
    <dgm:pt modelId="{A9501F61-252C-CF49-8485-0244D425C07E}" type="pres">
      <dgm:prSet presAssocID="{65C59C91-3343-1648-9F7F-C215DDB50EED}" presName="connectorText" presStyleLbl="sibTrans2D1" presStyleIdx="5" presStyleCnt="6"/>
      <dgm:spPr/>
    </dgm:pt>
    <dgm:pt modelId="{1D1585D6-E905-0746-BD5C-A3140F65A01B}" type="pres">
      <dgm:prSet presAssocID="{62BD3BF4-EA92-5E4B-8DB2-314F18EE5BFB}" presName="node" presStyleLbl="node1" presStyleIdx="6" presStyleCnt="7">
        <dgm:presLayoutVars>
          <dgm:bulletEnabled val="1"/>
        </dgm:presLayoutVars>
      </dgm:prSet>
      <dgm:spPr/>
    </dgm:pt>
  </dgm:ptLst>
  <dgm:cxnLst>
    <dgm:cxn modelId="{54EC2901-109E-8549-A4AD-66313999EE6B}" srcId="{AB4D11AA-45E9-BE4C-8B92-496C5CD5649C}" destId="{6B03E77F-A205-EA46-99E2-2122A94C94B2}" srcOrd="2" destOrd="0" parTransId="{0628ED09-EA05-A54A-A174-0C05ED610870}" sibTransId="{3A06F4B6-E420-8043-B528-53FAE7D62AC5}"/>
    <dgm:cxn modelId="{CA410003-9A37-F741-B136-CB464AD00ABA}" srcId="{AB4D11AA-45E9-BE4C-8B92-496C5CD5649C}" destId="{A7A8C51B-F8FC-7944-8DFE-1DF11E5656D4}" srcOrd="3" destOrd="0" parTransId="{E5087AE4-50C1-C944-A141-443B40D1E96C}" sibTransId="{90E3F037-F8A7-AC41-88C7-C1660B640614}"/>
    <dgm:cxn modelId="{95E1FA07-F0AA-284F-B187-0FEDD53E5663}" type="presOf" srcId="{A7A8C51B-F8FC-7944-8DFE-1DF11E5656D4}" destId="{915217B4-60E2-4249-90F3-40EF8FF25379}" srcOrd="0" destOrd="0" presId="urn:microsoft.com/office/officeart/2005/8/layout/process1"/>
    <dgm:cxn modelId="{149FA612-635D-8E42-B25A-901724B017EF}" type="presOf" srcId="{90E3F037-F8A7-AC41-88C7-C1660B640614}" destId="{4F03E2D9-2023-B643-BFE3-B4D55E24784C}" srcOrd="1" destOrd="0" presId="urn:microsoft.com/office/officeart/2005/8/layout/process1"/>
    <dgm:cxn modelId="{BF25C11D-AADE-B849-9212-C43890878C92}" srcId="{AB4D11AA-45E9-BE4C-8B92-496C5CD5649C}" destId="{7FCB9E8E-FA44-F14E-936E-1AF0633A9CA4}" srcOrd="0" destOrd="0" parTransId="{ABBB66E6-B1D2-444F-90D1-4CC854B687CF}" sibTransId="{080F8988-9FC3-8842-A27B-B495485D4E88}"/>
    <dgm:cxn modelId="{DF286D26-958C-5648-ADDF-C9FDAD24DF0E}" type="presOf" srcId="{080F8988-9FC3-8842-A27B-B495485D4E88}" destId="{48E3820B-112F-A84C-ACB9-5CA07992FA25}" srcOrd="1" destOrd="0" presId="urn:microsoft.com/office/officeart/2005/8/layout/process1"/>
    <dgm:cxn modelId="{424A7139-40F0-434A-91A5-631C269A65DB}" type="presOf" srcId="{70CE9BE1-311A-6D49-BCB5-48C3700EA27E}" destId="{18B8B98F-DF08-D042-8A47-545D93F7316A}" srcOrd="0" destOrd="0" presId="urn:microsoft.com/office/officeart/2005/8/layout/process1"/>
    <dgm:cxn modelId="{BA927541-6A81-A947-9567-5457CD656F28}" srcId="{AB4D11AA-45E9-BE4C-8B92-496C5CD5649C}" destId="{62BD3BF4-EA92-5E4B-8DB2-314F18EE5BFB}" srcOrd="6" destOrd="0" parTransId="{5909B650-1ED8-814B-BD03-143E1884EB3B}" sibTransId="{C87B981F-43EE-EE4D-A2F1-D37272A617F6}"/>
    <dgm:cxn modelId="{5E914064-B333-6B41-8103-B55248744A5A}" type="presOf" srcId="{DDC085DB-ADCA-AF47-BEE8-90232AE9EE09}" destId="{C741BD7F-23FC-8044-88B0-2C0A74F71479}" srcOrd="0" destOrd="0" presId="urn:microsoft.com/office/officeart/2005/8/layout/process1"/>
    <dgm:cxn modelId="{34EB2865-0F04-3249-99BA-335B84FA3E99}" type="presOf" srcId="{AB7699F6-1053-1646-A8C7-75C133FD9204}" destId="{EB3FE0D1-3F7D-554B-B0D1-2A2B5CAE0062}" srcOrd="1" destOrd="0" presId="urn:microsoft.com/office/officeart/2005/8/layout/process1"/>
    <dgm:cxn modelId="{C83B6B66-0CBD-8A40-9151-DFD9A80954FF}" srcId="{AB4D11AA-45E9-BE4C-8B92-496C5CD5649C}" destId="{8BFF3D15-4D56-3D40-A6CB-48F05195C815}" srcOrd="5" destOrd="0" parTransId="{B1F15234-E02E-F544-BDF3-B1768A404121}" sibTransId="{65C59C91-3343-1648-9F7F-C215DDB50EED}"/>
    <dgm:cxn modelId="{776FFF66-A676-C442-9274-226E99F6F99D}" type="presOf" srcId="{8BFF3D15-4D56-3D40-A6CB-48F05195C815}" destId="{407B3839-859B-864E-8C25-DF8CC0C04D9E}" srcOrd="0" destOrd="0" presId="urn:microsoft.com/office/officeart/2005/8/layout/process1"/>
    <dgm:cxn modelId="{D48C056A-18CC-7940-AC45-51F70C2302BA}" type="presOf" srcId="{AB7699F6-1053-1646-A8C7-75C133FD9204}" destId="{921657C9-21DC-2E43-86BD-D2BCCFFBDB90}" srcOrd="0" destOrd="0" presId="urn:microsoft.com/office/officeart/2005/8/layout/process1"/>
    <dgm:cxn modelId="{3F21F86F-807A-4244-B4A4-3F58B9A77DD6}" type="presOf" srcId="{65C59C91-3343-1648-9F7F-C215DDB50EED}" destId="{77CC1BC8-28CE-AA45-A637-48B957FB2F4D}" srcOrd="0" destOrd="0" presId="urn:microsoft.com/office/officeart/2005/8/layout/process1"/>
    <dgm:cxn modelId="{23C70E51-EC79-E54F-A29C-061DF0172BC9}" type="presOf" srcId="{AB4D11AA-45E9-BE4C-8B92-496C5CD5649C}" destId="{0713EB24-55F3-964F-8126-52ABBEEAC25C}" srcOrd="0" destOrd="0" presId="urn:microsoft.com/office/officeart/2005/8/layout/process1"/>
    <dgm:cxn modelId="{455E3853-158A-2D43-A65E-5B539EED93C4}" type="presOf" srcId="{65C59C91-3343-1648-9F7F-C215DDB50EED}" destId="{A9501F61-252C-CF49-8485-0244D425C07E}" srcOrd="1" destOrd="0" presId="urn:microsoft.com/office/officeart/2005/8/layout/process1"/>
    <dgm:cxn modelId="{F2F13F58-D35C-6143-B711-1C5575869837}" srcId="{AB4D11AA-45E9-BE4C-8B92-496C5CD5649C}" destId="{36E71D73-BCB8-464B-85F3-FE22F58849C6}" srcOrd="1" destOrd="0" parTransId="{B5405AC3-849F-534D-8D55-82D067D2276B}" sibTransId="{DDC085DB-ADCA-AF47-BEE8-90232AE9EE09}"/>
    <dgm:cxn modelId="{BFF83D81-3600-D941-B465-4E5BDBDBA60A}" type="presOf" srcId="{080F8988-9FC3-8842-A27B-B495485D4E88}" destId="{74EFC15F-1046-1C48-BBBA-A38D4320B78A}" srcOrd="0" destOrd="0" presId="urn:microsoft.com/office/officeart/2005/8/layout/process1"/>
    <dgm:cxn modelId="{2656D996-4ED4-D947-AA94-E0DB9C821664}" type="presOf" srcId="{DDC085DB-ADCA-AF47-BEE8-90232AE9EE09}" destId="{E8C03A5C-C5A6-6745-9599-459D55591EC8}" srcOrd="1" destOrd="0" presId="urn:microsoft.com/office/officeart/2005/8/layout/process1"/>
    <dgm:cxn modelId="{ECE0FBA8-8E69-B842-B9E8-983AECA618EC}" type="presOf" srcId="{3A06F4B6-E420-8043-B528-53FAE7D62AC5}" destId="{82AFD3DA-9E53-3F44-AB57-B9FB311AD361}" srcOrd="0" destOrd="0" presId="urn:microsoft.com/office/officeart/2005/8/layout/process1"/>
    <dgm:cxn modelId="{1F02F1BC-6887-0B40-A3E0-30D83FB1AFE7}" type="presOf" srcId="{90E3F037-F8A7-AC41-88C7-C1660B640614}" destId="{7551684C-302E-4347-B766-F012BB5E63D6}" srcOrd="0" destOrd="0" presId="urn:microsoft.com/office/officeart/2005/8/layout/process1"/>
    <dgm:cxn modelId="{96F48BC7-6410-7D48-A4F6-4F3D62ACA348}" type="presOf" srcId="{36E71D73-BCB8-464B-85F3-FE22F58849C6}" destId="{11176A5F-9F13-B644-95F8-A8D305FEE5D7}" srcOrd="0" destOrd="0" presId="urn:microsoft.com/office/officeart/2005/8/layout/process1"/>
    <dgm:cxn modelId="{018B70CA-F2F9-8544-8EDD-39C53FE06E3A}" type="presOf" srcId="{3A06F4B6-E420-8043-B528-53FAE7D62AC5}" destId="{04BA1705-1AB9-6C41-9285-B04D453446BC}" srcOrd="1" destOrd="0" presId="urn:microsoft.com/office/officeart/2005/8/layout/process1"/>
    <dgm:cxn modelId="{27AA44CB-5CB5-3048-9721-ECF78E6BE79D}" type="presOf" srcId="{62BD3BF4-EA92-5E4B-8DB2-314F18EE5BFB}" destId="{1D1585D6-E905-0746-BD5C-A3140F65A01B}" srcOrd="0" destOrd="0" presId="urn:microsoft.com/office/officeart/2005/8/layout/process1"/>
    <dgm:cxn modelId="{87E1DAD0-FF70-6946-88F4-D6E4D01310A0}" type="presOf" srcId="{7FCB9E8E-FA44-F14E-936E-1AF0633A9CA4}" destId="{21D52D93-7DB6-744F-BF18-FB6D4071304B}" srcOrd="0" destOrd="0" presId="urn:microsoft.com/office/officeart/2005/8/layout/process1"/>
    <dgm:cxn modelId="{B28018EF-6808-6D45-9144-F394A2DD81B3}" srcId="{AB4D11AA-45E9-BE4C-8B92-496C5CD5649C}" destId="{70CE9BE1-311A-6D49-BCB5-48C3700EA27E}" srcOrd="4" destOrd="0" parTransId="{58B9DDE8-6128-B546-9D92-5C9DE7A881C3}" sibTransId="{AB7699F6-1053-1646-A8C7-75C133FD9204}"/>
    <dgm:cxn modelId="{DF7D2DF7-D576-324F-8399-5215E4FD8354}" type="presOf" srcId="{6B03E77F-A205-EA46-99E2-2122A94C94B2}" destId="{003E0906-86AD-7048-B773-6C7C385E9CC9}" srcOrd="0" destOrd="0" presId="urn:microsoft.com/office/officeart/2005/8/layout/process1"/>
    <dgm:cxn modelId="{FD7260F0-1808-914E-B799-037984E87336}" type="presParOf" srcId="{0713EB24-55F3-964F-8126-52ABBEEAC25C}" destId="{21D52D93-7DB6-744F-BF18-FB6D4071304B}" srcOrd="0" destOrd="0" presId="urn:microsoft.com/office/officeart/2005/8/layout/process1"/>
    <dgm:cxn modelId="{67B9B1FA-99DA-E44D-B235-46B5D5C97D8D}" type="presParOf" srcId="{0713EB24-55F3-964F-8126-52ABBEEAC25C}" destId="{74EFC15F-1046-1C48-BBBA-A38D4320B78A}" srcOrd="1" destOrd="0" presId="urn:microsoft.com/office/officeart/2005/8/layout/process1"/>
    <dgm:cxn modelId="{B389503E-E8D5-9744-8EFD-9A83FFACABB9}" type="presParOf" srcId="{74EFC15F-1046-1C48-BBBA-A38D4320B78A}" destId="{48E3820B-112F-A84C-ACB9-5CA07992FA25}" srcOrd="0" destOrd="0" presId="urn:microsoft.com/office/officeart/2005/8/layout/process1"/>
    <dgm:cxn modelId="{3B0E6E2E-E4D1-4E48-BCCC-338FC14C655E}" type="presParOf" srcId="{0713EB24-55F3-964F-8126-52ABBEEAC25C}" destId="{11176A5F-9F13-B644-95F8-A8D305FEE5D7}" srcOrd="2" destOrd="0" presId="urn:microsoft.com/office/officeart/2005/8/layout/process1"/>
    <dgm:cxn modelId="{43071BCB-FD86-9B4B-A5D6-183E38C54035}" type="presParOf" srcId="{0713EB24-55F3-964F-8126-52ABBEEAC25C}" destId="{C741BD7F-23FC-8044-88B0-2C0A74F71479}" srcOrd="3" destOrd="0" presId="urn:microsoft.com/office/officeart/2005/8/layout/process1"/>
    <dgm:cxn modelId="{AF07F496-B796-E14F-A66D-94FE9F61E103}" type="presParOf" srcId="{C741BD7F-23FC-8044-88B0-2C0A74F71479}" destId="{E8C03A5C-C5A6-6745-9599-459D55591EC8}" srcOrd="0" destOrd="0" presId="urn:microsoft.com/office/officeart/2005/8/layout/process1"/>
    <dgm:cxn modelId="{18867FEF-404D-AF48-861C-9C4AF767DD8D}" type="presParOf" srcId="{0713EB24-55F3-964F-8126-52ABBEEAC25C}" destId="{003E0906-86AD-7048-B773-6C7C385E9CC9}" srcOrd="4" destOrd="0" presId="urn:microsoft.com/office/officeart/2005/8/layout/process1"/>
    <dgm:cxn modelId="{0E59EFA3-FF13-C942-BE99-EA2C19C4C680}" type="presParOf" srcId="{0713EB24-55F3-964F-8126-52ABBEEAC25C}" destId="{82AFD3DA-9E53-3F44-AB57-B9FB311AD361}" srcOrd="5" destOrd="0" presId="urn:microsoft.com/office/officeart/2005/8/layout/process1"/>
    <dgm:cxn modelId="{BE47A426-4C06-0546-BAF7-27DE38163A26}" type="presParOf" srcId="{82AFD3DA-9E53-3F44-AB57-B9FB311AD361}" destId="{04BA1705-1AB9-6C41-9285-B04D453446BC}" srcOrd="0" destOrd="0" presId="urn:microsoft.com/office/officeart/2005/8/layout/process1"/>
    <dgm:cxn modelId="{B1C33618-B7FE-0E4D-AC79-01A446450310}" type="presParOf" srcId="{0713EB24-55F3-964F-8126-52ABBEEAC25C}" destId="{915217B4-60E2-4249-90F3-40EF8FF25379}" srcOrd="6" destOrd="0" presId="urn:microsoft.com/office/officeart/2005/8/layout/process1"/>
    <dgm:cxn modelId="{095CBF9B-96EE-8A43-A52C-F1E8FA2BDA4E}" type="presParOf" srcId="{0713EB24-55F3-964F-8126-52ABBEEAC25C}" destId="{7551684C-302E-4347-B766-F012BB5E63D6}" srcOrd="7" destOrd="0" presId="urn:microsoft.com/office/officeart/2005/8/layout/process1"/>
    <dgm:cxn modelId="{37C21BE8-CF32-0245-A509-B4B879FA2365}" type="presParOf" srcId="{7551684C-302E-4347-B766-F012BB5E63D6}" destId="{4F03E2D9-2023-B643-BFE3-B4D55E24784C}" srcOrd="0" destOrd="0" presId="urn:microsoft.com/office/officeart/2005/8/layout/process1"/>
    <dgm:cxn modelId="{BE8EB4B0-AD21-DA48-9D2A-5390A2FCBECC}" type="presParOf" srcId="{0713EB24-55F3-964F-8126-52ABBEEAC25C}" destId="{18B8B98F-DF08-D042-8A47-545D93F7316A}" srcOrd="8" destOrd="0" presId="urn:microsoft.com/office/officeart/2005/8/layout/process1"/>
    <dgm:cxn modelId="{C741F7C6-C68C-EB44-BEB4-8CB1E56F7C5E}" type="presParOf" srcId="{0713EB24-55F3-964F-8126-52ABBEEAC25C}" destId="{921657C9-21DC-2E43-86BD-D2BCCFFBDB90}" srcOrd="9" destOrd="0" presId="urn:microsoft.com/office/officeart/2005/8/layout/process1"/>
    <dgm:cxn modelId="{71132DCD-7E85-324A-B92B-F2F773BAE7C8}" type="presParOf" srcId="{921657C9-21DC-2E43-86BD-D2BCCFFBDB90}" destId="{EB3FE0D1-3F7D-554B-B0D1-2A2B5CAE0062}" srcOrd="0" destOrd="0" presId="urn:microsoft.com/office/officeart/2005/8/layout/process1"/>
    <dgm:cxn modelId="{8098D1D1-D1D3-B549-B877-B2EF1452812C}" type="presParOf" srcId="{0713EB24-55F3-964F-8126-52ABBEEAC25C}" destId="{407B3839-859B-864E-8C25-DF8CC0C04D9E}" srcOrd="10" destOrd="0" presId="urn:microsoft.com/office/officeart/2005/8/layout/process1"/>
    <dgm:cxn modelId="{580A3D19-2593-654E-A9E5-1BA7F7C1C39B}" type="presParOf" srcId="{0713EB24-55F3-964F-8126-52ABBEEAC25C}" destId="{77CC1BC8-28CE-AA45-A637-48B957FB2F4D}" srcOrd="11" destOrd="0" presId="urn:microsoft.com/office/officeart/2005/8/layout/process1"/>
    <dgm:cxn modelId="{42B918B2-92FA-7948-B094-F15473BFA35D}" type="presParOf" srcId="{77CC1BC8-28CE-AA45-A637-48B957FB2F4D}" destId="{A9501F61-252C-CF49-8485-0244D425C07E}" srcOrd="0" destOrd="0" presId="urn:microsoft.com/office/officeart/2005/8/layout/process1"/>
    <dgm:cxn modelId="{800FEAA5-7A18-F14F-A216-1E14F26AACCB}" type="presParOf" srcId="{0713EB24-55F3-964F-8126-52ABBEEAC25C}" destId="{1D1585D6-E905-0746-BD5C-A3140F65A01B}" srcOrd="12" destOrd="0" presId="urn:microsoft.com/office/officeart/2005/8/layout/process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D52D93-7DB6-744F-BF18-FB6D4071304B}">
      <dsp:nvSpPr>
        <dsp:cNvPr id="0" name=""/>
        <dsp:cNvSpPr/>
      </dsp:nvSpPr>
      <dsp:spPr>
        <a:xfrm>
          <a:off x="4342"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Register</a:t>
          </a:r>
        </a:p>
      </dsp:txBody>
      <dsp:txXfrm>
        <a:off x="33244" y="3599500"/>
        <a:ext cx="1586867" cy="928999"/>
      </dsp:txXfrm>
    </dsp:sp>
    <dsp:sp modelId="{74EFC15F-1046-1C48-BBBA-A38D4320B78A}">
      <dsp:nvSpPr>
        <dsp:cNvPr id="0" name=""/>
        <dsp:cNvSpPr/>
      </dsp:nvSpPr>
      <dsp:spPr>
        <a:xfrm>
          <a:off x="1813481" y="3860060"/>
          <a:ext cx="348670" cy="4078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1813481" y="3941636"/>
        <a:ext cx="244069" cy="244726"/>
      </dsp:txXfrm>
    </dsp:sp>
    <dsp:sp modelId="{11176A5F-9F13-B644-95F8-A8D305FEE5D7}">
      <dsp:nvSpPr>
        <dsp:cNvPr id="0" name=""/>
        <dsp:cNvSpPr/>
      </dsp:nvSpPr>
      <dsp:spPr>
        <a:xfrm>
          <a:off x="2306883"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Login</a:t>
          </a:r>
        </a:p>
      </dsp:txBody>
      <dsp:txXfrm>
        <a:off x="2335785" y="3599500"/>
        <a:ext cx="1586867" cy="928999"/>
      </dsp:txXfrm>
    </dsp:sp>
    <dsp:sp modelId="{C741BD7F-23FC-8044-88B0-2C0A74F71479}">
      <dsp:nvSpPr>
        <dsp:cNvPr id="0" name=""/>
        <dsp:cNvSpPr/>
      </dsp:nvSpPr>
      <dsp:spPr>
        <a:xfrm>
          <a:off x="4116022" y="3860060"/>
          <a:ext cx="348670" cy="4078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4116022" y="3941636"/>
        <a:ext cx="244069" cy="244726"/>
      </dsp:txXfrm>
    </dsp:sp>
    <dsp:sp modelId="{003E0906-86AD-7048-B773-6C7C385E9CC9}">
      <dsp:nvSpPr>
        <dsp:cNvPr id="0" name=""/>
        <dsp:cNvSpPr/>
      </dsp:nvSpPr>
      <dsp:spPr>
        <a:xfrm>
          <a:off x="4609423"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Athlete Profile</a:t>
          </a:r>
        </a:p>
      </dsp:txBody>
      <dsp:txXfrm>
        <a:off x="4638325" y="3599500"/>
        <a:ext cx="1586867" cy="928999"/>
      </dsp:txXfrm>
    </dsp:sp>
    <dsp:sp modelId="{82AFD3DA-9E53-3F44-AB57-B9FB311AD361}">
      <dsp:nvSpPr>
        <dsp:cNvPr id="0" name=""/>
        <dsp:cNvSpPr/>
      </dsp:nvSpPr>
      <dsp:spPr>
        <a:xfrm>
          <a:off x="6418562" y="3860060"/>
          <a:ext cx="348670" cy="4078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6418562" y="3941636"/>
        <a:ext cx="244069" cy="244726"/>
      </dsp:txXfrm>
    </dsp:sp>
    <dsp:sp modelId="{915217B4-60E2-4249-90F3-40EF8FF25379}">
      <dsp:nvSpPr>
        <dsp:cNvPr id="0" name=""/>
        <dsp:cNvSpPr/>
      </dsp:nvSpPr>
      <dsp:spPr>
        <a:xfrm>
          <a:off x="6911964"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Upload</a:t>
          </a:r>
        </a:p>
      </dsp:txBody>
      <dsp:txXfrm>
        <a:off x="6940866" y="3599500"/>
        <a:ext cx="1586867" cy="928999"/>
      </dsp:txXfrm>
    </dsp:sp>
    <dsp:sp modelId="{7551684C-302E-4347-B766-F012BB5E63D6}">
      <dsp:nvSpPr>
        <dsp:cNvPr id="0" name=""/>
        <dsp:cNvSpPr/>
      </dsp:nvSpPr>
      <dsp:spPr>
        <a:xfrm>
          <a:off x="8721103" y="3860060"/>
          <a:ext cx="348670" cy="4078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8721103" y="3941636"/>
        <a:ext cx="244069" cy="244726"/>
      </dsp:txXfrm>
    </dsp:sp>
    <dsp:sp modelId="{18B8B98F-DF08-D042-8A47-545D93F7316A}">
      <dsp:nvSpPr>
        <dsp:cNvPr id="0" name=""/>
        <dsp:cNvSpPr/>
      </dsp:nvSpPr>
      <dsp:spPr>
        <a:xfrm>
          <a:off x="9214504"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Analysis</a:t>
          </a:r>
        </a:p>
      </dsp:txBody>
      <dsp:txXfrm>
        <a:off x="9243406" y="3599500"/>
        <a:ext cx="1586867" cy="928999"/>
      </dsp:txXfrm>
    </dsp:sp>
    <dsp:sp modelId="{921657C9-21DC-2E43-86BD-D2BCCFFBDB90}">
      <dsp:nvSpPr>
        <dsp:cNvPr id="0" name=""/>
        <dsp:cNvSpPr/>
      </dsp:nvSpPr>
      <dsp:spPr>
        <a:xfrm>
          <a:off x="11023643" y="3860060"/>
          <a:ext cx="348670" cy="4078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11023643" y="3941636"/>
        <a:ext cx="244069" cy="244726"/>
      </dsp:txXfrm>
    </dsp:sp>
    <dsp:sp modelId="{407B3839-859B-864E-8C25-DF8CC0C04D9E}">
      <dsp:nvSpPr>
        <dsp:cNvPr id="0" name=""/>
        <dsp:cNvSpPr/>
      </dsp:nvSpPr>
      <dsp:spPr>
        <a:xfrm>
          <a:off x="11517044"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Risk Result</a:t>
          </a:r>
        </a:p>
      </dsp:txBody>
      <dsp:txXfrm>
        <a:off x="11545946" y="3599500"/>
        <a:ext cx="1586867" cy="928999"/>
      </dsp:txXfrm>
    </dsp:sp>
    <dsp:sp modelId="{77CC1BC8-28CE-AA45-A637-48B957FB2F4D}">
      <dsp:nvSpPr>
        <dsp:cNvPr id="0" name=""/>
        <dsp:cNvSpPr/>
      </dsp:nvSpPr>
      <dsp:spPr>
        <a:xfrm>
          <a:off x="13326183" y="3860060"/>
          <a:ext cx="348670" cy="4078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13326183" y="3941636"/>
        <a:ext cx="244069" cy="244726"/>
      </dsp:txXfrm>
    </dsp:sp>
    <dsp:sp modelId="{1D1585D6-E905-0746-BD5C-A3140F65A01B}">
      <dsp:nvSpPr>
        <dsp:cNvPr id="0" name=""/>
        <dsp:cNvSpPr/>
      </dsp:nvSpPr>
      <dsp:spPr>
        <a:xfrm>
          <a:off x="13819585"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Reports</a:t>
          </a:r>
        </a:p>
      </dsp:txBody>
      <dsp:txXfrm>
        <a:off x="13848487" y="3599500"/>
        <a:ext cx="1586867" cy="92899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E3B6A-82C8-CD47-8507-FB95AEEF2E1E}" type="datetimeFigureOut">
              <a:rPr lang="en-US" smtClean="0"/>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28FA01-513B-6747-837C-7902FD5403E8}" type="slidenum">
              <a:rPr lang="en-US" smtClean="0"/>
              <a:t>‹#›</a:t>
            </a:fld>
            <a:endParaRPr lang="en-US"/>
          </a:p>
        </p:txBody>
      </p:sp>
    </p:spTree>
    <p:extLst>
      <p:ext uri="{BB962C8B-B14F-4D97-AF65-F5344CB8AC3E}">
        <p14:creationId xmlns:p14="http://schemas.microsoft.com/office/powerpoint/2010/main" val="3216329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slide for the project: Sports Injury Risk Prediction from Video.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698882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project is AI Sports Injury Risk Detection from Video. The main problem is that abnormal movement and biomechanical issues can increase injury risk, and manual movement analysis can be difficult and time-consuming. Our objective is to analyze athlete videos, identify movement-related risk factors, and provide injury-risk insights and corrective recommendations.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40714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end-to-end workflow. The athlete first registers and logs in, then maintains the athlete profile. Next, the athlete uploads a movement video. MediaPipe Pose detects body landmarks, and we perform biomechanical analysis such as joint angles, ROM difference, knee valgus proxy and trunk lean. These factors are used by the risk engine to generate a 0–100 risk score. The system then provides posture, exercise and recovery recommendations, and the results can be viewed and exported through Reports History.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00857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our backend architecture. We use FastAPI for the REST APIs and PostgreSQL for storing application data. Authentication handles registration and login. When a user uploads a video, the processing runs asynchronously in the background, so the frontend does not remain blocked. The backend provides APIs for video processing, risk assessment and risk history, and the React frontend communicates with these APIs.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32932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current system uses an explainable rule-based scoring engine rather than a newly trained injury classifier. It combines biomechanical factors and athlete profile information to produce a 0–100 score and a risk level. The system also provides posture correction, exercise and recovery recommendations. We validate the system using injury-risk engine tests, upload-flow tests, biomechanics regression tests and risk-history tests.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3807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our reporting system and the next deployment phase. Users can view previous analysis in Reports History, download PDF reports, and export the history as CSV. Currently, the application is running locally and cloud deployment is not completed. In Milestone 4, we plan to containerize the application using Docker, deploy the frontend and backend on a cloud platform such as Render, configure environment variables and the database, and test the complete application.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050715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our current results, limitations and future scope. The user can register and log in, maintain an athlete profile, upload a video, run pose and biomechanical analysis, receive a risk score and recommendations, and view or export reports. Current limitations include the single-athlete scope, camera-angle dependence of the 2D knee-valgus proxy, rule-based risk scoring, and the fact that the system is not a clinical diagnosis. Future work includes a real labeled injury dataset, a trained ML risk model, support for more sports and movements, better camera-angle handling, and Docker plus cloud deployment.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99503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56167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3.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gif"/><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3.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3.png"/><Relationship Id="rId4" Type="http://schemas.openxmlformats.org/officeDocument/2006/relationships/image" Target="../media/image12.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4.png"/><Relationship Id="rId4" Type="http://schemas.openxmlformats.org/officeDocument/2006/relationships/image" Target="../media/image12.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5.png"/><Relationship Id="rId4" Type="http://schemas.openxmlformats.org/officeDocument/2006/relationships/image" Target="../media/image12.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6.png"/><Relationship Id="rId4" Type="http://schemas.openxmlformats.org/officeDocument/2006/relationships/image" Target="../media/image12.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7.png"/><Relationship Id="rId4" Type="http://schemas.openxmlformats.org/officeDocument/2006/relationships/image" Target="../media/image12.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8.png"/><Relationship Id="rId4" Type="http://schemas.openxmlformats.org/officeDocument/2006/relationships/image" Target="../media/image12.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svg"/><Relationship Id="rId3" Type="http://schemas.openxmlformats.org/officeDocument/2006/relationships/image" Target="../media/image22.png"/><Relationship Id="rId4" Type="http://schemas.microsoft.com/office/2007/relationships/hdphoto" Target="../media/hdphoto1.wdp"/><Relationship Id="rId5" Type="http://schemas.openxmlformats.org/officeDocument/2006/relationships/image" Target="../media/image23.png"/><Relationship Id="rId6" Type="http://schemas.microsoft.com/office/2007/relationships/hdphoto" Target="../media/hdphoto2.wdp"/></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_clean_modern_presentation_slide_design_overall.png"/>
          <p:cNvPicPr>
            <a:picLocks noChangeAspect="1"/>
          </p:cNvPicPr>
          <p:nvPr/>
        </p:nvPicPr>
        <p:blipFill>
          <a:blip r:embed="rId3"/>
          <a:stretch>
            <a:fillRect/>
          </a:stretch>
        </p:blipFill>
        <p:spPr>
          <a:xfrm>
            <a:off x="1" y="0"/>
            <a:ext cx="18287543" cy="10287000"/>
          </a:xfrm>
          <a:prstGeom prst="rect">
            <a:avLst/>
          </a:prstGeom>
        </p:spPr>
      </p:pic>
    </p:spTree>
    <p:extLst>
      <p:ext uri="{BB962C8B-B14F-4D97-AF65-F5344CB8AC3E}">
        <p14:creationId xmlns:p14="http://schemas.microsoft.com/office/powerpoint/2010/main" val="2562634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E0ED"/>
        </a:solidFill>
        <a:effectLst/>
      </p:bgPr>
    </p:bg>
    <p:spTree>
      <p:nvGrpSpPr>
        <p:cNvPr id="1" name=""/>
        <p:cNvGrpSpPr/>
        <p:nvPr/>
      </p:nvGrpSpPr>
      <p:grpSpPr>
        <a:xfrm>
          <a:off x="0" y="0"/>
          <a:ext cx="0" cy="0"/>
          <a:chOff x="0" y="0"/>
          <a:chExt cx="0" cy="0"/>
        </a:xfrm>
      </p:grpSpPr>
      <p:sp>
        <p:nvSpPr>
          <p:cNvPr id="4" name="TextBox 3"/>
          <p:cNvSpPr txBox="1"/>
          <p:nvPr/>
        </p:nvSpPr>
        <p:spPr>
          <a:xfrm>
            <a:off x="1067320" y="680607"/>
            <a:ext cx="8753165" cy="669414"/>
          </a:xfrm>
          <a:prstGeom prst="rect">
            <a:avLst/>
          </a:prstGeom>
          <a:noFill/>
        </p:spPr>
        <p:txBody>
          <a:bodyPr wrap="none">
            <a:spAutoFit/>
          </a:bodyPr>
          <a:lstStyle/>
          <a:p>
            <a:pPr algn="l"/>
            <a:r>
              <a:rPr sz="3750" b="1">
                <a:solidFill>
                  <a:srgbClr val="5B4380"/>
                </a:solidFill>
                <a:latin typeface="Aptos"/>
              </a:rPr>
              <a:t>Sports Injury Risk Detection from Video</a:t>
            </a:r>
          </a:p>
        </p:txBody>
      </p:sp>
      <p:sp>
        <p:nvSpPr>
          <p:cNvPr id="7" name="Rounded Rectangle 6"/>
          <p:cNvSpPr/>
          <p:nvPr/>
        </p:nvSpPr>
        <p:spPr>
          <a:xfrm>
            <a:off x="605463" y="2371213"/>
            <a:ext cx="8161020" cy="4526280"/>
          </a:xfrm>
          <a:prstGeom prst="roundRect">
            <a:avLst/>
          </a:prstGeom>
          <a:solidFill>
            <a:srgbClr val="FFFFFF"/>
          </a:solidFill>
          <a:ln>
            <a:solidFill>
              <a:srgbClr val="D2C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TextBox 7"/>
          <p:cNvSpPr txBox="1"/>
          <p:nvPr/>
        </p:nvSpPr>
        <p:spPr>
          <a:xfrm>
            <a:off x="987553" y="3044953"/>
            <a:ext cx="2303451" cy="346249"/>
          </a:xfrm>
          <a:prstGeom prst="rect">
            <a:avLst/>
          </a:prstGeom>
          <a:noFill/>
        </p:spPr>
        <p:txBody>
          <a:bodyPr wrap="none">
            <a:spAutoFit/>
          </a:bodyPr>
          <a:lstStyle/>
          <a:p>
            <a:pPr algn="l"/>
            <a:r>
              <a:rPr sz="1650" b="1">
                <a:solidFill>
                  <a:srgbClr val="7B56A5"/>
                </a:solidFill>
                <a:latin typeface="Aptos"/>
              </a:rPr>
              <a:t>PROBLEM STATEMENT</a:t>
            </a:r>
          </a:p>
        </p:txBody>
      </p:sp>
      <p:sp>
        <p:nvSpPr>
          <p:cNvPr id="9" name="TextBox 8"/>
          <p:cNvSpPr txBox="1"/>
          <p:nvPr/>
        </p:nvSpPr>
        <p:spPr>
          <a:xfrm>
            <a:off x="987554" y="3593592"/>
            <a:ext cx="7414966" cy="2031325"/>
          </a:xfrm>
          <a:prstGeom prst="rect">
            <a:avLst/>
          </a:prstGeom>
          <a:noFill/>
        </p:spPr>
        <p:txBody>
          <a:bodyPr wrap="square">
            <a:spAutoFit/>
          </a:bodyPr>
          <a:lstStyle/>
          <a:p>
            <a:pPr marL="342900" indent="-342900">
              <a:buFont typeface="Arial" panose="020B0604020202020204" pitchFamily="34" charset="0"/>
              <a:buChar char="•"/>
            </a:pPr>
            <a:r>
              <a:rPr sz="2100">
                <a:latin typeface="Aptos"/>
              </a:rPr>
              <a:t>Athletes can develop injuries due to abnormal movement patterns, poor posture, biomechanical issues, and training-related factors.</a:t>
            </a:r>
            <a:r>
              <a:rPr lang="en-US" sz="2100">
                <a:latin typeface="Aptos"/>
              </a:rPr>
              <a:t>                                                                                                         </a:t>
            </a:r>
          </a:p>
          <a:p>
            <a:pPr marL="342900" indent="-342900">
              <a:buFont typeface="Arial" panose="020B0604020202020204" pitchFamily="34" charset="0"/>
              <a:buChar char="•"/>
            </a:pPr>
            <a:endParaRPr lang="en-US" sz="2100">
              <a:latin typeface="Aptos"/>
            </a:endParaRPr>
          </a:p>
          <a:p>
            <a:pPr marL="342900" indent="-342900">
              <a:buFont typeface="Arial" panose="020B0604020202020204" pitchFamily="34" charset="0"/>
              <a:buChar char="•"/>
            </a:pPr>
            <a:r>
              <a:rPr lang="en-IN" sz="2100">
                <a:latin typeface="Aptos"/>
              </a:rPr>
              <a:t>Manual movement analysis can be difficult and time-consuming</a:t>
            </a:r>
            <a:r>
              <a:rPr lang="en-US" sz="2100">
                <a:latin typeface="Aptos"/>
              </a:rPr>
              <a:t>                                                                                                                     </a:t>
            </a:r>
            <a:endParaRPr sz="2100">
              <a:latin typeface="Aptos"/>
            </a:endParaRPr>
          </a:p>
        </p:txBody>
      </p:sp>
      <p:sp>
        <p:nvSpPr>
          <p:cNvPr id="12" name="Rounded Rectangle 11"/>
          <p:cNvSpPr/>
          <p:nvPr/>
        </p:nvSpPr>
        <p:spPr>
          <a:xfrm>
            <a:off x="9041457" y="2346114"/>
            <a:ext cx="8641080" cy="4526279"/>
          </a:xfrm>
          <a:prstGeom prst="roundRect">
            <a:avLst/>
          </a:prstGeom>
          <a:solidFill>
            <a:srgbClr val="FFFFFF"/>
          </a:solidFill>
          <a:ln>
            <a:solidFill>
              <a:srgbClr val="D2C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TextBox 12"/>
          <p:cNvSpPr txBox="1"/>
          <p:nvPr/>
        </p:nvSpPr>
        <p:spPr>
          <a:xfrm>
            <a:off x="9395460" y="3044953"/>
            <a:ext cx="2137316" cy="346249"/>
          </a:xfrm>
          <a:prstGeom prst="rect">
            <a:avLst/>
          </a:prstGeom>
          <a:noFill/>
        </p:spPr>
        <p:txBody>
          <a:bodyPr wrap="none">
            <a:spAutoFit/>
          </a:bodyPr>
          <a:lstStyle/>
          <a:p>
            <a:pPr algn="l"/>
            <a:r>
              <a:rPr sz="1650" b="1">
                <a:solidFill>
                  <a:srgbClr val="7B56A5"/>
                </a:solidFill>
                <a:latin typeface="Aptos"/>
              </a:rPr>
              <a:t>PROJECT OBJECTIVE</a:t>
            </a:r>
          </a:p>
        </p:txBody>
      </p:sp>
      <p:sp>
        <p:nvSpPr>
          <p:cNvPr id="14" name="Rounded Rectangle 13"/>
          <p:cNvSpPr/>
          <p:nvPr/>
        </p:nvSpPr>
        <p:spPr>
          <a:xfrm>
            <a:off x="9409176" y="3593592"/>
            <a:ext cx="521208" cy="411480"/>
          </a:xfrm>
          <a:prstGeom prst="roundRect">
            <a:avLst/>
          </a:prstGeom>
          <a:solidFill>
            <a:srgbClr val="EEE4F7"/>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TextBox 14"/>
          <p:cNvSpPr txBox="1"/>
          <p:nvPr/>
        </p:nvSpPr>
        <p:spPr>
          <a:xfrm>
            <a:off x="9500503" y="3703321"/>
            <a:ext cx="338554" cy="265457"/>
          </a:xfrm>
          <a:prstGeom prst="rect">
            <a:avLst/>
          </a:prstGeom>
          <a:noFill/>
        </p:spPr>
        <p:txBody>
          <a:bodyPr wrap="none">
            <a:spAutoFit/>
          </a:bodyPr>
          <a:lstStyle/>
          <a:p>
            <a:pPr algn="ctr"/>
            <a:r>
              <a:rPr sz="1125" b="1">
                <a:solidFill>
                  <a:srgbClr val="7B56A5"/>
                </a:solidFill>
                <a:latin typeface="Aptos"/>
              </a:rPr>
              <a:t>01</a:t>
            </a:r>
          </a:p>
        </p:txBody>
      </p:sp>
      <p:sp>
        <p:nvSpPr>
          <p:cNvPr id="16" name="TextBox 15"/>
          <p:cNvSpPr txBox="1"/>
          <p:nvPr/>
        </p:nvSpPr>
        <p:spPr>
          <a:xfrm>
            <a:off x="10094977" y="3579877"/>
            <a:ext cx="7278623" cy="707886"/>
          </a:xfrm>
          <a:prstGeom prst="rect">
            <a:avLst/>
          </a:prstGeom>
          <a:noFill/>
        </p:spPr>
        <p:txBody>
          <a:bodyPr wrap="square">
            <a:spAutoFit/>
          </a:bodyPr>
          <a:lstStyle/>
          <a:p>
            <a:pPr algn="l"/>
            <a:r>
              <a:rPr sz="2000">
                <a:solidFill>
                  <a:srgbClr val="282032"/>
                </a:solidFill>
                <a:latin typeface="Aptos"/>
              </a:rPr>
              <a:t>Analyze athlete movement videos using computer vision and pose estimation.</a:t>
            </a:r>
          </a:p>
        </p:txBody>
      </p:sp>
      <p:sp>
        <p:nvSpPr>
          <p:cNvPr id="17" name="Rounded Rectangle 16"/>
          <p:cNvSpPr/>
          <p:nvPr/>
        </p:nvSpPr>
        <p:spPr>
          <a:xfrm>
            <a:off x="9425505" y="4530983"/>
            <a:ext cx="521208" cy="411480"/>
          </a:xfrm>
          <a:prstGeom prst="roundRect">
            <a:avLst/>
          </a:prstGeom>
          <a:solidFill>
            <a:srgbClr val="EEE4F7"/>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9516832" y="4640712"/>
            <a:ext cx="338554" cy="265457"/>
          </a:xfrm>
          <a:prstGeom prst="rect">
            <a:avLst/>
          </a:prstGeom>
          <a:noFill/>
        </p:spPr>
        <p:txBody>
          <a:bodyPr wrap="none">
            <a:spAutoFit/>
          </a:bodyPr>
          <a:lstStyle/>
          <a:p>
            <a:pPr algn="ctr"/>
            <a:r>
              <a:rPr sz="1125" b="1">
                <a:solidFill>
                  <a:srgbClr val="7B56A5"/>
                </a:solidFill>
                <a:latin typeface="Aptos"/>
              </a:rPr>
              <a:t>02</a:t>
            </a:r>
          </a:p>
        </p:txBody>
      </p:sp>
      <p:sp>
        <p:nvSpPr>
          <p:cNvPr id="19" name="TextBox 18"/>
          <p:cNvSpPr txBox="1"/>
          <p:nvPr/>
        </p:nvSpPr>
        <p:spPr>
          <a:xfrm>
            <a:off x="10111307" y="4517268"/>
            <a:ext cx="7189140" cy="707886"/>
          </a:xfrm>
          <a:prstGeom prst="rect">
            <a:avLst/>
          </a:prstGeom>
          <a:noFill/>
        </p:spPr>
        <p:txBody>
          <a:bodyPr wrap="square">
            <a:spAutoFit/>
          </a:bodyPr>
          <a:lstStyle/>
          <a:p>
            <a:pPr algn="l"/>
            <a:r>
              <a:rPr sz="2000">
                <a:solidFill>
                  <a:srgbClr val="282032"/>
                </a:solidFill>
                <a:latin typeface="Aptos"/>
              </a:rPr>
              <a:t>Identify biomechanical issues and abnormal movement patterns that may indicate injury risk.</a:t>
            </a:r>
          </a:p>
        </p:txBody>
      </p:sp>
      <p:sp>
        <p:nvSpPr>
          <p:cNvPr id="20" name="Rounded Rectangle 19"/>
          <p:cNvSpPr/>
          <p:nvPr/>
        </p:nvSpPr>
        <p:spPr>
          <a:xfrm>
            <a:off x="9425507" y="5441259"/>
            <a:ext cx="521208" cy="411480"/>
          </a:xfrm>
          <a:prstGeom prst="roundRect">
            <a:avLst/>
          </a:prstGeom>
          <a:solidFill>
            <a:srgbClr val="EEE4F7"/>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TextBox 20"/>
          <p:cNvSpPr txBox="1"/>
          <p:nvPr/>
        </p:nvSpPr>
        <p:spPr>
          <a:xfrm>
            <a:off x="9516834" y="5550988"/>
            <a:ext cx="338554" cy="265457"/>
          </a:xfrm>
          <a:prstGeom prst="rect">
            <a:avLst/>
          </a:prstGeom>
          <a:noFill/>
        </p:spPr>
        <p:txBody>
          <a:bodyPr wrap="none">
            <a:spAutoFit/>
          </a:bodyPr>
          <a:lstStyle/>
          <a:p>
            <a:pPr algn="ctr"/>
            <a:r>
              <a:rPr sz="1125" b="1">
                <a:solidFill>
                  <a:srgbClr val="7B56A5"/>
                </a:solidFill>
                <a:latin typeface="Aptos"/>
              </a:rPr>
              <a:t>03</a:t>
            </a:r>
          </a:p>
        </p:txBody>
      </p:sp>
      <p:sp>
        <p:nvSpPr>
          <p:cNvPr id="22" name="TextBox 21"/>
          <p:cNvSpPr txBox="1"/>
          <p:nvPr/>
        </p:nvSpPr>
        <p:spPr>
          <a:xfrm>
            <a:off x="10111307" y="5427544"/>
            <a:ext cx="6745223" cy="707886"/>
          </a:xfrm>
          <a:prstGeom prst="rect">
            <a:avLst/>
          </a:prstGeom>
          <a:noFill/>
        </p:spPr>
        <p:txBody>
          <a:bodyPr wrap="square">
            <a:spAutoFit/>
          </a:bodyPr>
          <a:lstStyle/>
          <a:p>
            <a:pPr algn="l"/>
            <a:r>
              <a:rPr sz="2000">
                <a:solidFill>
                  <a:srgbClr val="282032"/>
                </a:solidFill>
                <a:latin typeface="Aptos"/>
              </a:rPr>
              <a:t>Generate injury-risk insights and corrective recommendations to support injury prevention.</a:t>
            </a:r>
          </a:p>
        </p:txBody>
      </p:sp>
      <p:sp>
        <p:nvSpPr>
          <p:cNvPr id="24" name="TextBox 23"/>
          <p:cNvSpPr txBox="1"/>
          <p:nvPr/>
        </p:nvSpPr>
        <p:spPr>
          <a:xfrm>
            <a:off x="1067319" y="7557552"/>
            <a:ext cx="2397323" cy="461665"/>
          </a:xfrm>
          <a:prstGeom prst="rect">
            <a:avLst/>
          </a:prstGeom>
          <a:noFill/>
        </p:spPr>
        <p:txBody>
          <a:bodyPr wrap="square">
            <a:spAutoFit/>
          </a:bodyPr>
          <a:lstStyle/>
          <a:p>
            <a:pPr algn="l"/>
            <a:r>
              <a:rPr sz="2400" b="1">
                <a:solidFill>
                  <a:srgbClr val="7B56A5"/>
                </a:solidFill>
                <a:latin typeface="Aptos"/>
              </a:rPr>
              <a:t>T</a:t>
            </a:r>
            <a:r>
              <a:rPr lang="en-US" sz="2400" b="1">
                <a:solidFill>
                  <a:srgbClr val="7B56A5"/>
                </a:solidFill>
                <a:latin typeface="Aptos"/>
              </a:rPr>
              <a:t>eam Members</a:t>
            </a:r>
            <a:endParaRPr sz="2400" b="1">
              <a:solidFill>
                <a:srgbClr val="7B56A5"/>
              </a:solidFill>
              <a:latin typeface="Aptos"/>
            </a:endParaRPr>
          </a:p>
        </p:txBody>
      </p:sp>
      <p:sp>
        <p:nvSpPr>
          <p:cNvPr id="25" name="TextBox 24"/>
          <p:cNvSpPr txBox="1"/>
          <p:nvPr/>
        </p:nvSpPr>
        <p:spPr>
          <a:xfrm>
            <a:off x="1061877" y="8170069"/>
            <a:ext cx="5718104" cy="369332"/>
          </a:xfrm>
          <a:prstGeom prst="rect">
            <a:avLst/>
          </a:prstGeom>
          <a:noFill/>
        </p:spPr>
        <p:txBody>
          <a:bodyPr wrap="none">
            <a:spAutoFit/>
          </a:bodyPr>
          <a:lstStyle/>
          <a:p>
            <a:r>
              <a:rPr b="1">
                <a:solidFill>
                  <a:srgbClr val="5B4380"/>
                </a:solidFill>
                <a:latin typeface="Aptos"/>
              </a:rPr>
              <a:t>Manjeera  •  Payal  •  Mithra  •  Bibek •  Sonika</a:t>
            </a:r>
            <a:r>
              <a:rPr lang="en-US" b="1">
                <a:solidFill>
                  <a:srgbClr val="5B4380"/>
                </a:solidFill>
                <a:latin typeface="Aptos"/>
              </a:rPr>
              <a:t> </a:t>
            </a:r>
            <a:r>
              <a:rPr lang="en-IN" b="1">
                <a:solidFill>
                  <a:srgbClr val="5B4380"/>
                </a:solidFill>
                <a:latin typeface="Aptos"/>
              </a:rPr>
              <a:t>•  Sumit</a:t>
            </a:r>
            <a:endParaRPr b="1">
              <a:solidFill>
                <a:srgbClr val="5B4380"/>
              </a:solidFill>
              <a:latin typeface="Aptos"/>
            </a:endParaRPr>
          </a:p>
        </p:txBody>
      </p:sp>
      <p:sp>
        <p:nvSpPr>
          <p:cNvPr id="26" name="TextBox 25"/>
          <p:cNvSpPr txBox="1"/>
          <p:nvPr/>
        </p:nvSpPr>
        <p:spPr>
          <a:xfrm>
            <a:off x="1067319" y="8690253"/>
            <a:ext cx="2670859" cy="338554"/>
          </a:xfrm>
          <a:prstGeom prst="rect">
            <a:avLst/>
          </a:prstGeom>
          <a:noFill/>
        </p:spPr>
        <p:txBody>
          <a:bodyPr wrap="none">
            <a:spAutoFit/>
          </a:bodyPr>
          <a:lstStyle/>
          <a:p>
            <a:pPr algn="l"/>
            <a:r>
              <a:rPr sz="1600">
                <a:solidFill>
                  <a:srgbClr val="5B5069"/>
                </a:solidFill>
                <a:latin typeface="Aptos"/>
              </a:rPr>
              <a:t>Mentor: Springboard Mentor</a:t>
            </a:r>
          </a:p>
        </p:txBody>
      </p:sp>
    </p:spTree>
    <p:extLst>
      <p:ext uri="{BB962C8B-B14F-4D97-AF65-F5344CB8AC3E}">
        <p14:creationId xmlns:p14="http://schemas.microsoft.com/office/powerpoint/2010/main" val="569678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2" name="AutoShape 2"/>
          <p:cNvSpPr/>
          <p:nvPr/>
        </p:nvSpPr>
        <p:spPr>
          <a:xfrm>
            <a:off x="3389435" y="4664637"/>
            <a:ext cx="11509129" cy="0"/>
          </a:xfrm>
          <a:prstGeom prst="line">
            <a:avLst/>
          </a:prstGeom>
          <a:ln w="76200" cap="flat">
            <a:solidFill>
              <a:srgbClr val="AB9EE2"/>
            </a:solidFill>
            <a:prstDash val="solid"/>
            <a:headEnd type="none" w="sm" len="sm"/>
            <a:tailEnd type="none" w="sm" len="sm"/>
          </a:ln>
        </p:spPr>
      </p:sp>
      <p:grpSp>
        <p:nvGrpSpPr>
          <p:cNvPr id="3" name="Group 3"/>
          <p:cNvGrpSpPr/>
          <p:nvPr/>
        </p:nvGrpSpPr>
        <p:grpSpPr>
          <a:xfrm>
            <a:off x="1028700" y="4010668"/>
            <a:ext cx="3683729" cy="4855648"/>
            <a:chOff x="0" y="0"/>
            <a:chExt cx="1002912" cy="1321973"/>
          </a:xfrm>
        </p:grpSpPr>
        <p:sp>
          <p:nvSpPr>
            <p:cNvPr id="4" name="Freeform 4"/>
            <p:cNvSpPr/>
            <p:nvPr/>
          </p:nvSpPr>
          <p:spPr>
            <a:xfrm>
              <a:off x="0" y="0"/>
              <a:ext cx="1002913" cy="1321973"/>
            </a:xfrm>
            <a:custGeom>
              <a:avLst/>
              <a:gdLst/>
              <a:ahLst/>
              <a:cxnLst/>
              <a:rect l="l" t="t" r="r" b="b"/>
              <a:pathLst>
                <a:path w="1002913" h="1321973">
                  <a:moveTo>
                    <a:pt x="37830" y="0"/>
                  </a:moveTo>
                  <a:lnTo>
                    <a:pt x="965083" y="0"/>
                  </a:lnTo>
                  <a:cubicBezTo>
                    <a:pt x="985976" y="0"/>
                    <a:pt x="1002913" y="16937"/>
                    <a:pt x="1002913" y="37830"/>
                  </a:cubicBezTo>
                  <a:lnTo>
                    <a:pt x="1002913" y="1284143"/>
                  </a:lnTo>
                  <a:cubicBezTo>
                    <a:pt x="1002913" y="1294176"/>
                    <a:pt x="998927" y="1303798"/>
                    <a:pt x="991832" y="1310893"/>
                  </a:cubicBezTo>
                  <a:cubicBezTo>
                    <a:pt x="984738" y="1317987"/>
                    <a:pt x="975116" y="1321973"/>
                    <a:pt x="965083" y="1321973"/>
                  </a:cubicBezTo>
                  <a:lnTo>
                    <a:pt x="37830" y="1321973"/>
                  </a:lnTo>
                  <a:cubicBezTo>
                    <a:pt x="16937" y="1321973"/>
                    <a:pt x="0" y="1305036"/>
                    <a:pt x="0" y="1284143"/>
                  </a:cubicBezTo>
                  <a:lnTo>
                    <a:pt x="0" y="37830"/>
                  </a:lnTo>
                  <a:cubicBezTo>
                    <a:pt x="0" y="16937"/>
                    <a:pt x="16937" y="0"/>
                    <a:pt x="37830" y="0"/>
                  </a:cubicBezTo>
                  <a:close/>
                </a:path>
              </a:pathLst>
            </a:custGeom>
            <a:solidFill>
              <a:srgbClr val="AB9EE2"/>
            </a:solidFill>
          </p:spPr>
        </p:sp>
        <p:sp>
          <p:nvSpPr>
            <p:cNvPr id="5" name="TextBox 5"/>
            <p:cNvSpPr txBox="1"/>
            <p:nvPr/>
          </p:nvSpPr>
          <p:spPr>
            <a:xfrm>
              <a:off x="0" y="85725"/>
              <a:ext cx="1002912" cy="1236248"/>
            </a:xfrm>
            <a:prstGeom prst="rect">
              <a:avLst/>
            </a:prstGeom>
          </p:spPr>
          <p:txBody>
            <a:bodyPr lIns="50800" tIns="50800" rIns="50800" bIns="50800" rtlCol="0" anchor="ctr"/>
            <a:lstStyle/>
            <a:p>
              <a:pPr algn="ctr">
                <a:lnSpc>
                  <a:spcPts val="1925"/>
                </a:lnSpc>
              </a:pPr>
              <a:endParaRPr/>
            </a:p>
          </p:txBody>
        </p:sp>
      </p:grpSp>
      <p:sp>
        <p:nvSpPr>
          <p:cNvPr id="6" name="TextBox 6"/>
          <p:cNvSpPr txBox="1"/>
          <p:nvPr/>
        </p:nvSpPr>
        <p:spPr>
          <a:xfrm>
            <a:off x="3273152" y="1437026"/>
            <a:ext cx="11741696" cy="1232538"/>
          </a:xfrm>
          <a:prstGeom prst="rect">
            <a:avLst/>
          </a:prstGeom>
        </p:spPr>
        <p:txBody>
          <a:bodyPr lIns="0" tIns="0" rIns="0" bIns="0" rtlCol="0" anchor="t">
            <a:spAutoFit/>
          </a:bodyPr>
          <a:lstStyle/>
          <a:p>
            <a:pPr algn="ctr">
              <a:lnSpc>
                <a:spcPts val="9120"/>
              </a:lnSpc>
            </a:pPr>
            <a:r>
              <a:rPr lang="en-US" sz="9500" spc="-779">
                <a:solidFill>
                  <a:srgbClr val="272665"/>
                </a:solidFill>
                <a:latin typeface="Public Sans"/>
                <a:ea typeface="Public Sans"/>
                <a:cs typeface="Public Sans"/>
                <a:sym typeface="Public Sans"/>
              </a:rPr>
              <a:t>Key Features</a:t>
            </a:r>
          </a:p>
        </p:txBody>
      </p:sp>
      <p:grpSp>
        <p:nvGrpSpPr>
          <p:cNvPr id="7" name="Group 7"/>
          <p:cNvGrpSpPr/>
          <p:nvPr/>
        </p:nvGrpSpPr>
        <p:grpSpPr>
          <a:xfrm>
            <a:off x="5212967" y="4003683"/>
            <a:ext cx="3683729" cy="4855648"/>
            <a:chOff x="0" y="0"/>
            <a:chExt cx="1002912" cy="1321973"/>
          </a:xfrm>
        </p:grpSpPr>
        <p:sp>
          <p:nvSpPr>
            <p:cNvPr id="8" name="Freeform 8"/>
            <p:cNvSpPr/>
            <p:nvPr/>
          </p:nvSpPr>
          <p:spPr>
            <a:xfrm>
              <a:off x="0" y="0"/>
              <a:ext cx="1002913" cy="1321973"/>
            </a:xfrm>
            <a:custGeom>
              <a:avLst/>
              <a:gdLst/>
              <a:ahLst/>
              <a:cxnLst/>
              <a:rect l="l" t="t" r="r" b="b"/>
              <a:pathLst>
                <a:path w="1002913" h="1321973">
                  <a:moveTo>
                    <a:pt x="37830" y="0"/>
                  </a:moveTo>
                  <a:lnTo>
                    <a:pt x="965083" y="0"/>
                  </a:lnTo>
                  <a:cubicBezTo>
                    <a:pt x="985976" y="0"/>
                    <a:pt x="1002913" y="16937"/>
                    <a:pt x="1002913" y="37830"/>
                  </a:cubicBezTo>
                  <a:lnTo>
                    <a:pt x="1002913" y="1284143"/>
                  </a:lnTo>
                  <a:cubicBezTo>
                    <a:pt x="1002913" y="1294176"/>
                    <a:pt x="998927" y="1303798"/>
                    <a:pt x="991832" y="1310893"/>
                  </a:cubicBezTo>
                  <a:cubicBezTo>
                    <a:pt x="984738" y="1317987"/>
                    <a:pt x="975116" y="1321973"/>
                    <a:pt x="965083" y="1321973"/>
                  </a:cubicBezTo>
                  <a:lnTo>
                    <a:pt x="37830" y="1321973"/>
                  </a:lnTo>
                  <a:cubicBezTo>
                    <a:pt x="16937" y="1321973"/>
                    <a:pt x="0" y="1305036"/>
                    <a:pt x="0" y="1284143"/>
                  </a:cubicBezTo>
                  <a:lnTo>
                    <a:pt x="0" y="37830"/>
                  </a:lnTo>
                  <a:cubicBezTo>
                    <a:pt x="0" y="16937"/>
                    <a:pt x="16937" y="0"/>
                    <a:pt x="37830" y="0"/>
                  </a:cubicBezTo>
                  <a:close/>
                </a:path>
              </a:pathLst>
            </a:custGeom>
            <a:solidFill>
              <a:srgbClr val="AB9EE2"/>
            </a:solidFill>
          </p:spPr>
        </p:sp>
        <p:sp>
          <p:nvSpPr>
            <p:cNvPr id="9" name="TextBox 9"/>
            <p:cNvSpPr txBox="1"/>
            <p:nvPr/>
          </p:nvSpPr>
          <p:spPr>
            <a:xfrm>
              <a:off x="0" y="85725"/>
              <a:ext cx="1002912" cy="1236248"/>
            </a:xfrm>
            <a:prstGeom prst="rect">
              <a:avLst/>
            </a:prstGeom>
          </p:spPr>
          <p:txBody>
            <a:bodyPr lIns="50800" tIns="50800" rIns="50800" bIns="50800" rtlCol="0" anchor="ctr"/>
            <a:lstStyle/>
            <a:p>
              <a:pPr algn="ctr">
                <a:lnSpc>
                  <a:spcPts val="1925"/>
                </a:lnSpc>
              </a:pPr>
              <a:endParaRPr/>
            </a:p>
          </p:txBody>
        </p:sp>
      </p:grpSp>
      <p:grpSp>
        <p:nvGrpSpPr>
          <p:cNvPr id="10" name="Group 10"/>
          <p:cNvGrpSpPr/>
          <p:nvPr/>
        </p:nvGrpSpPr>
        <p:grpSpPr>
          <a:xfrm>
            <a:off x="9394269" y="4003683"/>
            <a:ext cx="3683729" cy="4855648"/>
            <a:chOff x="0" y="0"/>
            <a:chExt cx="1002912" cy="1321973"/>
          </a:xfrm>
        </p:grpSpPr>
        <p:sp>
          <p:nvSpPr>
            <p:cNvPr id="11" name="Freeform 11"/>
            <p:cNvSpPr/>
            <p:nvPr/>
          </p:nvSpPr>
          <p:spPr>
            <a:xfrm>
              <a:off x="0" y="0"/>
              <a:ext cx="1002913" cy="1321973"/>
            </a:xfrm>
            <a:custGeom>
              <a:avLst/>
              <a:gdLst/>
              <a:ahLst/>
              <a:cxnLst/>
              <a:rect l="l" t="t" r="r" b="b"/>
              <a:pathLst>
                <a:path w="1002913" h="1321973">
                  <a:moveTo>
                    <a:pt x="37830" y="0"/>
                  </a:moveTo>
                  <a:lnTo>
                    <a:pt x="965083" y="0"/>
                  </a:lnTo>
                  <a:cubicBezTo>
                    <a:pt x="985976" y="0"/>
                    <a:pt x="1002913" y="16937"/>
                    <a:pt x="1002913" y="37830"/>
                  </a:cubicBezTo>
                  <a:lnTo>
                    <a:pt x="1002913" y="1284143"/>
                  </a:lnTo>
                  <a:cubicBezTo>
                    <a:pt x="1002913" y="1294176"/>
                    <a:pt x="998927" y="1303798"/>
                    <a:pt x="991832" y="1310893"/>
                  </a:cubicBezTo>
                  <a:cubicBezTo>
                    <a:pt x="984738" y="1317987"/>
                    <a:pt x="975116" y="1321973"/>
                    <a:pt x="965083" y="1321973"/>
                  </a:cubicBezTo>
                  <a:lnTo>
                    <a:pt x="37830" y="1321973"/>
                  </a:lnTo>
                  <a:cubicBezTo>
                    <a:pt x="16937" y="1321973"/>
                    <a:pt x="0" y="1305036"/>
                    <a:pt x="0" y="1284143"/>
                  </a:cubicBezTo>
                  <a:lnTo>
                    <a:pt x="0" y="37830"/>
                  </a:lnTo>
                  <a:cubicBezTo>
                    <a:pt x="0" y="16937"/>
                    <a:pt x="16937" y="0"/>
                    <a:pt x="37830" y="0"/>
                  </a:cubicBezTo>
                  <a:close/>
                </a:path>
              </a:pathLst>
            </a:custGeom>
            <a:solidFill>
              <a:srgbClr val="AB9EE2"/>
            </a:solidFill>
          </p:spPr>
        </p:sp>
        <p:sp>
          <p:nvSpPr>
            <p:cNvPr id="12" name="TextBox 12"/>
            <p:cNvSpPr txBox="1"/>
            <p:nvPr/>
          </p:nvSpPr>
          <p:spPr>
            <a:xfrm>
              <a:off x="0" y="85725"/>
              <a:ext cx="1002912" cy="1236248"/>
            </a:xfrm>
            <a:prstGeom prst="rect">
              <a:avLst/>
            </a:prstGeom>
          </p:spPr>
          <p:txBody>
            <a:bodyPr lIns="50800" tIns="50800" rIns="50800" bIns="50800" rtlCol="0" anchor="ctr"/>
            <a:lstStyle/>
            <a:p>
              <a:pPr algn="ctr">
                <a:lnSpc>
                  <a:spcPts val="1925"/>
                </a:lnSpc>
              </a:pPr>
              <a:endParaRPr/>
            </a:p>
          </p:txBody>
        </p:sp>
      </p:grpSp>
      <p:grpSp>
        <p:nvGrpSpPr>
          <p:cNvPr id="13" name="Group 13"/>
          <p:cNvGrpSpPr/>
          <p:nvPr/>
        </p:nvGrpSpPr>
        <p:grpSpPr>
          <a:xfrm>
            <a:off x="13575571" y="4010668"/>
            <a:ext cx="3933526" cy="4855648"/>
            <a:chOff x="0" y="0"/>
            <a:chExt cx="1070921" cy="1321973"/>
          </a:xfrm>
        </p:grpSpPr>
        <p:sp>
          <p:nvSpPr>
            <p:cNvPr id="14" name="Freeform 14"/>
            <p:cNvSpPr/>
            <p:nvPr/>
          </p:nvSpPr>
          <p:spPr>
            <a:xfrm>
              <a:off x="0" y="0"/>
              <a:ext cx="1070921" cy="1321973"/>
            </a:xfrm>
            <a:custGeom>
              <a:avLst/>
              <a:gdLst/>
              <a:ahLst/>
              <a:cxnLst/>
              <a:rect l="l" t="t" r="r" b="b"/>
              <a:pathLst>
                <a:path w="1070921" h="1321973">
                  <a:moveTo>
                    <a:pt x="35427" y="0"/>
                  </a:moveTo>
                  <a:lnTo>
                    <a:pt x="1035494" y="0"/>
                  </a:lnTo>
                  <a:cubicBezTo>
                    <a:pt x="1044890" y="0"/>
                    <a:pt x="1053901" y="3733"/>
                    <a:pt x="1060545" y="10376"/>
                  </a:cubicBezTo>
                  <a:cubicBezTo>
                    <a:pt x="1067188" y="17020"/>
                    <a:pt x="1070921" y="26031"/>
                    <a:pt x="1070921" y="35427"/>
                  </a:cubicBezTo>
                  <a:lnTo>
                    <a:pt x="1070921" y="1286546"/>
                  </a:lnTo>
                  <a:cubicBezTo>
                    <a:pt x="1070921" y="1306112"/>
                    <a:pt x="1055060" y="1321973"/>
                    <a:pt x="1035494" y="1321973"/>
                  </a:cubicBezTo>
                  <a:lnTo>
                    <a:pt x="35427" y="1321973"/>
                  </a:lnTo>
                  <a:cubicBezTo>
                    <a:pt x="15861" y="1321973"/>
                    <a:pt x="0" y="1306112"/>
                    <a:pt x="0" y="1286546"/>
                  </a:cubicBezTo>
                  <a:lnTo>
                    <a:pt x="0" y="35427"/>
                  </a:lnTo>
                  <a:cubicBezTo>
                    <a:pt x="0" y="15861"/>
                    <a:pt x="15861" y="0"/>
                    <a:pt x="35427" y="0"/>
                  </a:cubicBezTo>
                  <a:close/>
                </a:path>
              </a:pathLst>
            </a:custGeom>
            <a:solidFill>
              <a:srgbClr val="AB9EE2"/>
            </a:solidFill>
          </p:spPr>
        </p:sp>
        <p:sp>
          <p:nvSpPr>
            <p:cNvPr id="15" name="TextBox 15"/>
            <p:cNvSpPr txBox="1"/>
            <p:nvPr/>
          </p:nvSpPr>
          <p:spPr>
            <a:xfrm>
              <a:off x="0" y="85725"/>
              <a:ext cx="1070921" cy="1236248"/>
            </a:xfrm>
            <a:prstGeom prst="rect">
              <a:avLst/>
            </a:prstGeom>
          </p:spPr>
          <p:txBody>
            <a:bodyPr lIns="50800" tIns="50800" rIns="50800" bIns="50800" rtlCol="0" anchor="ctr"/>
            <a:lstStyle/>
            <a:p>
              <a:pPr algn="ctr">
                <a:lnSpc>
                  <a:spcPts val="1925"/>
                </a:lnSpc>
              </a:pPr>
              <a:endParaRPr/>
            </a:p>
          </p:txBody>
        </p:sp>
      </p:grpSp>
      <p:sp>
        <p:nvSpPr>
          <p:cNvPr id="16" name="TextBox 16"/>
          <p:cNvSpPr txBox="1"/>
          <p:nvPr/>
        </p:nvSpPr>
        <p:spPr>
          <a:xfrm>
            <a:off x="1993572" y="4544547"/>
            <a:ext cx="1753986" cy="1097279"/>
          </a:xfrm>
          <a:prstGeom prst="rect">
            <a:avLst/>
          </a:prstGeom>
        </p:spPr>
        <p:txBody>
          <a:bodyPr lIns="0" tIns="0" rIns="0" bIns="0" rtlCol="0" anchor="t">
            <a:spAutoFit/>
          </a:bodyPr>
          <a:lstStyle/>
          <a:p>
            <a:pPr algn="ctr">
              <a:lnSpc>
                <a:spcPts val="8159"/>
              </a:lnSpc>
            </a:pPr>
            <a:r>
              <a:rPr lang="en-US" sz="8499" spc="-696">
                <a:solidFill>
                  <a:srgbClr val="FFFFFF"/>
                </a:solidFill>
                <a:latin typeface="Public Sans"/>
                <a:ea typeface="Public Sans"/>
                <a:cs typeface="Public Sans"/>
                <a:sym typeface="Public Sans"/>
              </a:rPr>
              <a:t>01</a:t>
            </a:r>
          </a:p>
        </p:txBody>
      </p:sp>
      <p:sp>
        <p:nvSpPr>
          <p:cNvPr id="17" name="TextBox 17"/>
          <p:cNvSpPr txBox="1"/>
          <p:nvPr/>
        </p:nvSpPr>
        <p:spPr>
          <a:xfrm>
            <a:off x="6177838" y="4544547"/>
            <a:ext cx="1753986" cy="1097279"/>
          </a:xfrm>
          <a:prstGeom prst="rect">
            <a:avLst/>
          </a:prstGeom>
        </p:spPr>
        <p:txBody>
          <a:bodyPr lIns="0" tIns="0" rIns="0" bIns="0" rtlCol="0" anchor="t">
            <a:spAutoFit/>
          </a:bodyPr>
          <a:lstStyle/>
          <a:p>
            <a:pPr algn="ctr">
              <a:lnSpc>
                <a:spcPts val="8159"/>
              </a:lnSpc>
            </a:pPr>
            <a:r>
              <a:rPr lang="en-US" sz="8499" spc="-696">
                <a:solidFill>
                  <a:srgbClr val="FFFFFF"/>
                </a:solidFill>
                <a:latin typeface="Public Sans"/>
                <a:ea typeface="Public Sans"/>
                <a:cs typeface="Public Sans"/>
                <a:sym typeface="Public Sans"/>
              </a:rPr>
              <a:t>02</a:t>
            </a:r>
          </a:p>
        </p:txBody>
      </p:sp>
      <p:sp>
        <p:nvSpPr>
          <p:cNvPr id="18" name="TextBox 18"/>
          <p:cNvSpPr txBox="1"/>
          <p:nvPr/>
        </p:nvSpPr>
        <p:spPr>
          <a:xfrm>
            <a:off x="10359140" y="4544547"/>
            <a:ext cx="1753986" cy="1097279"/>
          </a:xfrm>
          <a:prstGeom prst="rect">
            <a:avLst/>
          </a:prstGeom>
        </p:spPr>
        <p:txBody>
          <a:bodyPr lIns="0" tIns="0" rIns="0" bIns="0" rtlCol="0" anchor="t">
            <a:spAutoFit/>
          </a:bodyPr>
          <a:lstStyle/>
          <a:p>
            <a:pPr algn="ctr">
              <a:lnSpc>
                <a:spcPts val="8159"/>
              </a:lnSpc>
            </a:pPr>
            <a:r>
              <a:rPr lang="en-US" sz="8499" spc="-696">
                <a:solidFill>
                  <a:srgbClr val="FFFFFF"/>
                </a:solidFill>
                <a:latin typeface="Public Sans"/>
                <a:ea typeface="Public Sans"/>
                <a:cs typeface="Public Sans"/>
                <a:sym typeface="Public Sans"/>
              </a:rPr>
              <a:t>03</a:t>
            </a:r>
          </a:p>
        </p:txBody>
      </p:sp>
      <p:sp>
        <p:nvSpPr>
          <p:cNvPr id="19" name="TextBox 19"/>
          <p:cNvSpPr txBox="1"/>
          <p:nvPr/>
        </p:nvSpPr>
        <p:spPr>
          <a:xfrm>
            <a:off x="14544848" y="4544547"/>
            <a:ext cx="1753986" cy="1097279"/>
          </a:xfrm>
          <a:prstGeom prst="rect">
            <a:avLst/>
          </a:prstGeom>
        </p:spPr>
        <p:txBody>
          <a:bodyPr lIns="0" tIns="0" rIns="0" bIns="0" rtlCol="0" anchor="t">
            <a:spAutoFit/>
          </a:bodyPr>
          <a:lstStyle/>
          <a:p>
            <a:pPr algn="ctr">
              <a:lnSpc>
                <a:spcPts val="8159"/>
              </a:lnSpc>
            </a:pPr>
            <a:r>
              <a:rPr lang="en-US" sz="8499" spc="-696">
                <a:solidFill>
                  <a:srgbClr val="FFFFFF"/>
                </a:solidFill>
                <a:latin typeface="Public Sans"/>
                <a:ea typeface="Public Sans"/>
                <a:cs typeface="Public Sans"/>
                <a:sym typeface="Public Sans"/>
              </a:rPr>
              <a:t>04</a:t>
            </a:r>
          </a:p>
        </p:txBody>
      </p:sp>
      <p:sp>
        <p:nvSpPr>
          <p:cNvPr id="20" name="TextBox 20"/>
          <p:cNvSpPr txBox="1"/>
          <p:nvPr/>
        </p:nvSpPr>
        <p:spPr>
          <a:xfrm>
            <a:off x="396320" y="5815007"/>
            <a:ext cx="4948488" cy="422103"/>
          </a:xfrm>
          <a:prstGeom prst="rect">
            <a:avLst/>
          </a:prstGeom>
        </p:spPr>
        <p:txBody>
          <a:bodyPr lIns="0" tIns="0" rIns="0" bIns="0" rtlCol="0" anchor="t">
            <a:spAutoFit/>
          </a:bodyPr>
          <a:lstStyle/>
          <a:p>
            <a:pPr algn="ctr">
              <a:lnSpc>
                <a:spcPts val="3604"/>
              </a:lnSpc>
            </a:pPr>
            <a:r>
              <a:rPr lang="en-US" sz="2574" spc="-43">
                <a:solidFill>
                  <a:srgbClr val="FFFFFF"/>
                </a:solidFill>
                <a:latin typeface="Public Sans"/>
                <a:ea typeface="Public Sans"/>
                <a:cs typeface="Public Sans"/>
                <a:sym typeface="Public Sans"/>
              </a:rPr>
              <a:t>Ai Video Analysis</a:t>
            </a:r>
          </a:p>
        </p:txBody>
      </p:sp>
      <p:sp>
        <p:nvSpPr>
          <p:cNvPr id="21" name="TextBox 21"/>
          <p:cNvSpPr txBox="1"/>
          <p:nvPr/>
        </p:nvSpPr>
        <p:spPr>
          <a:xfrm>
            <a:off x="5209998" y="5861905"/>
            <a:ext cx="3732993" cy="956737"/>
          </a:xfrm>
          <a:prstGeom prst="rect">
            <a:avLst/>
          </a:prstGeom>
        </p:spPr>
        <p:txBody>
          <a:bodyPr wrap="square" lIns="0" tIns="0" rIns="0" bIns="0" rtlCol="0" anchor="t">
            <a:spAutoFit/>
          </a:bodyPr>
          <a:lstStyle/>
          <a:p>
            <a:pPr algn="ctr">
              <a:lnSpc>
                <a:spcPts val="3873"/>
              </a:lnSpc>
            </a:pPr>
            <a:r>
              <a:rPr lang="en-US" sz="2766" spc="-47">
                <a:solidFill>
                  <a:srgbClr val="FFFFFF"/>
                </a:solidFill>
                <a:latin typeface="Public Sans"/>
                <a:ea typeface="Public Sans"/>
                <a:cs typeface="Public Sans"/>
                <a:sym typeface="Public Sans"/>
              </a:rPr>
              <a:t>Biomechanical Assessment</a:t>
            </a:r>
          </a:p>
        </p:txBody>
      </p:sp>
      <p:sp>
        <p:nvSpPr>
          <p:cNvPr id="22" name="TextBox 22"/>
          <p:cNvSpPr txBox="1"/>
          <p:nvPr/>
        </p:nvSpPr>
        <p:spPr>
          <a:xfrm>
            <a:off x="8761889" y="5815007"/>
            <a:ext cx="4948488" cy="422103"/>
          </a:xfrm>
          <a:prstGeom prst="rect">
            <a:avLst/>
          </a:prstGeom>
        </p:spPr>
        <p:txBody>
          <a:bodyPr lIns="0" tIns="0" rIns="0" bIns="0" rtlCol="0" anchor="t">
            <a:spAutoFit/>
          </a:bodyPr>
          <a:lstStyle/>
          <a:p>
            <a:pPr algn="ctr">
              <a:lnSpc>
                <a:spcPts val="3604"/>
              </a:lnSpc>
            </a:pPr>
            <a:r>
              <a:rPr lang="en-US" sz="2574" spc="-43">
                <a:solidFill>
                  <a:srgbClr val="FFFFFF"/>
                </a:solidFill>
                <a:latin typeface="Public Sans"/>
                <a:ea typeface="Public Sans"/>
                <a:cs typeface="Public Sans"/>
                <a:sym typeface="Public Sans"/>
              </a:rPr>
              <a:t>Injury Risk Scoring</a:t>
            </a:r>
          </a:p>
        </p:txBody>
      </p:sp>
      <p:sp>
        <p:nvSpPr>
          <p:cNvPr id="23" name="TextBox 23"/>
          <p:cNvSpPr txBox="1"/>
          <p:nvPr/>
        </p:nvSpPr>
        <p:spPr>
          <a:xfrm>
            <a:off x="13621862" y="5860834"/>
            <a:ext cx="3933526" cy="858120"/>
          </a:xfrm>
          <a:prstGeom prst="rect">
            <a:avLst/>
          </a:prstGeom>
        </p:spPr>
        <p:txBody>
          <a:bodyPr wrap="square" lIns="0" tIns="0" rIns="0" bIns="0" rtlCol="0" anchor="t">
            <a:spAutoFit/>
          </a:bodyPr>
          <a:lstStyle/>
          <a:p>
            <a:pPr algn="ctr">
              <a:lnSpc>
                <a:spcPts val="3452"/>
              </a:lnSpc>
            </a:pPr>
            <a:r>
              <a:rPr lang="en-US" sz="2465" spc="-41">
                <a:solidFill>
                  <a:srgbClr val="FFFFFF"/>
                </a:solidFill>
                <a:latin typeface="Public Sans"/>
                <a:ea typeface="Public Sans"/>
                <a:cs typeface="Public Sans"/>
                <a:sym typeface="Public Sans"/>
              </a:rPr>
              <a:t>Recommendations and Reports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8F5"/>
        </a:solidFill>
        <a:effectLst/>
      </p:bgPr>
    </p:bg>
    <p:spTree>
      <p:nvGrpSpPr>
        <p:cNvPr id="1" name=""/>
        <p:cNvGrpSpPr/>
        <p:nvPr/>
      </p:nvGrpSpPr>
      <p:grpSpPr>
        <a:xfrm>
          <a:off x="0" y="0"/>
          <a:ext cx="0" cy="0"/>
          <a:chOff x="0" y="0"/>
          <a:chExt cx="0" cy="0"/>
        </a:xfrm>
      </p:grpSpPr>
      <p:sp>
        <p:nvSpPr>
          <p:cNvPr id="2" name="TextBox 1"/>
          <p:cNvSpPr txBox="1"/>
          <p:nvPr/>
        </p:nvSpPr>
        <p:spPr>
          <a:xfrm>
            <a:off x="678942" y="219108"/>
            <a:ext cx="16911828" cy="1200329"/>
          </a:xfrm>
          <a:prstGeom prst="rect">
            <a:avLst/>
          </a:prstGeom>
          <a:noFill/>
        </p:spPr>
        <p:txBody>
          <a:bodyPr wrap="square">
            <a:spAutoFit/>
          </a:bodyPr>
          <a:lstStyle/>
          <a:p>
            <a:pPr algn="ctr"/>
            <a:r>
              <a:rPr sz="7200">
                <a:solidFill>
                  <a:srgbClr val="2A2867"/>
                </a:solidFill>
                <a:latin typeface="Aptos"/>
              </a:rPr>
              <a:t>Workflow</a:t>
            </a:r>
          </a:p>
        </p:txBody>
      </p:sp>
      <p:sp>
        <p:nvSpPr>
          <p:cNvPr id="3" name="TextBox 2"/>
          <p:cNvSpPr txBox="1"/>
          <p:nvPr/>
        </p:nvSpPr>
        <p:spPr>
          <a:xfrm>
            <a:off x="960120" y="1261873"/>
            <a:ext cx="16363188" cy="346249"/>
          </a:xfrm>
          <a:prstGeom prst="rect">
            <a:avLst/>
          </a:prstGeom>
          <a:noFill/>
        </p:spPr>
        <p:txBody>
          <a:bodyPr wrap="square">
            <a:spAutoFit/>
          </a:bodyPr>
          <a:lstStyle/>
          <a:p>
            <a:pPr algn="ctr"/>
            <a:r>
              <a:rPr sz="1650">
                <a:solidFill>
                  <a:srgbClr val="69657C"/>
                </a:solidFill>
                <a:latin typeface="Aptos"/>
              </a:rPr>
              <a:t>End-to-end athlete video analysis pipeline</a:t>
            </a:r>
          </a:p>
        </p:txBody>
      </p:sp>
      <p:sp>
        <p:nvSpPr>
          <p:cNvPr id="4" name="Rounded Rectangle 3"/>
          <p:cNvSpPr/>
          <p:nvPr/>
        </p:nvSpPr>
        <p:spPr>
          <a:xfrm>
            <a:off x="576072" y="1892808"/>
            <a:ext cx="17117568" cy="7584948"/>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Rounded Rectangle 4"/>
          <p:cNvSpPr/>
          <p:nvPr/>
        </p:nvSpPr>
        <p:spPr>
          <a:xfrm>
            <a:off x="1165860" y="2852928"/>
            <a:ext cx="2400300" cy="1645920"/>
          </a:xfrm>
          <a:prstGeom prst="roundRect">
            <a:avLst/>
          </a:prstGeom>
          <a:solidFill>
            <a:srgbClr val="E7E4E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TextBox 5"/>
          <p:cNvSpPr txBox="1"/>
          <p:nvPr/>
        </p:nvSpPr>
        <p:spPr>
          <a:xfrm>
            <a:off x="1275588" y="3127247"/>
            <a:ext cx="2180844" cy="323165"/>
          </a:xfrm>
          <a:prstGeom prst="rect">
            <a:avLst/>
          </a:prstGeom>
          <a:noFill/>
        </p:spPr>
        <p:txBody>
          <a:bodyPr wrap="square">
            <a:spAutoFit/>
          </a:bodyPr>
          <a:lstStyle/>
          <a:p>
            <a:pPr algn="ctr"/>
            <a:r>
              <a:rPr sz="1500" b="1">
                <a:solidFill>
                  <a:srgbClr val="2A2867"/>
                </a:solidFill>
                <a:latin typeface="Aptos"/>
              </a:rPr>
              <a:t>REGISTER / LOGIN</a:t>
            </a:r>
          </a:p>
        </p:txBody>
      </p:sp>
      <p:sp>
        <p:nvSpPr>
          <p:cNvPr id="7" name="TextBox 6"/>
          <p:cNvSpPr txBox="1"/>
          <p:nvPr/>
        </p:nvSpPr>
        <p:spPr>
          <a:xfrm>
            <a:off x="1275588" y="3675888"/>
            <a:ext cx="2180844" cy="281295"/>
          </a:xfrm>
          <a:prstGeom prst="rect">
            <a:avLst/>
          </a:prstGeom>
          <a:noFill/>
        </p:spPr>
        <p:txBody>
          <a:bodyPr wrap="square">
            <a:spAutoFit/>
          </a:bodyPr>
          <a:lstStyle/>
          <a:p>
            <a:pPr algn="ctr"/>
            <a:r>
              <a:rPr sz="1228">
                <a:solidFill>
                  <a:srgbClr val="69657C"/>
                </a:solidFill>
                <a:latin typeface="Aptos"/>
              </a:rPr>
              <a:t>Role-Based Account &amp; Sign In</a:t>
            </a:r>
            <a:endParaRPr/>
          </a:p>
        </p:txBody>
      </p:sp>
      <p:sp>
        <p:nvSpPr>
          <p:cNvPr id="8" name="Rounded Rectangle 7"/>
          <p:cNvSpPr/>
          <p:nvPr/>
        </p:nvSpPr>
        <p:spPr>
          <a:xfrm>
            <a:off x="4320540" y="2852928"/>
            <a:ext cx="2400300" cy="1645920"/>
          </a:xfrm>
          <a:prstGeom prst="roundRect">
            <a:avLst/>
          </a:prstGeom>
          <a:solidFill>
            <a:srgbClr val="E6E0ED"/>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4430268" y="3127247"/>
            <a:ext cx="2180844" cy="323165"/>
          </a:xfrm>
          <a:prstGeom prst="rect">
            <a:avLst/>
          </a:prstGeom>
          <a:noFill/>
        </p:spPr>
        <p:txBody>
          <a:bodyPr wrap="square">
            <a:spAutoFit/>
          </a:bodyPr>
          <a:lstStyle/>
          <a:p>
            <a:pPr algn="ctr"/>
            <a:r>
              <a:rPr sz="1500" b="1">
                <a:solidFill>
                  <a:srgbClr val="2A2867"/>
                </a:solidFill>
                <a:latin typeface="Aptos"/>
              </a:rPr>
              <a:t>ATHLETE PROFILE</a:t>
            </a:r>
          </a:p>
        </p:txBody>
      </p:sp>
      <p:sp>
        <p:nvSpPr>
          <p:cNvPr id="10" name="TextBox 9"/>
          <p:cNvSpPr txBox="1"/>
          <p:nvPr/>
        </p:nvSpPr>
        <p:spPr>
          <a:xfrm>
            <a:off x="4430268" y="3675888"/>
            <a:ext cx="2180844" cy="470257"/>
          </a:xfrm>
          <a:prstGeom prst="rect">
            <a:avLst/>
          </a:prstGeom>
          <a:noFill/>
        </p:spPr>
        <p:txBody>
          <a:bodyPr wrap="square">
            <a:spAutoFit/>
          </a:bodyPr>
          <a:lstStyle/>
          <a:p>
            <a:pPr algn="ctr"/>
            <a:r>
              <a:rPr sz="1228">
                <a:solidFill>
                  <a:srgbClr val="69657C"/>
                </a:solidFill>
                <a:latin typeface="Aptos"/>
              </a:rPr>
              <a:t>Sport • training</a:t>
            </a:r>
            <a:r>
              <a:rPr lang="en-IN" sz="1200">
                <a:solidFill>
                  <a:srgbClr val="69657C"/>
                </a:solidFill>
                <a:latin typeface="Aptos"/>
              </a:rPr>
              <a:t> • </a:t>
            </a:r>
            <a:r>
              <a:rPr lang="en-US" sz="1228">
                <a:solidFill>
                  <a:srgbClr val="69657C"/>
                </a:solidFill>
                <a:latin typeface="Aptos"/>
              </a:rPr>
              <a:t>Injury history</a:t>
            </a:r>
            <a:endParaRPr/>
          </a:p>
        </p:txBody>
      </p:sp>
      <p:sp>
        <p:nvSpPr>
          <p:cNvPr id="11" name="Rounded Rectangle 10"/>
          <p:cNvSpPr/>
          <p:nvPr/>
        </p:nvSpPr>
        <p:spPr>
          <a:xfrm>
            <a:off x="7475220" y="2852928"/>
            <a:ext cx="2400300" cy="1645920"/>
          </a:xfrm>
          <a:prstGeom prst="roundRect">
            <a:avLst/>
          </a:prstGeom>
          <a:solidFill>
            <a:srgbClr val="CFE8FA"/>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TextBox 11"/>
          <p:cNvSpPr txBox="1"/>
          <p:nvPr/>
        </p:nvSpPr>
        <p:spPr>
          <a:xfrm>
            <a:off x="7584948" y="3127247"/>
            <a:ext cx="2180844" cy="323165"/>
          </a:xfrm>
          <a:prstGeom prst="rect">
            <a:avLst/>
          </a:prstGeom>
          <a:noFill/>
        </p:spPr>
        <p:txBody>
          <a:bodyPr wrap="square">
            <a:spAutoFit/>
          </a:bodyPr>
          <a:lstStyle/>
          <a:p>
            <a:pPr algn="ctr"/>
            <a:r>
              <a:rPr sz="1500" b="1">
                <a:solidFill>
                  <a:srgbClr val="2A2867"/>
                </a:solidFill>
                <a:latin typeface="Aptos"/>
              </a:rPr>
              <a:t>VIDEO UPLOAD</a:t>
            </a:r>
          </a:p>
        </p:txBody>
      </p:sp>
      <p:sp>
        <p:nvSpPr>
          <p:cNvPr id="13" name="TextBox 12"/>
          <p:cNvSpPr txBox="1"/>
          <p:nvPr/>
        </p:nvSpPr>
        <p:spPr>
          <a:xfrm>
            <a:off x="7584948" y="3675888"/>
            <a:ext cx="2180844" cy="281295"/>
          </a:xfrm>
          <a:prstGeom prst="rect">
            <a:avLst/>
          </a:prstGeom>
          <a:noFill/>
        </p:spPr>
        <p:txBody>
          <a:bodyPr wrap="square">
            <a:spAutoFit/>
          </a:bodyPr>
          <a:lstStyle/>
          <a:p>
            <a:pPr algn="ctr"/>
            <a:r>
              <a:rPr sz="1228">
                <a:solidFill>
                  <a:srgbClr val="69657C"/>
                </a:solidFill>
                <a:latin typeface="Aptos"/>
              </a:rPr>
              <a:t>Movemen</a:t>
            </a:r>
            <a:r>
              <a:rPr lang="en-US" sz="1228">
                <a:solidFill>
                  <a:srgbClr val="69657C"/>
                </a:solidFill>
                <a:latin typeface="Aptos"/>
              </a:rPr>
              <a:t>t  Video</a:t>
            </a:r>
            <a:endParaRPr/>
          </a:p>
        </p:txBody>
      </p:sp>
      <p:sp>
        <p:nvSpPr>
          <p:cNvPr id="14" name="Rounded Rectangle 13"/>
          <p:cNvSpPr/>
          <p:nvPr/>
        </p:nvSpPr>
        <p:spPr>
          <a:xfrm>
            <a:off x="10629900" y="2852928"/>
            <a:ext cx="2400300" cy="1645920"/>
          </a:xfrm>
          <a:prstGeom prst="roundRect">
            <a:avLst/>
          </a:prstGeom>
          <a:solidFill>
            <a:srgbClr val="B7EFC6"/>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TextBox 14"/>
          <p:cNvSpPr txBox="1"/>
          <p:nvPr/>
        </p:nvSpPr>
        <p:spPr>
          <a:xfrm>
            <a:off x="10739628" y="3127247"/>
            <a:ext cx="2180844" cy="323165"/>
          </a:xfrm>
          <a:prstGeom prst="rect">
            <a:avLst/>
          </a:prstGeom>
          <a:noFill/>
        </p:spPr>
        <p:txBody>
          <a:bodyPr wrap="square">
            <a:spAutoFit/>
          </a:bodyPr>
          <a:lstStyle/>
          <a:p>
            <a:pPr algn="ctr"/>
            <a:r>
              <a:rPr sz="1500" b="1">
                <a:solidFill>
                  <a:srgbClr val="2A2867"/>
                </a:solidFill>
                <a:latin typeface="Aptos"/>
              </a:rPr>
              <a:t>POSE ANALYSIS</a:t>
            </a:r>
          </a:p>
        </p:txBody>
      </p:sp>
      <p:sp>
        <p:nvSpPr>
          <p:cNvPr id="16" name="TextBox 15"/>
          <p:cNvSpPr txBox="1"/>
          <p:nvPr/>
        </p:nvSpPr>
        <p:spPr>
          <a:xfrm>
            <a:off x="10739628" y="3675888"/>
            <a:ext cx="2180844" cy="281295"/>
          </a:xfrm>
          <a:prstGeom prst="rect">
            <a:avLst/>
          </a:prstGeom>
          <a:noFill/>
        </p:spPr>
        <p:txBody>
          <a:bodyPr wrap="square">
            <a:spAutoFit/>
          </a:bodyPr>
          <a:lstStyle/>
          <a:p>
            <a:pPr algn="ctr"/>
            <a:r>
              <a:rPr sz="1228" err="1">
                <a:solidFill>
                  <a:srgbClr val="69657C"/>
                </a:solidFill>
                <a:latin typeface="Aptos"/>
              </a:rPr>
              <a:t>MediaPip</a:t>
            </a:r>
            <a:r>
              <a:rPr lang="en-US" sz="1228" err="1">
                <a:solidFill>
                  <a:srgbClr val="69657C"/>
                </a:solidFill>
                <a:latin typeface="Aptos"/>
              </a:rPr>
              <a:t>e</a:t>
            </a:r>
            <a:r>
              <a:rPr lang="en-US" sz="1228">
                <a:solidFill>
                  <a:srgbClr val="69657C"/>
                </a:solidFill>
                <a:latin typeface="Aptos"/>
              </a:rPr>
              <a:t> Landmarks</a:t>
            </a:r>
            <a:endParaRPr/>
          </a:p>
        </p:txBody>
      </p:sp>
      <p:sp>
        <p:nvSpPr>
          <p:cNvPr id="17" name="Rounded Rectangle 16"/>
          <p:cNvSpPr/>
          <p:nvPr/>
        </p:nvSpPr>
        <p:spPr>
          <a:xfrm>
            <a:off x="13784580" y="2852928"/>
            <a:ext cx="2400300" cy="1645920"/>
          </a:xfrm>
          <a:prstGeom prst="roundRect">
            <a:avLst/>
          </a:prstGeom>
          <a:solidFill>
            <a:srgbClr val="FFE69C"/>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14197547" y="3127247"/>
            <a:ext cx="1802892" cy="969496"/>
          </a:xfrm>
          <a:prstGeom prst="rect">
            <a:avLst/>
          </a:prstGeom>
          <a:noFill/>
        </p:spPr>
        <p:txBody>
          <a:bodyPr wrap="square">
            <a:spAutoFit/>
          </a:bodyPr>
          <a:lstStyle/>
          <a:p>
            <a:pPr algn="ctr"/>
            <a:r>
              <a:rPr sz="1500" b="1">
                <a:solidFill>
                  <a:srgbClr val="2A2867"/>
                </a:solidFill>
                <a:latin typeface="Aptos"/>
              </a:rPr>
              <a:t>BIOMECHANICA</a:t>
            </a:r>
            <a:r>
              <a:rPr lang="en-IN" sz="1500" b="1">
                <a:solidFill>
                  <a:srgbClr val="2A2867"/>
                </a:solidFill>
                <a:latin typeface="Aptos"/>
              </a:rPr>
              <a:t>LANALYSIS</a:t>
            </a:r>
            <a:br>
              <a:rPr lang="en-IN" sz="2700"/>
            </a:br>
            <a:endParaRPr sz="2700"/>
          </a:p>
        </p:txBody>
      </p:sp>
      <p:sp>
        <p:nvSpPr>
          <p:cNvPr id="19" name="TextBox 18"/>
          <p:cNvSpPr txBox="1"/>
          <p:nvPr/>
        </p:nvSpPr>
        <p:spPr>
          <a:xfrm>
            <a:off x="14004036" y="3647296"/>
            <a:ext cx="1955292" cy="470898"/>
          </a:xfrm>
          <a:prstGeom prst="rect">
            <a:avLst/>
          </a:prstGeom>
          <a:noFill/>
        </p:spPr>
        <p:txBody>
          <a:bodyPr wrap="square">
            <a:spAutoFit/>
          </a:bodyPr>
          <a:lstStyle/>
          <a:p>
            <a:pPr algn="ctr"/>
            <a:r>
              <a:rPr sz="1230">
                <a:solidFill>
                  <a:srgbClr val="69657C"/>
                </a:solidFill>
                <a:latin typeface="Aptos"/>
              </a:rPr>
              <a:t>Angles • ROM </a:t>
            </a:r>
            <a:r>
              <a:rPr lang="en-IN" sz="1200">
                <a:solidFill>
                  <a:srgbClr val="69657C"/>
                </a:solidFill>
                <a:latin typeface="Aptos"/>
              </a:rPr>
              <a:t>• </a:t>
            </a:r>
            <a:r>
              <a:rPr lang="en-US" sz="1230">
                <a:solidFill>
                  <a:srgbClr val="69657C"/>
                </a:solidFill>
                <a:latin typeface="Aptos"/>
              </a:rPr>
              <a:t>Trunk Lean</a:t>
            </a:r>
            <a:r>
              <a:rPr lang="en-IN" sz="1200">
                <a:solidFill>
                  <a:srgbClr val="69657C"/>
                </a:solidFill>
                <a:latin typeface="Aptos"/>
              </a:rPr>
              <a:t> • </a:t>
            </a:r>
            <a:r>
              <a:rPr lang="en-US" sz="1230">
                <a:solidFill>
                  <a:srgbClr val="69657C"/>
                </a:solidFill>
                <a:latin typeface="Aptos"/>
              </a:rPr>
              <a:t>Valgus</a:t>
            </a:r>
            <a:endParaRPr/>
          </a:p>
        </p:txBody>
      </p:sp>
      <p:sp>
        <p:nvSpPr>
          <p:cNvPr id="20" name="TextBox 19"/>
          <p:cNvSpPr txBox="1"/>
          <p:nvPr/>
        </p:nvSpPr>
        <p:spPr>
          <a:xfrm>
            <a:off x="3730752" y="3401569"/>
            <a:ext cx="480060" cy="507831"/>
          </a:xfrm>
          <a:prstGeom prst="rect">
            <a:avLst/>
          </a:prstGeom>
          <a:noFill/>
        </p:spPr>
        <p:txBody>
          <a:bodyPr wrap="square">
            <a:spAutoFit/>
          </a:bodyPr>
          <a:lstStyle/>
          <a:p>
            <a:pPr algn="ctr"/>
            <a:r>
              <a:rPr sz="2700" b="1">
                <a:solidFill>
                  <a:srgbClr val="2A2867"/>
                </a:solidFill>
                <a:latin typeface="Aptos"/>
              </a:rPr>
              <a:t>→</a:t>
            </a:r>
          </a:p>
        </p:txBody>
      </p:sp>
      <p:sp>
        <p:nvSpPr>
          <p:cNvPr id="21" name="TextBox 20"/>
          <p:cNvSpPr txBox="1"/>
          <p:nvPr/>
        </p:nvSpPr>
        <p:spPr>
          <a:xfrm>
            <a:off x="6885432" y="3401569"/>
            <a:ext cx="480060" cy="507831"/>
          </a:xfrm>
          <a:prstGeom prst="rect">
            <a:avLst/>
          </a:prstGeom>
          <a:noFill/>
        </p:spPr>
        <p:txBody>
          <a:bodyPr wrap="square">
            <a:spAutoFit/>
          </a:bodyPr>
          <a:lstStyle/>
          <a:p>
            <a:pPr algn="ctr"/>
            <a:r>
              <a:rPr sz="2700" b="1">
                <a:solidFill>
                  <a:srgbClr val="2A2867"/>
                </a:solidFill>
                <a:latin typeface="Aptos"/>
              </a:rPr>
              <a:t>→</a:t>
            </a:r>
          </a:p>
        </p:txBody>
      </p:sp>
      <p:sp>
        <p:nvSpPr>
          <p:cNvPr id="22" name="TextBox 21"/>
          <p:cNvSpPr txBox="1"/>
          <p:nvPr/>
        </p:nvSpPr>
        <p:spPr>
          <a:xfrm>
            <a:off x="10040112" y="3401569"/>
            <a:ext cx="480060" cy="507831"/>
          </a:xfrm>
          <a:prstGeom prst="rect">
            <a:avLst/>
          </a:prstGeom>
          <a:noFill/>
        </p:spPr>
        <p:txBody>
          <a:bodyPr wrap="square">
            <a:spAutoFit/>
          </a:bodyPr>
          <a:lstStyle/>
          <a:p>
            <a:pPr algn="ctr"/>
            <a:r>
              <a:rPr sz="2700" b="1">
                <a:solidFill>
                  <a:srgbClr val="2A2867"/>
                </a:solidFill>
                <a:latin typeface="Aptos"/>
              </a:rPr>
              <a:t>→</a:t>
            </a:r>
          </a:p>
        </p:txBody>
      </p:sp>
      <p:sp>
        <p:nvSpPr>
          <p:cNvPr id="23" name="TextBox 22"/>
          <p:cNvSpPr txBox="1"/>
          <p:nvPr/>
        </p:nvSpPr>
        <p:spPr>
          <a:xfrm>
            <a:off x="13194792" y="3401569"/>
            <a:ext cx="480060" cy="507831"/>
          </a:xfrm>
          <a:prstGeom prst="rect">
            <a:avLst/>
          </a:prstGeom>
          <a:noFill/>
        </p:spPr>
        <p:txBody>
          <a:bodyPr wrap="square">
            <a:spAutoFit/>
          </a:bodyPr>
          <a:lstStyle/>
          <a:p>
            <a:pPr algn="ctr"/>
            <a:r>
              <a:rPr sz="2700" b="1">
                <a:solidFill>
                  <a:srgbClr val="2A2867"/>
                </a:solidFill>
                <a:latin typeface="Aptos"/>
              </a:rPr>
              <a:t>→</a:t>
            </a:r>
          </a:p>
        </p:txBody>
      </p:sp>
      <p:sp>
        <p:nvSpPr>
          <p:cNvPr id="24" name="TextBox 23"/>
          <p:cNvSpPr txBox="1"/>
          <p:nvPr/>
        </p:nvSpPr>
        <p:spPr>
          <a:xfrm>
            <a:off x="16242717" y="4205910"/>
            <a:ext cx="754380" cy="577081"/>
          </a:xfrm>
          <a:prstGeom prst="rect">
            <a:avLst/>
          </a:prstGeom>
          <a:noFill/>
        </p:spPr>
        <p:txBody>
          <a:bodyPr wrap="square">
            <a:spAutoFit/>
          </a:bodyPr>
          <a:lstStyle/>
          <a:p>
            <a:pPr algn="ctr"/>
            <a:r>
              <a:rPr sz="3150" b="1">
                <a:solidFill>
                  <a:srgbClr val="2A2867"/>
                </a:solidFill>
                <a:latin typeface="Aptos"/>
              </a:rPr>
              <a:t>↓</a:t>
            </a:r>
          </a:p>
        </p:txBody>
      </p:sp>
      <p:sp>
        <p:nvSpPr>
          <p:cNvPr id="25" name="Rounded Rectangle 24"/>
          <p:cNvSpPr/>
          <p:nvPr/>
        </p:nvSpPr>
        <p:spPr>
          <a:xfrm>
            <a:off x="4732020" y="5513831"/>
            <a:ext cx="2948940" cy="1673352"/>
          </a:xfrm>
          <a:prstGeom prst="roundRect">
            <a:avLst/>
          </a:prstGeom>
          <a:solidFill>
            <a:srgbClr val="FFE69C"/>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4841748" y="5829301"/>
            <a:ext cx="2729484" cy="323165"/>
          </a:xfrm>
          <a:prstGeom prst="rect">
            <a:avLst/>
          </a:prstGeom>
          <a:noFill/>
        </p:spPr>
        <p:txBody>
          <a:bodyPr wrap="square">
            <a:spAutoFit/>
          </a:bodyPr>
          <a:lstStyle/>
          <a:p>
            <a:pPr algn="ctr"/>
            <a:r>
              <a:rPr sz="1500" b="1">
                <a:solidFill>
                  <a:srgbClr val="2A2867"/>
                </a:solidFill>
                <a:latin typeface="Aptos"/>
              </a:rPr>
              <a:t>RISK SCORE</a:t>
            </a:r>
          </a:p>
        </p:txBody>
      </p:sp>
      <p:sp>
        <p:nvSpPr>
          <p:cNvPr id="27" name="TextBox 26"/>
          <p:cNvSpPr txBox="1"/>
          <p:nvPr/>
        </p:nvSpPr>
        <p:spPr>
          <a:xfrm>
            <a:off x="4841748" y="6391656"/>
            <a:ext cx="2729484" cy="286232"/>
          </a:xfrm>
          <a:prstGeom prst="rect">
            <a:avLst/>
          </a:prstGeom>
          <a:noFill/>
        </p:spPr>
        <p:txBody>
          <a:bodyPr wrap="square">
            <a:spAutoFit/>
          </a:bodyPr>
          <a:lstStyle/>
          <a:p>
            <a:pPr algn="ctr"/>
            <a:r>
              <a:rPr sz="1260">
                <a:solidFill>
                  <a:srgbClr val="69657C"/>
                </a:solidFill>
                <a:latin typeface="Aptos"/>
              </a:rPr>
              <a:t>0–100 risk assessment</a:t>
            </a:r>
          </a:p>
        </p:txBody>
      </p:sp>
      <p:sp>
        <p:nvSpPr>
          <p:cNvPr id="28" name="Rounded Rectangle 27"/>
          <p:cNvSpPr/>
          <p:nvPr/>
        </p:nvSpPr>
        <p:spPr>
          <a:xfrm>
            <a:off x="8298180" y="5513831"/>
            <a:ext cx="2948940" cy="1673352"/>
          </a:xfrm>
          <a:prstGeom prst="roundRect">
            <a:avLst/>
          </a:prstGeom>
          <a:solidFill>
            <a:srgbClr val="B7EFC6"/>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9" name="TextBox 28"/>
          <p:cNvSpPr txBox="1"/>
          <p:nvPr/>
        </p:nvSpPr>
        <p:spPr>
          <a:xfrm>
            <a:off x="8407908" y="5829300"/>
            <a:ext cx="2729484" cy="323165"/>
          </a:xfrm>
          <a:prstGeom prst="rect">
            <a:avLst/>
          </a:prstGeom>
          <a:noFill/>
        </p:spPr>
        <p:txBody>
          <a:bodyPr wrap="square">
            <a:spAutoFit/>
          </a:bodyPr>
          <a:lstStyle/>
          <a:p>
            <a:pPr algn="ctr"/>
            <a:r>
              <a:rPr sz="1500" b="1">
                <a:solidFill>
                  <a:srgbClr val="2A2867"/>
                </a:solidFill>
                <a:latin typeface="Aptos"/>
              </a:rPr>
              <a:t>RECOMMENDATIONS</a:t>
            </a:r>
          </a:p>
        </p:txBody>
      </p:sp>
      <p:sp>
        <p:nvSpPr>
          <p:cNvPr id="30" name="TextBox 29"/>
          <p:cNvSpPr txBox="1"/>
          <p:nvPr/>
        </p:nvSpPr>
        <p:spPr>
          <a:xfrm>
            <a:off x="8407908" y="6391657"/>
            <a:ext cx="2729484" cy="286232"/>
          </a:xfrm>
          <a:prstGeom prst="rect">
            <a:avLst/>
          </a:prstGeom>
          <a:noFill/>
        </p:spPr>
        <p:txBody>
          <a:bodyPr wrap="square">
            <a:spAutoFit/>
          </a:bodyPr>
          <a:lstStyle/>
          <a:p>
            <a:pPr algn="ctr"/>
            <a:r>
              <a:rPr sz="1260">
                <a:solidFill>
                  <a:srgbClr val="69657C"/>
                </a:solidFill>
                <a:latin typeface="Aptos"/>
              </a:rPr>
              <a:t>Posture • exercis</a:t>
            </a:r>
            <a:r>
              <a:rPr lang="en-US" sz="1260">
                <a:solidFill>
                  <a:srgbClr val="69657C"/>
                </a:solidFill>
                <a:latin typeface="Aptos"/>
              </a:rPr>
              <a:t>e</a:t>
            </a:r>
            <a:r>
              <a:rPr lang="en-IN" sz="1260">
                <a:solidFill>
                  <a:srgbClr val="69657C"/>
                </a:solidFill>
                <a:latin typeface="Aptos"/>
              </a:rPr>
              <a:t> • </a:t>
            </a:r>
            <a:r>
              <a:rPr lang="en-US" sz="1260" err="1">
                <a:solidFill>
                  <a:srgbClr val="69657C"/>
                </a:solidFill>
                <a:latin typeface="Aptos"/>
              </a:rPr>
              <a:t>Recory</a:t>
            </a:r>
            <a:endParaRPr sz="2700"/>
          </a:p>
        </p:txBody>
      </p:sp>
      <p:sp>
        <p:nvSpPr>
          <p:cNvPr id="31" name="Rounded Rectangle 30"/>
          <p:cNvSpPr/>
          <p:nvPr/>
        </p:nvSpPr>
        <p:spPr>
          <a:xfrm>
            <a:off x="11864340" y="5513831"/>
            <a:ext cx="2948940" cy="1673352"/>
          </a:xfrm>
          <a:prstGeom prst="roundRect">
            <a:avLst/>
          </a:prstGeom>
          <a:solidFill>
            <a:srgbClr val="E0D0F6"/>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TextBox 31"/>
          <p:cNvSpPr txBox="1"/>
          <p:nvPr/>
        </p:nvSpPr>
        <p:spPr>
          <a:xfrm>
            <a:off x="11974068" y="5829301"/>
            <a:ext cx="2729484" cy="323165"/>
          </a:xfrm>
          <a:prstGeom prst="rect">
            <a:avLst/>
          </a:prstGeom>
          <a:noFill/>
        </p:spPr>
        <p:txBody>
          <a:bodyPr wrap="square">
            <a:spAutoFit/>
          </a:bodyPr>
          <a:lstStyle/>
          <a:p>
            <a:pPr algn="ctr"/>
            <a:r>
              <a:rPr sz="1500" b="1">
                <a:solidFill>
                  <a:srgbClr val="2A2867"/>
                </a:solidFill>
                <a:latin typeface="Aptos"/>
              </a:rPr>
              <a:t>REPORTS</a:t>
            </a:r>
          </a:p>
        </p:txBody>
      </p:sp>
      <p:sp>
        <p:nvSpPr>
          <p:cNvPr id="33" name="TextBox 32"/>
          <p:cNvSpPr txBox="1"/>
          <p:nvPr/>
        </p:nvSpPr>
        <p:spPr>
          <a:xfrm>
            <a:off x="11974068" y="6391657"/>
            <a:ext cx="2729484" cy="286232"/>
          </a:xfrm>
          <a:prstGeom prst="rect">
            <a:avLst/>
          </a:prstGeom>
          <a:noFill/>
        </p:spPr>
        <p:txBody>
          <a:bodyPr wrap="square">
            <a:spAutoFit/>
          </a:bodyPr>
          <a:lstStyle/>
          <a:p>
            <a:pPr algn="ctr"/>
            <a:r>
              <a:rPr lang="en-IN" sz="1260">
                <a:solidFill>
                  <a:srgbClr val="69657C"/>
                </a:solidFill>
                <a:latin typeface="Aptos"/>
              </a:rPr>
              <a:t>• </a:t>
            </a:r>
            <a:r>
              <a:rPr sz="1260">
                <a:solidFill>
                  <a:srgbClr val="69657C"/>
                </a:solidFill>
                <a:latin typeface="Aptos"/>
              </a:rPr>
              <a:t>History • PD</a:t>
            </a:r>
            <a:r>
              <a:rPr lang="en-US" sz="1260">
                <a:solidFill>
                  <a:srgbClr val="69657C"/>
                </a:solidFill>
                <a:latin typeface="Aptos"/>
              </a:rPr>
              <a:t>F</a:t>
            </a:r>
            <a:r>
              <a:rPr lang="en-IN" sz="1260">
                <a:solidFill>
                  <a:srgbClr val="69657C"/>
                </a:solidFill>
                <a:latin typeface="Aptos"/>
              </a:rPr>
              <a:t> • </a:t>
            </a:r>
            <a:r>
              <a:rPr lang="en-US" sz="1260">
                <a:solidFill>
                  <a:srgbClr val="69657C"/>
                </a:solidFill>
                <a:latin typeface="Aptos"/>
              </a:rPr>
              <a:t>CSV Export</a:t>
            </a:r>
            <a:endParaRPr sz="2700"/>
          </a:p>
        </p:txBody>
      </p:sp>
      <p:sp>
        <p:nvSpPr>
          <p:cNvPr id="34" name="TextBox 33"/>
          <p:cNvSpPr txBox="1"/>
          <p:nvPr/>
        </p:nvSpPr>
        <p:spPr>
          <a:xfrm>
            <a:off x="7790688" y="6007609"/>
            <a:ext cx="438912" cy="507831"/>
          </a:xfrm>
          <a:prstGeom prst="rect">
            <a:avLst/>
          </a:prstGeom>
          <a:noFill/>
        </p:spPr>
        <p:txBody>
          <a:bodyPr wrap="square">
            <a:spAutoFit/>
          </a:bodyPr>
          <a:lstStyle/>
          <a:p>
            <a:pPr algn="ctr"/>
            <a:r>
              <a:rPr sz="2700" b="1">
                <a:solidFill>
                  <a:srgbClr val="2A2867"/>
                </a:solidFill>
                <a:latin typeface="Aptos"/>
              </a:rPr>
              <a:t>→</a:t>
            </a:r>
          </a:p>
        </p:txBody>
      </p:sp>
      <p:sp>
        <p:nvSpPr>
          <p:cNvPr id="35" name="TextBox 34"/>
          <p:cNvSpPr txBox="1"/>
          <p:nvPr/>
        </p:nvSpPr>
        <p:spPr>
          <a:xfrm>
            <a:off x="11356847" y="6007609"/>
            <a:ext cx="438912" cy="507831"/>
          </a:xfrm>
          <a:prstGeom prst="rect">
            <a:avLst/>
          </a:prstGeom>
          <a:noFill/>
        </p:spPr>
        <p:txBody>
          <a:bodyPr wrap="square">
            <a:spAutoFit/>
          </a:bodyPr>
          <a:lstStyle/>
          <a:p>
            <a:pPr algn="ctr"/>
            <a:r>
              <a:rPr sz="2700" b="1">
                <a:solidFill>
                  <a:srgbClr val="2A2867"/>
                </a:solidFill>
                <a:latin typeface="Aptos"/>
              </a:rPr>
              <a:t>→</a:t>
            </a:r>
          </a:p>
        </p:txBody>
      </p:sp>
      <p:sp>
        <p:nvSpPr>
          <p:cNvPr id="36" name="TextBox 35"/>
          <p:cNvSpPr txBox="1"/>
          <p:nvPr/>
        </p:nvSpPr>
        <p:spPr>
          <a:xfrm>
            <a:off x="993304" y="7403326"/>
            <a:ext cx="16322040" cy="288541"/>
          </a:xfrm>
          <a:prstGeom prst="rect">
            <a:avLst/>
          </a:prstGeom>
          <a:noFill/>
        </p:spPr>
        <p:txBody>
          <a:bodyPr wrap="square">
            <a:spAutoFit/>
          </a:bodyPr>
          <a:lstStyle/>
          <a:p>
            <a:pPr algn="ctr"/>
            <a:r>
              <a:rPr sz="1275" b="1">
                <a:solidFill>
                  <a:srgbClr val="69657C"/>
                </a:solidFill>
                <a:latin typeface="Aptos"/>
              </a:rPr>
              <a:t>TECHNOLOGY / PROCESS FLOW</a:t>
            </a:r>
          </a:p>
        </p:txBody>
      </p:sp>
      <p:sp>
        <p:nvSpPr>
          <p:cNvPr id="37" name="Rounded Rectangle 36"/>
          <p:cNvSpPr/>
          <p:nvPr/>
        </p:nvSpPr>
        <p:spPr>
          <a:xfrm>
            <a:off x="1261872" y="8092440"/>
            <a:ext cx="2359152" cy="589788"/>
          </a:xfrm>
          <a:prstGeom prst="roundRect">
            <a:avLst/>
          </a:prstGeom>
          <a:solidFill>
            <a:srgbClr val="EFE8F8"/>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8" name="TextBox 37"/>
          <p:cNvSpPr txBox="1"/>
          <p:nvPr/>
        </p:nvSpPr>
        <p:spPr>
          <a:xfrm>
            <a:off x="1330452" y="8243317"/>
            <a:ext cx="2221992" cy="281295"/>
          </a:xfrm>
          <a:prstGeom prst="rect">
            <a:avLst/>
          </a:prstGeom>
          <a:noFill/>
        </p:spPr>
        <p:txBody>
          <a:bodyPr wrap="square">
            <a:spAutoFit/>
          </a:bodyPr>
          <a:lstStyle/>
          <a:p>
            <a:pPr algn="ctr"/>
            <a:r>
              <a:rPr sz="1228" b="1">
                <a:solidFill>
                  <a:srgbClr val="7B56A5"/>
                </a:solidFill>
                <a:latin typeface="Aptos"/>
              </a:rPr>
              <a:t>React + TypeScript</a:t>
            </a:r>
          </a:p>
        </p:txBody>
      </p:sp>
      <p:sp>
        <p:nvSpPr>
          <p:cNvPr id="39" name="Rounded Rectangle 38"/>
          <p:cNvSpPr/>
          <p:nvPr/>
        </p:nvSpPr>
        <p:spPr>
          <a:xfrm>
            <a:off x="4210812" y="8075663"/>
            <a:ext cx="2359152" cy="589788"/>
          </a:xfrm>
          <a:prstGeom prst="roundRect">
            <a:avLst/>
          </a:prstGeom>
          <a:solidFill>
            <a:srgbClr val="EFE8F8"/>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TextBox 39"/>
          <p:cNvSpPr txBox="1"/>
          <p:nvPr/>
        </p:nvSpPr>
        <p:spPr>
          <a:xfrm>
            <a:off x="4279391" y="8226540"/>
            <a:ext cx="2221992" cy="281295"/>
          </a:xfrm>
          <a:prstGeom prst="rect">
            <a:avLst/>
          </a:prstGeom>
          <a:noFill/>
        </p:spPr>
        <p:txBody>
          <a:bodyPr wrap="square">
            <a:spAutoFit/>
          </a:bodyPr>
          <a:lstStyle/>
          <a:p>
            <a:pPr algn="ctr"/>
            <a:r>
              <a:rPr sz="1228" b="1">
                <a:solidFill>
                  <a:srgbClr val="7B56A5"/>
                </a:solidFill>
                <a:latin typeface="Aptos"/>
              </a:rPr>
              <a:t>FastAPI</a:t>
            </a:r>
          </a:p>
        </p:txBody>
      </p:sp>
      <p:sp>
        <p:nvSpPr>
          <p:cNvPr id="41" name="Rounded Rectangle 40"/>
          <p:cNvSpPr/>
          <p:nvPr/>
        </p:nvSpPr>
        <p:spPr>
          <a:xfrm>
            <a:off x="6926580" y="8092440"/>
            <a:ext cx="2359152" cy="589788"/>
          </a:xfrm>
          <a:prstGeom prst="roundRect">
            <a:avLst/>
          </a:prstGeom>
          <a:solidFill>
            <a:srgbClr val="EFE8F8"/>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2" name="TextBox 41"/>
          <p:cNvSpPr txBox="1"/>
          <p:nvPr/>
        </p:nvSpPr>
        <p:spPr>
          <a:xfrm>
            <a:off x="6995160" y="8243317"/>
            <a:ext cx="2221992" cy="281295"/>
          </a:xfrm>
          <a:prstGeom prst="rect">
            <a:avLst/>
          </a:prstGeom>
          <a:noFill/>
        </p:spPr>
        <p:txBody>
          <a:bodyPr wrap="square">
            <a:spAutoFit/>
          </a:bodyPr>
          <a:lstStyle/>
          <a:p>
            <a:pPr algn="ctr"/>
            <a:r>
              <a:rPr sz="1228" b="1">
                <a:solidFill>
                  <a:srgbClr val="7B56A5"/>
                </a:solidFill>
                <a:latin typeface="Aptos"/>
              </a:rPr>
              <a:t>MediaPipe Pose</a:t>
            </a:r>
          </a:p>
        </p:txBody>
      </p:sp>
      <p:sp>
        <p:nvSpPr>
          <p:cNvPr id="43" name="Rounded Rectangle 42"/>
          <p:cNvSpPr/>
          <p:nvPr/>
        </p:nvSpPr>
        <p:spPr>
          <a:xfrm>
            <a:off x="10122408" y="8092440"/>
            <a:ext cx="2359152" cy="589788"/>
          </a:xfrm>
          <a:prstGeom prst="roundRect">
            <a:avLst/>
          </a:prstGeom>
          <a:solidFill>
            <a:srgbClr val="EFE8F8"/>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4" name="TextBox 43"/>
          <p:cNvSpPr txBox="1"/>
          <p:nvPr/>
        </p:nvSpPr>
        <p:spPr>
          <a:xfrm>
            <a:off x="10190988" y="8243317"/>
            <a:ext cx="2221992" cy="281295"/>
          </a:xfrm>
          <a:prstGeom prst="rect">
            <a:avLst/>
          </a:prstGeom>
          <a:noFill/>
        </p:spPr>
        <p:txBody>
          <a:bodyPr wrap="square">
            <a:spAutoFit/>
          </a:bodyPr>
          <a:lstStyle/>
          <a:p>
            <a:pPr algn="ctr"/>
            <a:r>
              <a:rPr sz="1228" b="1">
                <a:solidFill>
                  <a:srgbClr val="7B56A5"/>
                </a:solidFill>
                <a:latin typeface="Aptos"/>
              </a:rPr>
              <a:t>XGBoost ML Risk Engine</a:t>
            </a:r>
          </a:p>
        </p:txBody>
      </p:sp>
      <p:sp>
        <p:nvSpPr>
          <p:cNvPr id="45" name="Rounded Rectangle 44"/>
          <p:cNvSpPr/>
          <p:nvPr/>
        </p:nvSpPr>
        <p:spPr>
          <a:xfrm>
            <a:off x="12824460" y="8092440"/>
            <a:ext cx="2359152" cy="589788"/>
          </a:xfrm>
          <a:prstGeom prst="roundRect">
            <a:avLst/>
          </a:prstGeom>
          <a:solidFill>
            <a:srgbClr val="EFE8F8"/>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12893040" y="8243317"/>
            <a:ext cx="2221992" cy="281295"/>
          </a:xfrm>
          <a:prstGeom prst="rect">
            <a:avLst/>
          </a:prstGeom>
          <a:noFill/>
        </p:spPr>
        <p:txBody>
          <a:bodyPr wrap="square">
            <a:spAutoFit/>
          </a:bodyPr>
          <a:lstStyle/>
          <a:p>
            <a:pPr algn="ctr"/>
            <a:r>
              <a:rPr sz="1228" b="1">
                <a:solidFill>
                  <a:srgbClr val="7B56A5"/>
                </a:solidFill>
                <a:latin typeface="Aptos"/>
              </a:rPr>
              <a:t>Reports</a:t>
            </a:r>
          </a:p>
        </p:txBody>
      </p:sp>
      <p:sp>
        <p:nvSpPr>
          <p:cNvPr id="47" name="TextBox 46"/>
          <p:cNvSpPr txBox="1"/>
          <p:nvPr/>
        </p:nvSpPr>
        <p:spPr>
          <a:xfrm>
            <a:off x="3730752" y="8243317"/>
            <a:ext cx="480060" cy="346249"/>
          </a:xfrm>
          <a:prstGeom prst="rect">
            <a:avLst/>
          </a:prstGeom>
          <a:noFill/>
        </p:spPr>
        <p:txBody>
          <a:bodyPr wrap="square">
            <a:spAutoFit/>
          </a:bodyPr>
          <a:lstStyle/>
          <a:p>
            <a:pPr algn="ctr"/>
            <a:r>
              <a:rPr sz="1650" b="1">
                <a:solidFill>
                  <a:srgbClr val="7B56A5"/>
                </a:solidFill>
                <a:latin typeface="Aptos"/>
              </a:rPr>
              <a:t>→</a:t>
            </a:r>
          </a:p>
        </p:txBody>
      </p:sp>
      <p:sp>
        <p:nvSpPr>
          <p:cNvPr id="48" name="TextBox 47"/>
          <p:cNvSpPr txBox="1"/>
          <p:nvPr/>
        </p:nvSpPr>
        <p:spPr>
          <a:xfrm>
            <a:off x="6497696" y="8258034"/>
            <a:ext cx="480060" cy="346249"/>
          </a:xfrm>
          <a:prstGeom prst="rect">
            <a:avLst/>
          </a:prstGeom>
          <a:noFill/>
        </p:spPr>
        <p:txBody>
          <a:bodyPr wrap="square">
            <a:spAutoFit/>
          </a:bodyPr>
          <a:lstStyle/>
          <a:p>
            <a:pPr algn="ctr"/>
            <a:r>
              <a:rPr sz="1650" b="1">
                <a:solidFill>
                  <a:srgbClr val="7B56A5"/>
                </a:solidFill>
                <a:latin typeface="Aptos"/>
              </a:rPr>
              <a:t>→</a:t>
            </a:r>
          </a:p>
        </p:txBody>
      </p:sp>
      <p:sp>
        <p:nvSpPr>
          <p:cNvPr id="49" name="TextBox 48"/>
          <p:cNvSpPr txBox="1"/>
          <p:nvPr/>
        </p:nvSpPr>
        <p:spPr>
          <a:xfrm>
            <a:off x="9368028" y="8243317"/>
            <a:ext cx="480060" cy="346249"/>
          </a:xfrm>
          <a:prstGeom prst="rect">
            <a:avLst/>
          </a:prstGeom>
          <a:noFill/>
        </p:spPr>
        <p:txBody>
          <a:bodyPr wrap="square">
            <a:spAutoFit/>
          </a:bodyPr>
          <a:lstStyle/>
          <a:p>
            <a:pPr algn="ctr"/>
            <a:r>
              <a:rPr sz="1650" b="1">
                <a:solidFill>
                  <a:srgbClr val="7B56A5"/>
                </a:solidFill>
                <a:latin typeface="Aptos"/>
              </a:rPr>
              <a:t>→</a:t>
            </a:r>
          </a:p>
        </p:txBody>
      </p:sp>
      <p:sp>
        <p:nvSpPr>
          <p:cNvPr id="50" name="TextBox 49"/>
          <p:cNvSpPr txBox="1"/>
          <p:nvPr/>
        </p:nvSpPr>
        <p:spPr>
          <a:xfrm>
            <a:off x="12097512" y="8243317"/>
            <a:ext cx="480060" cy="346249"/>
          </a:xfrm>
          <a:prstGeom prst="rect">
            <a:avLst/>
          </a:prstGeom>
          <a:noFill/>
        </p:spPr>
        <p:txBody>
          <a:bodyPr wrap="square">
            <a:spAutoFit/>
          </a:bodyPr>
          <a:lstStyle/>
          <a:p>
            <a:pPr algn="ctr"/>
            <a:r>
              <a:rPr sz="1650" b="1">
                <a:solidFill>
                  <a:srgbClr val="7B56A5"/>
                </a:solidFill>
                <a:latin typeface="Aptos"/>
              </a:rPr>
              <a:t>→</a:t>
            </a:r>
          </a:p>
        </p:txBody>
      </p:sp>
      <p:sp>
        <p:nvSpPr>
          <p:cNvPr id="51" name="TextBox 50"/>
          <p:cNvSpPr txBox="1"/>
          <p:nvPr/>
        </p:nvSpPr>
        <p:spPr>
          <a:xfrm>
            <a:off x="1028700" y="8942833"/>
            <a:ext cx="16253460" cy="304571"/>
          </a:xfrm>
          <a:prstGeom prst="rect">
            <a:avLst/>
          </a:prstGeom>
          <a:noFill/>
        </p:spPr>
        <p:txBody>
          <a:bodyPr wrap="square">
            <a:spAutoFit/>
          </a:bodyPr>
          <a:lstStyle/>
          <a:p>
            <a:pPr algn="ctr"/>
            <a:r>
              <a:rPr sz="1379" b="1">
                <a:solidFill>
                  <a:srgbClr val="2A2867"/>
                </a:solidFill>
                <a:latin typeface="Aptos"/>
              </a:rPr>
              <a:t>Video → Pose &amp; Biomechanics → XGBoost ML Risk Model → Recommendations → Reports</a:t>
            </a:r>
          </a:p>
        </p:txBody>
      </p:sp>
      <p:cxnSp>
        <p:nvCxnSpPr>
          <p:cNvPr id="61" name="Straight Connector 60">
            <a:extLst>
              <a:ext uri="{FF2B5EF4-FFF2-40B4-BE49-F238E27FC236}">
                <a16:creationId xmlns:a16="http://schemas.microsoft.com/office/drawing/2014/main" id="{7FACD974-89AD-0DD9-12A7-361AD5AF6E69}"/>
              </a:ext>
            </a:extLst>
          </p:cNvPr>
          <p:cNvCxnSpPr>
            <a:cxnSpLocks/>
          </p:cNvCxnSpPr>
          <p:nvPr/>
        </p:nvCxnSpPr>
        <p:spPr>
          <a:xfrm>
            <a:off x="3970782" y="5143500"/>
            <a:ext cx="12640818" cy="17064"/>
          </a:xfrm>
          <a:prstGeom prst="line">
            <a:avLst/>
          </a:prstGeom>
          <a:ln/>
        </p:spPr>
        <p:style>
          <a:lnRef idx="2">
            <a:schemeClr val="dk1"/>
          </a:lnRef>
          <a:fillRef idx="0">
            <a:schemeClr val="dk1"/>
          </a:fillRef>
          <a:effectRef idx="1">
            <a:schemeClr val="dk1"/>
          </a:effectRef>
          <a:fontRef idx="minor">
            <a:schemeClr val="tx1"/>
          </a:fontRef>
        </p:style>
      </p:cxnSp>
      <p:cxnSp>
        <p:nvCxnSpPr>
          <p:cNvPr id="75" name="Straight Arrow Connector 74">
            <a:extLst>
              <a:ext uri="{FF2B5EF4-FFF2-40B4-BE49-F238E27FC236}">
                <a16:creationId xmlns:a16="http://schemas.microsoft.com/office/drawing/2014/main" id="{5E7A9808-60EC-7C1D-1CC5-9D287A713219}"/>
              </a:ext>
            </a:extLst>
          </p:cNvPr>
          <p:cNvCxnSpPr>
            <a:cxnSpLocks/>
          </p:cNvCxnSpPr>
          <p:nvPr/>
        </p:nvCxnSpPr>
        <p:spPr>
          <a:xfrm>
            <a:off x="3970782" y="6350507"/>
            <a:ext cx="65151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8" name="Straight Connector 77">
            <a:extLst>
              <a:ext uri="{FF2B5EF4-FFF2-40B4-BE49-F238E27FC236}">
                <a16:creationId xmlns:a16="http://schemas.microsoft.com/office/drawing/2014/main" id="{9FAD78CC-D031-5EE0-824E-524A7EED6EE6}"/>
              </a:ext>
            </a:extLst>
          </p:cNvPr>
          <p:cNvCxnSpPr>
            <a:cxnSpLocks/>
          </p:cNvCxnSpPr>
          <p:nvPr/>
        </p:nvCxnSpPr>
        <p:spPr>
          <a:xfrm flipH="1">
            <a:off x="3966210" y="5143500"/>
            <a:ext cx="4572" cy="1207007"/>
          </a:xfrm>
          <a:prstGeom prst="line">
            <a:avLst/>
          </a:prstGeom>
          <a:ln/>
        </p:spPr>
        <p:style>
          <a:lnRef idx="2">
            <a:schemeClr val="dk1"/>
          </a:lnRef>
          <a:fillRef idx="0">
            <a:schemeClr val="dk1"/>
          </a:fillRef>
          <a:effectRef idx="1">
            <a:schemeClr val="dk1"/>
          </a:effectRef>
          <a:fontRef idx="minor">
            <a:schemeClr val="tx1"/>
          </a:fontRef>
        </p:style>
      </p:cxnSp>
      <p:cxnSp>
        <p:nvCxnSpPr>
          <p:cNvPr id="81" name="Straight Connector 80">
            <a:extLst>
              <a:ext uri="{FF2B5EF4-FFF2-40B4-BE49-F238E27FC236}">
                <a16:creationId xmlns:a16="http://schemas.microsoft.com/office/drawing/2014/main" id="{6FF40566-1C5D-350B-1443-4D7E639F69D1}"/>
              </a:ext>
            </a:extLst>
          </p:cNvPr>
          <p:cNvCxnSpPr>
            <a:cxnSpLocks/>
          </p:cNvCxnSpPr>
          <p:nvPr/>
        </p:nvCxnSpPr>
        <p:spPr>
          <a:xfrm flipV="1">
            <a:off x="16611600" y="3675888"/>
            <a:ext cx="0" cy="1484676"/>
          </a:xfrm>
          <a:prstGeom prst="line">
            <a:avLst/>
          </a:prstGeom>
          <a:ln/>
        </p:spPr>
        <p:style>
          <a:lnRef idx="2">
            <a:schemeClr val="dk1"/>
          </a:lnRef>
          <a:fillRef idx="0">
            <a:schemeClr val="dk1"/>
          </a:fillRef>
          <a:effectRef idx="1">
            <a:schemeClr val="dk1"/>
          </a:effectRef>
          <a:fontRef idx="minor">
            <a:schemeClr val="tx1"/>
          </a:fontRef>
        </p:style>
      </p:cxnSp>
      <p:cxnSp>
        <p:nvCxnSpPr>
          <p:cNvPr id="84" name="Straight Connector 83">
            <a:extLst>
              <a:ext uri="{FF2B5EF4-FFF2-40B4-BE49-F238E27FC236}">
                <a16:creationId xmlns:a16="http://schemas.microsoft.com/office/drawing/2014/main" id="{06B87BEB-65C2-C6BC-2B64-38E4DDCD8C7B}"/>
              </a:ext>
            </a:extLst>
          </p:cNvPr>
          <p:cNvCxnSpPr>
            <a:cxnSpLocks/>
            <a:endCxn id="17" idx="3"/>
          </p:cNvCxnSpPr>
          <p:nvPr/>
        </p:nvCxnSpPr>
        <p:spPr>
          <a:xfrm flipH="1">
            <a:off x="16184880" y="3675888"/>
            <a:ext cx="426720" cy="0"/>
          </a:xfrm>
          <a:prstGeom prst="line">
            <a:avLst/>
          </a:prstGeom>
          <a:ln/>
        </p:spPr>
        <p:style>
          <a:lnRef idx="2">
            <a:schemeClr val="dk1"/>
          </a:lnRef>
          <a:fillRef idx="0">
            <a:schemeClr val="dk1"/>
          </a:fillRef>
          <a:effectRef idx="1">
            <a:schemeClr val="dk1"/>
          </a:effectRef>
          <a:fontRef idx="minor">
            <a:schemeClr val="tx1"/>
          </a:fontRef>
        </p:style>
      </p:cxnSp>
      <p:sp>
        <p:nvSpPr>
          <p:cNvPr id="86" name="Notched Right Arrow 85">
            <a:extLst>
              <a:ext uri="{FF2B5EF4-FFF2-40B4-BE49-F238E27FC236}">
                <a16:creationId xmlns:a16="http://schemas.microsoft.com/office/drawing/2014/main" id="{F1BD5970-7DA5-D68F-B0B1-A17F9EA57FC8}"/>
              </a:ext>
            </a:extLst>
          </p:cNvPr>
          <p:cNvSpPr/>
          <p:nvPr/>
        </p:nvSpPr>
        <p:spPr>
          <a:xfrm flipH="1">
            <a:off x="7077318" y="5081082"/>
            <a:ext cx="249312" cy="146256"/>
          </a:xfrm>
          <a:prstGeom prst="notched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7" name="Notched Right Arrow 86">
            <a:extLst>
              <a:ext uri="{FF2B5EF4-FFF2-40B4-BE49-F238E27FC236}">
                <a16:creationId xmlns:a16="http://schemas.microsoft.com/office/drawing/2014/main" id="{41C3A9C5-0DD3-7B4D-2FB0-1F42B9740A84}"/>
              </a:ext>
            </a:extLst>
          </p:cNvPr>
          <p:cNvSpPr/>
          <p:nvPr/>
        </p:nvSpPr>
        <p:spPr>
          <a:xfrm flipH="1">
            <a:off x="11107535" y="5081082"/>
            <a:ext cx="249312" cy="146256"/>
          </a:xfrm>
          <a:prstGeom prst="notched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039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8F5"/>
        </a:solidFill>
        <a:effectLst/>
      </p:bgPr>
    </p:bg>
    <p:spTree>
      <p:nvGrpSpPr>
        <p:cNvPr id="1" name=""/>
        <p:cNvGrpSpPr/>
        <p:nvPr/>
      </p:nvGrpSpPr>
      <p:grpSpPr>
        <a:xfrm>
          <a:off x="0" y="0"/>
          <a:ext cx="0" cy="0"/>
          <a:chOff x="0" y="0"/>
          <a:chExt cx="0" cy="0"/>
        </a:xfrm>
      </p:grpSpPr>
      <p:sp>
        <p:nvSpPr>
          <p:cNvPr id="3" name="TextBox 2"/>
          <p:cNvSpPr txBox="1"/>
          <p:nvPr/>
        </p:nvSpPr>
        <p:spPr>
          <a:xfrm>
            <a:off x="617220" y="781811"/>
            <a:ext cx="6172200" cy="669414"/>
          </a:xfrm>
          <a:prstGeom prst="rect">
            <a:avLst/>
          </a:prstGeom>
          <a:noFill/>
        </p:spPr>
        <p:txBody>
          <a:bodyPr wrap="square">
            <a:spAutoFit/>
          </a:bodyPr>
          <a:lstStyle/>
          <a:p>
            <a:pPr algn="l"/>
            <a:r>
              <a:rPr sz="3750" b="1">
                <a:solidFill>
                  <a:srgbClr val="2A2867"/>
                </a:solidFill>
                <a:latin typeface="Aptos"/>
              </a:rPr>
              <a:t>Backend &amp; API</a:t>
            </a:r>
          </a:p>
        </p:txBody>
      </p:sp>
      <p:sp>
        <p:nvSpPr>
          <p:cNvPr id="4" name="TextBox 3"/>
          <p:cNvSpPr txBox="1"/>
          <p:nvPr/>
        </p:nvSpPr>
        <p:spPr>
          <a:xfrm>
            <a:off x="617220" y="1412748"/>
            <a:ext cx="10287000" cy="346249"/>
          </a:xfrm>
          <a:prstGeom prst="rect">
            <a:avLst/>
          </a:prstGeom>
          <a:noFill/>
        </p:spPr>
        <p:txBody>
          <a:bodyPr wrap="square">
            <a:spAutoFit/>
          </a:bodyPr>
          <a:lstStyle/>
          <a:p>
            <a:pPr algn="l"/>
            <a:r>
              <a:rPr sz="1650">
                <a:solidFill>
                  <a:srgbClr val="69657C"/>
                </a:solidFill>
                <a:latin typeface="Aptos"/>
              </a:rPr>
              <a:t>FastAPI-based backend for authentication, video processing and risk analysis</a:t>
            </a:r>
          </a:p>
        </p:txBody>
      </p:sp>
      <p:sp>
        <p:nvSpPr>
          <p:cNvPr id="5" name="TextBox 4"/>
          <p:cNvSpPr txBox="1"/>
          <p:nvPr/>
        </p:nvSpPr>
        <p:spPr>
          <a:xfrm>
            <a:off x="754380" y="2125981"/>
            <a:ext cx="3291840" cy="346249"/>
          </a:xfrm>
          <a:prstGeom prst="rect">
            <a:avLst/>
          </a:prstGeom>
          <a:noFill/>
        </p:spPr>
        <p:txBody>
          <a:bodyPr wrap="square">
            <a:spAutoFit/>
          </a:bodyPr>
          <a:lstStyle/>
          <a:p>
            <a:pPr algn="l"/>
            <a:r>
              <a:rPr sz="1650" b="1">
                <a:solidFill>
                  <a:srgbClr val="7B56A5"/>
                </a:solidFill>
                <a:latin typeface="Aptos"/>
              </a:rPr>
              <a:t>BACKEND STACK</a:t>
            </a:r>
          </a:p>
        </p:txBody>
      </p:sp>
      <p:sp>
        <p:nvSpPr>
          <p:cNvPr id="6" name="Rounded Rectangle 5"/>
          <p:cNvSpPr/>
          <p:nvPr/>
        </p:nvSpPr>
        <p:spPr>
          <a:xfrm>
            <a:off x="754380" y="2606040"/>
            <a:ext cx="4869180" cy="987552"/>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 name="TextBox 6"/>
          <p:cNvSpPr txBox="1"/>
          <p:nvPr/>
        </p:nvSpPr>
        <p:spPr>
          <a:xfrm>
            <a:off x="1028700" y="2770633"/>
            <a:ext cx="1783080" cy="334707"/>
          </a:xfrm>
          <a:prstGeom prst="rect">
            <a:avLst/>
          </a:prstGeom>
          <a:noFill/>
        </p:spPr>
        <p:txBody>
          <a:bodyPr wrap="square">
            <a:spAutoFit/>
          </a:bodyPr>
          <a:lstStyle/>
          <a:p>
            <a:pPr algn="l"/>
            <a:r>
              <a:rPr sz="1575" b="1">
                <a:solidFill>
                  <a:srgbClr val="2A2867"/>
                </a:solidFill>
                <a:latin typeface="Aptos"/>
              </a:rPr>
              <a:t>FastAPI</a:t>
            </a:r>
          </a:p>
        </p:txBody>
      </p:sp>
      <p:sp>
        <p:nvSpPr>
          <p:cNvPr id="8" name="TextBox 7"/>
          <p:cNvSpPr txBox="1"/>
          <p:nvPr/>
        </p:nvSpPr>
        <p:spPr>
          <a:xfrm>
            <a:off x="2743200" y="2770632"/>
            <a:ext cx="2537460" cy="272382"/>
          </a:xfrm>
          <a:prstGeom prst="rect">
            <a:avLst/>
          </a:prstGeom>
          <a:noFill/>
        </p:spPr>
        <p:txBody>
          <a:bodyPr wrap="square">
            <a:spAutoFit/>
          </a:bodyPr>
          <a:lstStyle/>
          <a:p>
            <a:pPr algn="l"/>
            <a:r>
              <a:rPr sz="1170">
                <a:solidFill>
                  <a:srgbClr val="69657C"/>
                </a:solidFill>
                <a:latin typeface="Aptos"/>
              </a:rPr>
              <a:t>REST API framework</a:t>
            </a:r>
          </a:p>
        </p:txBody>
      </p:sp>
      <p:sp>
        <p:nvSpPr>
          <p:cNvPr id="9" name="Rounded Rectangle 8"/>
          <p:cNvSpPr/>
          <p:nvPr/>
        </p:nvSpPr>
        <p:spPr>
          <a:xfrm>
            <a:off x="754380" y="3730752"/>
            <a:ext cx="4869180" cy="987552"/>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1028700" y="3895345"/>
            <a:ext cx="1783080" cy="334707"/>
          </a:xfrm>
          <a:prstGeom prst="rect">
            <a:avLst/>
          </a:prstGeom>
          <a:noFill/>
        </p:spPr>
        <p:txBody>
          <a:bodyPr wrap="square">
            <a:spAutoFit/>
          </a:bodyPr>
          <a:lstStyle/>
          <a:p>
            <a:pPr algn="l"/>
            <a:r>
              <a:rPr sz="1575" b="1">
                <a:solidFill>
                  <a:srgbClr val="2A2867"/>
                </a:solidFill>
                <a:latin typeface="Aptos"/>
              </a:rPr>
              <a:t>PostgreSQL</a:t>
            </a:r>
          </a:p>
        </p:txBody>
      </p:sp>
      <p:sp>
        <p:nvSpPr>
          <p:cNvPr id="11" name="TextBox 10"/>
          <p:cNvSpPr txBox="1"/>
          <p:nvPr/>
        </p:nvSpPr>
        <p:spPr>
          <a:xfrm>
            <a:off x="2743200" y="3895345"/>
            <a:ext cx="2537460" cy="452432"/>
          </a:xfrm>
          <a:prstGeom prst="rect">
            <a:avLst/>
          </a:prstGeom>
          <a:noFill/>
        </p:spPr>
        <p:txBody>
          <a:bodyPr wrap="square">
            <a:spAutoFit/>
          </a:bodyPr>
          <a:lstStyle/>
          <a:p>
            <a:pPr algn="l"/>
            <a:r>
              <a:rPr sz="1170">
                <a:solidFill>
                  <a:srgbClr val="69657C"/>
                </a:solidFill>
                <a:latin typeface="Aptos"/>
              </a:rPr>
              <a:t>Stores users, athlete profiles, videos and analysis results</a:t>
            </a:r>
          </a:p>
        </p:txBody>
      </p:sp>
      <p:sp>
        <p:nvSpPr>
          <p:cNvPr id="12" name="Rounded Rectangle 11"/>
          <p:cNvSpPr/>
          <p:nvPr/>
        </p:nvSpPr>
        <p:spPr>
          <a:xfrm>
            <a:off x="754380" y="4855463"/>
            <a:ext cx="4869180" cy="987552"/>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TextBox 12"/>
          <p:cNvSpPr txBox="1"/>
          <p:nvPr/>
        </p:nvSpPr>
        <p:spPr>
          <a:xfrm>
            <a:off x="1028700" y="5020055"/>
            <a:ext cx="1783080" cy="334707"/>
          </a:xfrm>
          <a:prstGeom prst="rect">
            <a:avLst/>
          </a:prstGeom>
          <a:noFill/>
        </p:spPr>
        <p:txBody>
          <a:bodyPr wrap="square">
            <a:spAutoFit/>
          </a:bodyPr>
          <a:lstStyle/>
          <a:p>
            <a:pPr algn="l"/>
            <a:r>
              <a:rPr sz="1575" b="1">
                <a:solidFill>
                  <a:srgbClr val="2A2867"/>
                </a:solidFill>
                <a:latin typeface="Aptos"/>
              </a:rPr>
              <a:t>Authentication</a:t>
            </a:r>
          </a:p>
        </p:txBody>
      </p:sp>
      <p:sp>
        <p:nvSpPr>
          <p:cNvPr id="14" name="TextBox 13"/>
          <p:cNvSpPr txBox="1"/>
          <p:nvPr/>
        </p:nvSpPr>
        <p:spPr>
          <a:xfrm>
            <a:off x="2743200" y="5020055"/>
            <a:ext cx="2537460" cy="452432"/>
          </a:xfrm>
          <a:prstGeom prst="rect">
            <a:avLst/>
          </a:prstGeom>
          <a:noFill/>
        </p:spPr>
        <p:txBody>
          <a:bodyPr wrap="square">
            <a:spAutoFit/>
          </a:bodyPr>
          <a:lstStyle/>
          <a:p>
            <a:pPr algn="l"/>
            <a:r>
              <a:rPr sz="1170">
                <a:solidFill>
                  <a:srgbClr val="69657C"/>
                </a:solidFill>
                <a:latin typeface="Aptos"/>
              </a:rPr>
              <a:t>Registration, login &amp; Role-Based Access Control (RBAC)</a:t>
            </a:r>
          </a:p>
        </p:txBody>
      </p:sp>
      <p:sp>
        <p:nvSpPr>
          <p:cNvPr id="15" name="Rounded Rectangle 14"/>
          <p:cNvSpPr/>
          <p:nvPr/>
        </p:nvSpPr>
        <p:spPr>
          <a:xfrm>
            <a:off x="754380" y="5980175"/>
            <a:ext cx="4869180" cy="987552"/>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TextBox 15"/>
          <p:cNvSpPr txBox="1"/>
          <p:nvPr/>
        </p:nvSpPr>
        <p:spPr>
          <a:xfrm>
            <a:off x="1028700" y="6144767"/>
            <a:ext cx="1783080" cy="334707"/>
          </a:xfrm>
          <a:prstGeom prst="rect">
            <a:avLst/>
          </a:prstGeom>
          <a:noFill/>
        </p:spPr>
        <p:txBody>
          <a:bodyPr wrap="square">
            <a:spAutoFit/>
          </a:bodyPr>
          <a:lstStyle/>
          <a:p>
            <a:pPr algn="l"/>
            <a:r>
              <a:rPr sz="1575" b="1">
                <a:solidFill>
                  <a:srgbClr val="2A2867"/>
                </a:solidFill>
                <a:latin typeface="Aptos"/>
              </a:rPr>
              <a:t>Async Processing</a:t>
            </a:r>
          </a:p>
        </p:txBody>
      </p:sp>
      <p:sp>
        <p:nvSpPr>
          <p:cNvPr id="17" name="TextBox 16"/>
          <p:cNvSpPr txBox="1"/>
          <p:nvPr/>
        </p:nvSpPr>
        <p:spPr>
          <a:xfrm>
            <a:off x="2743200" y="6144767"/>
            <a:ext cx="2537460" cy="452432"/>
          </a:xfrm>
          <a:prstGeom prst="rect">
            <a:avLst/>
          </a:prstGeom>
          <a:noFill/>
        </p:spPr>
        <p:txBody>
          <a:bodyPr wrap="square">
            <a:spAutoFit/>
          </a:bodyPr>
          <a:lstStyle/>
          <a:p>
            <a:pPr algn="l"/>
            <a:r>
              <a:rPr sz="1170">
                <a:solidFill>
                  <a:srgbClr val="69657C"/>
                </a:solidFill>
                <a:latin typeface="Aptos"/>
              </a:rPr>
              <a:t>Video analysis runs in the background</a:t>
            </a:r>
          </a:p>
        </p:txBody>
      </p:sp>
      <p:sp>
        <p:nvSpPr>
          <p:cNvPr id="18" name="Rounded Rectangle 17"/>
          <p:cNvSpPr/>
          <p:nvPr/>
        </p:nvSpPr>
        <p:spPr>
          <a:xfrm>
            <a:off x="754380" y="7104888"/>
            <a:ext cx="4869180" cy="987552"/>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9" name="TextBox 18"/>
          <p:cNvSpPr txBox="1"/>
          <p:nvPr/>
        </p:nvSpPr>
        <p:spPr>
          <a:xfrm>
            <a:off x="1028700" y="7269481"/>
            <a:ext cx="1783080" cy="334707"/>
          </a:xfrm>
          <a:prstGeom prst="rect">
            <a:avLst/>
          </a:prstGeom>
          <a:noFill/>
        </p:spPr>
        <p:txBody>
          <a:bodyPr wrap="square">
            <a:spAutoFit/>
          </a:bodyPr>
          <a:lstStyle/>
          <a:p>
            <a:pPr algn="l"/>
            <a:r>
              <a:rPr sz="1575" b="1">
                <a:solidFill>
                  <a:srgbClr val="2A2867"/>
                </a:solidFill>
                <a:latin typeface="Aptos"/>
              </a:rPr>
              <a:t>REST APIs</a:t>
            </a:r>
          </a:p>
        </p:txBody>
      </p:sp>
      <p:sp>
        <p:nvSpPr>
          <p:cNvPr id="20" name="TextBox 19"/>
          <p:cNvSpPr txBox="1"/>
          <p:nvPr/>
        </p:nvSpPr>
        <p:spPr>
          <a:xfrm>
            <a:off x="2743200" y="7269481"/>
            <a:ext cx="2537460" cy="452432"/>
          </a:xfrm>
          <a:prstGeom prst="rect">
            <a:avLst/>
          </a:prstGeom>
          <a:noFill/>
        </p:spPr>
        <p:txBody>
          <a:bodyPr wrap="square">
            <a:spAutoFit/>
          </a:bodyPr>
          <a:lstStyle/>
          <a:p>
            <a:pPr algn="l"/>
            <a:r>
              <a:rPr sz="1170">
                <a:solidFill>
                  <a:srgbClr val="69657C"/>
                </a:solidFill>
                <a:latin typeface="Aptos"/>
              </a:rPr>
              <a:t>Frontend communicates with backend through APIs</a:t>
            </a:r>
          </a:p>
        </p:txBody>
      </p:sp>
      <p:sp>
        <p:nvSpPr>
          <p:cNvPr id="21" name="TextBox 20"/>
          <p:cNvSpPr txBox="1"/>
          <p:nvPr/>
        </p:nvSpPr>
        <p:spPr>
          <a:xfrm>
            <a:off x="10475943" y="1610298"/>
            <a:ext cx="3840480" cy="346249"/>
          </a:xfrm>
          <a:prstGeom prst="rect">
            <a:avLst/>
          </a:prstGeom>
          <a:noFill/>
        </p:spPr>
        <p:txBody>
          <a:bodyPr wrap="square">
            <a:spAutoFit/>
          </a:bodyPr>
          <a:lstStyle/>
          <a:p>
            <a:pPr algn="l"/>
            <a:r>
              <a:rPr sz="1650" b="1">
                <a:solidFill>
                  <a:srgbClr val="7B56A5"/>
                </a:solidFill>
                <a:latin typeface="Aptos"/>
              </a:rPr>
              <a:t>SYSTEM ARCHITECTURE</a:t>
            </a:r>
          </a:p>
        </p:txBody>
      </p:sp>
      <p:sp>
        <p:nvSpPr>
          <p:cNvPr id="22" name="Rounded Rectangle 21"/>
          <p:cNvSpPr/>
          <p:nvPr/>
        </p:nvSpPr>
        <p:spPr>
          <a:xfrm>
            <a:off x="9669780" y="2441118"/>
            <a:ext cx="4320540" cy="960120"/>
          </a:xfrm>
          <a:prstGeom prst="roundRect">
            <a:avLst/>
          </a:prstGeom>
          <a:solidFill>
            <a:srgbClr val="F4EFF9"/>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3" name="TextBox 22"/>
          <p:cNvSpPr txBox="1"/>
          <p:nvPr/>
        </p:nvSpPr>
        <p:spPr>
          <a:xfrm>
            <a:off x="9944100" y="2674289"/>
            <a:ext cx="3771900" cy="392415"/>
          </a:xfrm>
          <a:prstGeom prst="rect">
            <a:avLst/>
          </a:prstGeom>
          <a:noFill/>
        </p:spPr>
        <p:txBody>
          <a:bodyPr wrap="square">
            <a:spAutoFit/>
          </a:bodyPr>
          <a:lstStyle/>
          <a:p>
            <a:pPr algn="ctr"/>
            <a:r>
              <a:rPr sz="1950" b="1">
                <a:solidFill>
                  <a:srgbClr val="2A2867"/>
                </a:solidFill>
                <a:latin typeface="Aptos"/>
              </a:rPr>
              <a:t>React + TypeScript</a:t>
            </a:r>
          </a:p>
        </p:txBody>
      </p:sp>
      <p:sp>
        <p:nvSpPr>
          <p:cNvPr id="24" name="TextBox 23"/>
          <p:cNvSpPr txBox="1"/>
          <p:nvPr/>
        </p:nvSpPr>
        <p:spPr>
          <a:xfrm>
            <a:off x="9944100" y="3003475"/>
            <a:ext cx="3771900" cy="281295"/>
          </a:xfrm>
          <a:prstGeom prst="rect">
            <a:avLst/>
          </a:prstGeom>
          <a:noFill/>
        </p:spPr>
        <p:txBody>
          <a:bodyPr wrap="square">
            <a:spAutoFit/>
          </a:bodyPr>
          <a:lstStyle/>
          <a:p>
            <a:pPr algn="ctr"/>
            <a:r>
              <a:rPr sz="1228">
                <a:solidFill>
                  <a:srgbClr val="69657C"/>
                </a:solidFill>
                <a:latin typeface="Aptos"/>
              </a:rPr>
              <a:t>Frontend</a:t>
            </a:r>
          </a:p>
        </p:txBody>
      </p:sp>
      <p:sp>
        <p:nvSpPr>
          <p:cNvPr id="25" name="TextBox 24"/>
          <p:cNvSpPr txBox="1"/>
          <p:nvPr/>
        </p:nvSpPr>
        <p:spPr>
          <a:xfrm>
            <a:off x="11610594" y="3343650"/>
            <a:ext cx="617220" cy="507831"/>
          </a:xfrm>
          <a:prstGeom prst="rect">
            <a:avLst/>
          </a:prstGeom>
          <a:noFill/>
        </p:spPr>
        <p:txBody>
          <a:bodyPr wrap="square">
            <a:spAutoFit/>
          </a:bodyPr>
          <a:lstStyle/>
          <a:p>
            <a:pPr algn="ctr"/>
            <a:r>
              <a:rPr sz="2700" b="1">
                <a:solidFill>
                  <a:srgbClr val="2A2867"/>
                </a:solidFill>
                <a:latin typeface="Aptos"/>
              </a:rPr>
              <a:t>↓</a:t>
            </a:r>
          </a:p>
        </p:txBody>
      </p:sp>
      <p:sp>
        <p:nvSpPr>
          <p:cNvPr id="26" name="Rounded Rectangle 25"/>
          <p:cNvSpPr/>
          <p:nvPr/>
        </p:nvSpPr>
        <p:spPr>
          <a:xfrm>
            <a:off x="9669780" y="3730752"/>
            <a:ext cx="4320540" cy="1069848"/>
          </a:xfrm>
          <a:prstGeom prst="roundRect">
            <a:avLst/>
          </a:prstGeom>
          <a:solidFill>
            <a:srgbClr val="F4EFF9"/>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7" name="TextBox 26"/>
          <p:cNvSpPr txBox="1"/>
          <p:nvPr/>
        </p:nvSpPr>
        <p:spPr>
          <a:xfrm>
            <a:off x="9944100" y="3977640"/>
            <a:ext cx="3771900" cy="415498"/>
          </a:xfrm>
          <a:prstGeom prst="rect">
            <a:avLst/>
          </a:prstGeom>
          <a:noFill/>
        </p:spPr>
        <p:txBody>
          <a:bodyPr wrap="square">
            <a:spAutoFit/>
          </a:bodyPr>
          <a:lstStyle/>
          <a:p>
            <a:pPr algn="ctr"/>
            <a:r>
              <a:rPr sz="2100" b="1">
                <a:solidFill>
                  <a:srgbClr val="2A2867"/>
                </a:solidFill>
                <a:latin typeface="Aptos"/>
              </a:rPr>
              <a:t>FastAPI</a:t>
            </a:r>
          </a:p>
        </p:txBody>
      </p:sp>
      <p:sp>
        <p:nvSpPr>
          <p:cNvPr id="28" name="TextBox 27"/>
          <p:cNvSpPr txBox="1"/>
          <p:nvPr/>
        </p:nvSpPr>
        <p:spPr>
          <a:xfrm>
            <a:off x="9944100" y="4347973"/>
            <a:ext cx="3771900" cy="281295"/>
          </a:xfrm>
          <a:prstGeom prst="rect">
            <a:avLst/>
          </a:prstGeom>
          <a:noFill/>
        </p:spPr>
        <p:txBody>
          <a:bodyPr wrap="square">
            <a:spAutoFit/>
          </a:bodyPr>
          <a:lstStyle/>
          <a:p>
            <a:pPr algn="ctr"/>
            <a:r>
              <a:rPr sz="1228">
                <a:solidFill>
                  <a:srgbClr val="69657C"/>
                </a:solidFill>
                <a:latin typeface="Aptos"/>
              </a:rPr>
              <a:t>Backend API layer</a:t>
            </a:r>
          </a:p>
        </p:txBody>
      </p:sp>
      <p:sp>
        <p:nvSpPr>
          <p:cNvPr id="29" name="Rounded Rectangle 28"/>
          <p:cNvSpPr/>
          <p:nvPr/>
        </p:nvSpPr>
        <p:spPr>
          <a:xfrm>
            <a:off x="8702802" y="5140954"/>
            <a:ext cx="1961388" cy="1179576"/>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TextBox 29"/>
          <p:cNvSpPr txBox="1"/>
          <p:nvPr/>
        </p:nvSpPr>
        <p:spPr>
          <a:xfrm>
            <a:off x="8812530" y="5387842"/>
            <a:ext cx="1741932" cy="311624"/>
          </a:xfrm>
          <a:prstGeom prst="rect">
            <a:avLst/>
          </a:prstGeom>
          <a:noFill/>
        </p:spPr>
        <p:txBody>
          <a:bodyPr wrap="square">
            <a:spAutoFit/>
          </a:bodyPr>
          <a:lstStyle/>
          <a:p>
            <a:pPr algn="ctr"/>
            <a:r>
              <a:rPr sz="1425" b="1">
                <a:solidFill>
                  <a:srgbClr val="2A2867"/>
                </a:solidFill>
                <a:latin typeface="Aptos"/>
              </a:rPr>
              <a:t>Auth</a:t>
            </a:r>
          </a:p>
        </p:txBody>
      </p:sp>
      <p:sp>
        <p:nvSpPr>
          <p:cNvPr id="31" name="TextBox 30"/>
          <p:cNvSpPr txBox="1"/>
          <p:nvPr/>
        </p:nvSpPr>
        <p:spPr>
          <a:xfrm>
            <a:off x="8812530" y="5758175"/>
            <a:ext cx="1741932" cy="263149"/>
          </a:xfrm>
          <a:prstGeom prst="rect">
            <a:avLst/>
          </a:prstGeom>
          <a:noFill/>
        </p:spPr>
        <p:txBody>
          <a:bodyPr wrap="square">
            <a:spAutoFit/>
          </a:bodyPr>
          <a:lstStyle/>
          <a:p>
            <a:pPr algn="ctr"/>
            <a:r>
              <a:rPr sz="1110">
                <a:solidFill>
                  <a:srgbClr val="69657C"/>
                </a:solidFill>
                <a:latin typeface="Aptos"/>
              </a:rPr>
              <a:t>Register / Login</a:t>
            </a:r>
          </a:p>
        </p:txBody>
      </p:sp>
      <p:sp>
        <p:nvSpPr>
          <p:cNvPr id="32" name="Rounded Rectangle 31"/>
          <p:cNvSpPr/>
          <p:nvPr/>
        </p:nvSpPr>
        <p:spPr>
          <a:xfrm>
            <a:off x="10938510" y="5140954"/>
            <a:ext cx="1961388" cy="1179576"/>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TextBox 32"/>
          <p:cNvSpPr txBox="1"/>
          <p:nvPr/>
        </p:nvSpPr>
        <p:spPr>
          <a:xfrm>
            <a:off x="11048238" y="5387843"/>
            <a:ext cx="1741932" cy="311624"/>
          </a:xfrm>
          <a:prstGeom prst="rect">
            <a:avLst/>
          </a:prstGeom>
          <a:noFill/>
        </p:spPr>
        <p:txBody>
          <a:bodyPr wrap="square">
            <a:spAutoFit/>
          </a:bodyPr>
          <a:lstStyle/>
          <a:p>
            <a:pPr algn="ctr"/>
            <a:r>
              <a:rPr sz="1425" b="1">
                <a:solidFill>
                  <a:srgbClr val="2A2867"/>
                </a:solidFill>
                <a:latin typeface="Aptos"/>
              </a:rPr>
              <a:t>Video Upload</a:t>
            </a:r>
          </a:p>
        </p:txBody>
      </p:sp>
      <p:sp>
        <p:nvSpPr>
          <p:cNvPr id="34" name="TextBox 33"/>
          <p:cNvSpPr txBox="1"/>
          <p:nvPr/>
        </p:nvSpPr>
        <p:spPr>
          <a:xfrm>
            <a:off x="11048238" y="5758175"/>
            <a:ext cx="1741932" cy="263149"/>
          </a:xfrm>
          <a:prstGeom prst="rect">
            <a:avLst/>
          </a:prstGeom>
          <a:noFill/>
        </p:spPr>
        <p:txBody>
          <a:bodyPr wrap="square">
            <a:spAutoFit/>
          </a:bodyPr>
          <a:lstStyle/>
          <a:p>
            <a:pPr algn="ctr"/>
            <a:r>
              <a:rPr sz="1110">
                <a:solidFill>
                  <a:srgbClr val="69657C"/>
                </a:solidFill>
                <a:latin typeface="Aptos"/>
              </a:rPr>
              <a:t>Async processing</a:t>
            </a:r>
          </a:p>
        </p:txBody>
      </p:sp>
      <p:sp>
        <p:nvSpPr>
          <p:cNvPr id="35" name="Rounded Rectangle 34"/>
          <p:cNvSpPr/>
          <p:nvPr/>
        </p:nvSpPr>
        <p:spPr>
          <a:xfrm>
            <a:off x="13174218" y="5140954"/>
            <a:ext cx="1961388" cy="1179576"/>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6" name="TextBox 35"/>
          <p:cNvSpPr txBox="1"/>
          <p:nvPr/>
        </p:nvSpPr>
        <p:spPr>
          <a:xfrm>
            <a:off x="13283946" y="5387842"/>
            <a:ext cx="1741932" cy="311624"/>
          </a:xfrm>
          <a:prstGeom prst="rect">
            <a:avLst/>
          </a:prstGeom>
          <a:noFill/>
        </p:spPr>
        <p:txBody>
          <a:bodyPr wrap="square">
            <a:spAutoFit/>
          </a:bodyPr>
          <a:lstStyle/>
          <a:p>
            <a:pPr algn="ctr"/>
            <a:r>
              <a:rPr sz="1425" b="1">
                <a:solidFill>
                  <a:srgbClr val="2A2867"/>
                </a:solidFill>
                <a:latin typeface="Aptos"/>
              </a:rPr>
              <a:t>Risk APIs</a:t>
            </a:r>
          </a:p>
        </p:txBody>
      </p:sp>
      <p:sp>
        <p:nvSpPr>
          <p:cNvPr id="37" name="TextBox 36"/>
          <p:cNvSpPr txBox="1"/>
          <p:nvPr/>
        </p:nvSpPr>
        <p:spPr>
          <a:xfrm>
            <a:off x="13283946" y="5758175"/>
            <a:ext cx="1741932" cy="263149"/>
          </a:xfrm>
          <a:prstGeom prst="rect">
            <a:avLst/>
          </a:prstGeom>
          <a:noFill/>
        </p:spPr>
        <p:txBody>
          <a:bodyPr wrap="square">
            <a:spAutoFit/>
          </a:bodyPr>
          <a:lstStyle/>
          <a:p>
            <a:pPr algn="ctr"/>
            <a:r>
              <a:rPr sz="1110">
                <a:solidFill>
                  <a:srgbClr val="69657C"/>
                </a:solidFill>
                <a:latin typeface="Aptos"/>
              </a:rPr>
              <a:t>Assessment &amp; history</a:t>
            </a:r>
          </a:p>
        </p:txBody>
      </p:sp>
      <p:sp>
        <p:nvSpPr>
          <p:cNvPr id="38" name="TextBox 37"/>
          <p:cNvSpPr txBox="1"/>
          <p:nvPr/>
        </p:nvSpPr>
        <p:spPr>
          <a:xfrm>
            <a:off x="11267694" y="4855463"/>
            <a:ext cx="1303020" cy="438582"/>
          </a:xfrm>
          <a:prstGeom prst="rect">
            <a:avLst/>
          </a:prstGeom>
          <a:noFill/>
        </p:spPr>
        <p:txBody>
          <a:bodyPr wrap="square">
            <a:spAutoFit/>
          </a:bodyPr>
          <a:lstStyle/>
          <a:p>
            <a:pPr algn="ctr"/>
            <a:r>
              <a:rPr sz="2250" b="1">
                <a:solidFill>
                  <a:srgbClr val="2A2867"/>
                </a:solidFill>
                <a:latin typeface="Aptos"/>
              </a:rPr>
              <a:t>↓</a:t>
            </a:r>
          </a:p>
        </p:txBody>
      </p:sp>
      <p:sp>
        <p:nvSpPr>
          <p:cNvPr id="39" name="TextBox 38"/>
          <p:cNvSpPr txBox="1"/>
          <p:nvPr/>
        </p:nvSpPr>
        <p:spPr>
          <a:xfrm>
            <a:off x="10022967" y="6381104"/>
            <a:ext cx="342900" cy="369332"/>
          </a:xfrm>
          <a:prstGeom prst="rect">
            <a:avLst/>
          </a:prstGeom>
          <a:noFill/>
        </p:spPr>
        <p:txBody>
          <a:bodyPr wrap="square">
            <a:spAutoFit/>
          </a:bodyPr>
          <a:lstStyle/>
          <a:p>
            <a:pPr algn="ctr"/>
            <a:r>
              <a:rPr b="1">
                <a:solidFill>
                  <a:srgbClr val="2A2867"/>
                </a:solidFill>
                <a:latin typeface="Aptos"/>
              </a:rPr>
              <a:t>↘</a:t>
            </a:r>
          </a:p>
        </p:txBody>
      </p:sp>
      <p:sp>
        <p:nvSpPr>
          <p:cNvPr id="40" name="TextBox 39"/>
          <p:cNvSpPr txBox="1"/>
          <p:nvPr/>
        </p:nvSpPr>
        <p:spPr>
          <a:xfrm>
            <a:off x="11747754" y="6381104"/>
            <a:ext cx="342900" cy="369332"/>
          </a:xfrm>
          <a:prstGeom prst="rect">
            <a:avLst/>
          </a:prstGeom>
          <a:noFill/>
        </p:spPr>
        <p:txBody>
          <a:bodyPr wrap="square">
            <a:spAutoFit/>
          </a:bodyPr>
          <a:lstStyle/>
          <a:p>
            <a:pPr algn="ctr"/>
            <a:r>
              <a:rPr b="1">
                <a:solidFill>
                  <a:srgbClr val="2A2867"/>
                </a:solidFill>
                <a:latin typeface="Aptos"/>
              </a:rPr>
              <a:t>↓</a:t>
            </a:r>
          </a:p>
        </p:txBody>
      </p:sp>
      <p:sp>
        <p:nvSpPr>
          <p:cNvPr id="41" name="TextBox 40"/>
          <p:cNvSpPr txBox="1"/>
          <p:nvPr/>
        </p:nvSpPr>
        <p:spPr>
          <a:xfrm>
            <a:off x="13373100" y="6340810"/>
            <a:ext cx="342900" cy="369332"/>
          </a:xfrm>
          <a:prstGeom prst="rect">
            <a:avLst/>
          </a:prstGeom>
          <a:noFill/>
        </p:spPr>
        <p:txBody>
          <a:bodyPr wrap="square">
            <a:spAutoFit/>
          </a:bodyPr>
          <a:lstStyle/>
          <a:p>
            <a:pPr algn="ctr"/>
            <a:r>
              <a:rPr b="1">
                <a:solidFill>
                  <a:srgbClr val="2A2867"/>
                </a:solidFill>
                <a:latin typeface="Aptos"/>
              </a:rPr>
              <a:t>↙</a:t>
            </a:r>
          </a:p>
        </p:txBody>
      </p:sp>
      <p:sp>
        <p:nvSpPr>
          <p:cNvPr id="42" name="Rounded Rectangle 41"/>
          <p:cNvSpPr/>
          <p:nvPr/>
        </p:nvSpPr>
        <p:spPr>
          <a:xfrm>
            <a:off x="8983980" y="6748272"/>
            <a:ext cx="5760720" cy="1179576"/>
          </a:xfrm>
          <a:prstGeom prst="roundRect">
            <a:avLst/>
          </a:prstGeom>
          <a:solidFill>
            <a:srgbClr val="F4EFF9"/>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TextBox 42"/>
          <p:cNvSpPr txBox="1"/>
          <p:nvPr/>
        </p:nvSpPr>
        <p:spPr>
          <a:xfrm>
            <a:off x="9299448" y="7022592"/>
            <a:ext cx="5129784" cy="415498"/>
          </a:xfrm>
          <a:prstGeom prst="rect">
            <a:avLst/>
          </a:prstGeom>
          <a:noFill/>
        </p:spPr>
        <p:txBody>
          <a:bodyPr wrap="square">
            <a:spAutoFit/>
          </a:bodyPr>
          <a:lstStyle/>
          <a:p>
            <a:pPr algn="ctr"/>
            <a:r>
              <a:rPr sz="2100" b="1">
                <a:solidFill>
                  <a:srgbClr val="2A2867"/>
                </a:solidFill>
                <a:latin typeface="Aptos"/>
              </a:rPr>
              <a:t>PostgreSQL</a:t>
            </a:r>
          </a:p>
        </p:txBody>
      </p:sp>
      <p:sp>
        <p:nvSpPr>
          <p:cNvPr id="44" name="TextBox 43"/>
          <p:cNvSpPr txBox="1"/>
          <p:nvPr/>
        </p:nvSpPr>
        <p:spPr>
          <a:xfrm>
            <a:off x="9299448" y="7406641"/>
            <a:ext cx="5129784" cy="281295"/>
          </a:xfrm>
          <a:prstGeom prst="rect">
            <a:avLst/>
          </a:prstGeom>
          <a:noFill/>
        </p:spPr>
        <p:txBody>
          <a:bodyPr wrap="square">
            <a:spAutoFit/>
          </a:bodyPr>
          <a:lstStyle/>
          <a:p>
            <a:pPr algn="ctr"/>
            <a:r>
              <a:rPr sz="1228">
                <a:solidFill>
                  <a:srgbClr val="69657C"/>
                </a:solidFill>
                <a:latin typeface="Aptos"/>
              </a:rPr>
              <a:t>Application database</a:t>
            </a:r>
          </a:p>
        </p:txBody>
      </p:sp>
      <p:sp>
        <p:nvSpPr>
          <p:cNvPr id="45" name="Rounded Rectangle 44"/>
          <p:cNvSpPr/>
          <p:nvPr/>
        </p:nvSpPr>
        <p:spPr>
          <a:xfrm>
            <a:off x="2733260" y="8318873"/>
            <a:ext cx="13649739" cy="1124712"/>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3076161" y="8510897"/>
            <a:ext cx="1536192" cy="288541"/>
          </a:xfrm>
          <a:prstGeom prst="rect">
            <a:avLst/>
          </a:prstGeom>
          <a:noFill/>
        </p:spPr>
        <p:txBody>
          <a:bodyPr wrap="square">
            <a:spAutoFit/>
          </a:bodyPr>
          <a:lstStyle/>
          <a:p>
            <a:pPr algn="l"/>
            <a:r>
              <a:rPr sz="1275" b="1">
                <a:solidFill>
                  <a:srgbClr val="69657C"/>
                </a:solidFill>
                <a:latin typeface="Aptos"/>
              </a:rPr>
              <a:t>KEY API FLOW</a:t>
            </a:r>
          </a:p>
        </p:txBody>
      </p:sp>
      <p:sp>
        <p:nvSpPr>
          <p:cNvPr id="47" name="Rounded Rectangle 46"/>
          <p:cNvSpPr/>
          <p:nvPr/>
        </p:nvSpPr>
        <p:spPr>
          <a:xfrm>
            <a:off x="4598637" y="8538329"/>
            <a:ext cx="1673352" cy="466344"/>
          </a:xfrm>
          <a:prstGeom prst="roundRect">
            <a:avLst/>
          </a:prstGeom>
          <a:solidFill>
            <a:srgbClr val="F4EFF9"/>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8" name="TextBox 47"/>
          <p:cNvSpPr txBox="1"/>
          <p:nvPr/>
        </p:nvSpPr>
        <p:spPr>
          <a:xfrm>
            <a:off x="4639785" y="8675490"/>
            <a:ext cx="1591056" cy="246991"/>
          </a:xfrm>
          <a:prstGeom prst="rect">
            <a:avLst/>
          </a:prstGeom>
          <a:noFill/>
        </p:spPr>
        <p:txBody>
          <a:bodyPr wrap="square">
            <a:spAutoFit/>
          </a:bodyPr>
          <a:lstStyle/>
          <a:p>
            <a:pPr algn="ctr"/>
            <a:r>
              <a:rPr sz="1005" b="1">
                <a:solidFill>
                  <a:srgbClr val="7B56A5"/>
                </a:solidFill>
                <a:latin typeface="Aptos"/>
              </a:rPr>
              <a:t>POST /register</a:t>
            </a:r>
          </a:p>
        </p:txBody>
      </p:sp>
      <p:sp>
        <p:nvSpPr>
          <p:cNvPr id="49" name="TextBox 48"/>
          <p:cNvSpPr txBox="1"/>
          <p:nvPr/>
        </p:nvSpPr>
        <p:spPr>
          <a:xfrm>
            <a:off x="6271989" y="8675489"/>
            <a:ext cx="301752" cy="300082"/>
          </a:xfrm>
          <a:prstGeom prst="rect">
            <a:avLst/>
          </a:prstGeom>
          <a:noFill/>
        </p:spPr>
        <p:txBody>
          <a:bodyPr wrap="square">
            <a:spAutoFit/>
          </a:bodyPr>
          <a:lstStyle/>
          <a:p>
            <a:pPr algn="ctr"/>
            <a:r>
              <a:rPr sz="1350" b="1">
                <a:solidFill>
                  <a:srgbClr val="7B56A5"/>
                </a:solidFill>
                <a:latin typeface="Aptos"/>
              </a:rPr>
              <a:t>→</a:t>
            </a:r>
          </a:p>
        </p:txBody>
      </p:sp>
      <p:sp>
        <p:nvSpPr>
          <p:cNvPr id="50" name="Rounded Rectangle 49"/>
          <p:cNvSpPr/>
          <p:nvPr/>
        </p:nvSpPr>
        <p:spPr>
          <a:xfrm>
            <a:off x="6573741" y="8538329"/>
            <a:ext cx="1481328" cy="466344"/>
          </a:xfrm>
          <a:prstGeom prst="roundRect">
            <a:avLst/>
          </a:prstGeom>
          <a:solidFill>
            <a:srgbClr val="F4EFF9"/>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TextBox 50"/>
          <p:cNvSpPr txBox="1"/>
          <p:nvPr/>
        </p:nvSpPr>
        <p:spPr>
          <a:xfrm>
            <a:off x="6614889" y="8675490"/>
            <a:ext cx="1399032" cy="246991"/>
          </a:xfrm>
          <a:prstGeom prst="rect">
            <a:avLst/>
          </a:prstGeom>
          <a:noFill/>
        </p:spPr>
        <p:txBody>
          <a:bodyPr wrap="square">
            <a:spAutoFit/>
          </a:bodyPr>
          <a:lstStyle/>
          <a:p>
            <a:pPr algn="ctr"/>
            <a:r>
              <a:rPr sz="1005" b="1">
                <a:solidFill>
                  <a:srgbClr val="7B56A5"/>
                </a:solidFill>
                <a:latin typeface="Aptos"/>
              </a:rPr>
              <a:t>POST /login</a:t>
            </a:r>
          </a:p>
        </p:txBody>
      </p:sp>
      <p:sp>
        <p:nvSpPr>
          <p:cNvPr id="52" name="TextBox 51"/>
          <p:cNvSpPr txBox="1"/>
          <p:nvPr/>
        </p:nvSpPr>
        <p:spPr>
          <a:xfrm>
            <a:off x="8055069" y="8675489"/>
            <a:ext cx="301752" cy="300082"/>
          </a:xfrm>
          <a:prstGeom prst="rect">
            <a:avLst/>
          </a:prstGeom>
          <a:noFill/>
        </p:spPr>
        <p:txBody>
          <a:bodyPr wrap="square">
            <a:spAutoFit/>
          </a:bodyPr>
          <a:lstStyle/>
          <a:p>
            <a:pPr algn="ctr"/>
            <a:r>
              <a:rPr sz="1350" b="1">
                <a:solidFill>
                  <a:srgbClr val="7B56A5"/>
                </a:solidFill>
                <a:latin typeface="Aptos"/>
              </a:rPr>
              <a:t>→</a:t>
            </a:r>
          </a:p>
        </p:txBody>
      </p:sp>
      <p:sp>
        <p:nvSpPr>
          <p:cNvPr id="53" name="Rounded Rectangle 52"/>
          <p:cNvSpPr/>
          <p:nvPr/>
        </p:nvSpPr>
        <p:spPr>
          <a:xfrm>
            <a:off x="8356821" y="8538329"/>
            <a:ext cx="2125980" cy="466344"/>
          </a:xfrm>
          <a:prstGeom prst="roundRect">
            <a:avLst/>
          </a:prstGeom>
          <a:solidFill>
            <a:srgbClr val="F4EFF9"/>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4" name="TextBox 53"/>
          <p:cNvSpPr txBox="1"/>
          <p:nvPr/>
        </p:nvSpPr>
        <p:spPr>
          <a:xfrm>
            <a:off x="8397969" y="8675489"/>
            <a:ext cx="2043684" cy="246991"/>
          </a:xfrm>
          <a:prstGeom prst="rect">
            <a:avLst/>
          </a:prstGeom>
          <a:noFill/>
        </p:spPr>
        <p:txBody>
          <a:bodyPr wrap="square">
            <a:spAutoFit/>
          </a:bodyPr>
          <a:lstStyle/>
          <a:p>
            <a:pPr algn="ctr"/>
            <a:r>
              <a:rPr sz="1005" b="1">
                <a:solidFill>
                  <a:srgbClr val="7B56A5"/>
                </a:solidFill>
                <a:latin typeface="Aptos"/>
              </a:rPr>
              <a:t>POST /videos/upload</a:t>
            </a:r>
          </a:p>
        </p:txBody>
      </p:sp>
      <p:sp>
        <p:nvSpPr>
          <p:cNvPr id="55" name="TextBox 54"/>
          <p:cNvSpPr txBox="1"/>
          <p:nvPr/>
        </p:nvSpPr>
        <p:spPr>
          <a:xfrm>
            <a:off x="10482801" y="8675489"/>
            <a:ext cx="301752" cy="300082"/>
          </a:xfrm>
          <a:prstGeom prst="rect">
            <a:avLst/>
          </a:prstGeom>
          <a:noFill/>
        </p:spPr>
        <p:txBody>
          <a:bodyPr wrap="square">
            <a:spAutoFit/>
          </a:bodyPr>
          <a:lstStyle/>
          <a:p>
            <a:pPr algn="ctr"/>
            <a:r>
              <a:rPr sz="1350" b="1">
                <a:solidFill>
                  <a:srgbClr val="7B56A5"/>
                </a:solidFill>
                <a:latin typeface="Aptos"/>
              </a:rPr>
              <a:t>→</a:t>
            </a:r>
          </a:p>
        </p:txBody>
      </p:sp>
      <p:sp>
        <p:nvSpPr>
          <p:cNvPr id="56" name="Rounded Rectangle 55"/>
          <p:cNvSpPr/>
          <p:nvPr/>
        </p:nvSpPr>
        <p:spPr>
          <a:xfrm>
            <a:off x="10784553" y="8538329"/>
            <a:ext cx="1755648" cy="466344"/>
          </a:xfrm>
          <a:prstGeom prst="roundRect">
            <a:avLst/>
          </a:prstGeom>
          <a:solidFill>
            <a:srgbClr val="F4EFF9"/>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TextBox 56"/>
          <p:cNvSpPr txBox="1"/>
          <p:nvPr/>
        </p:nvSpPr>
        <p:spPr>
          <a:xfrm>
            <a:off x="10825701" y="8675490"/>
            <a:ext cx="1673352" cy="246991"/>
          </a:xfrm>
          <a:prstGeom prst="rect">
            <a:avLst/>
          </a:prstGeom>
          <a:noFill/>
        </p:spPr>
        <p:txBody>
          <a:bodyPr wrap="square">
            <a:spAutoFit/>
          </a:bodyPr>
          <a:lstStyle/>
          <a:p>
            <a:pPr algn="ctr"/>
            <a:r>
              <a:rPr sz="1005" b="1">
                <a:solidFill>
                  <a:srgbClr val="7B56A5"/>
                </a:solidFill>
                <a:latin typeface="Aptos"/>
              </a:rPr>
              <a:t>GET /videos/{id}</a:t>
            </a:r>
          </a:p>
        </p:txBody>
      </p:sp>
      <p:sp>
        <p:nvSpPr>
          <p:cNvPr id="58" name="TextBox 57"/>
          <p:cNvSpPr txBox="1"/>
          <p:nvPr/>
        </p:nvSpPr>
        <p:spPr>
          <a:xfrm>
            <a:off x="12540201" y="8675489"/>
            <a:ext cx="301752" cy="300082"/>
          </a:xfrm>
          <a:prstGeom prst="rect">
            <a:avLst/>
          </a:prstGeom>
          <a:noFill/>
        </p:spPr>
        <p:txBody>
          <a:bodyPr wrap="square">
            <a:spAutoFit/>
          </a:bodyPr>
          <a:lstStyle/>
          <a:p>
            <a:pPr algn="ctr"/>
            <a:r>
              <a:rPr sz="1350" b="1">
                <a:solidFill>
                  <a:srgbClr val="7B56A5"/>
                </a:solidFill>
                <a:latin typeface="Aptos"/>
              </a:rPr>
              <a:t>→</a:t>
            </a:r>
          </a:p>
        </p:txBody>
      </p:sp>
      <p:sp>
        <p:nvSpPr>
          <p:cNvPr id="59" name="Rounded Rectangle 58"/>
          <p:cNvSpPr/>
          <p:nvPr/>
        </p:nvSpPr>
        <p:spPr>
          <a:xfrm>
            <a:off x="12841953" y="8538329"/>
            <a:ext cx="2948940" cy="466344"/>
          </a:xfrm>
          <a:prstGeom prst="roundRect">
            <a:avLst/>
          </a:prstGeom>
          <a:solidFill>
            <a:srgbClr val="F4EFF9"/>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0" name="TextBox 59"/>
          <p:cNvSpPr txBox="1"/>
          <p:nvPr/>
        </p:nvSpPr>
        <p:spPr>
          <a:xfrm>
            <a:off x="12883102" y="8675489"/>
            <a:ext cx="2866643" cy="246991"/>
          </a:xfrm>
          <a:prstGeom prst="rect">
            <a:avLst/>
          </a:prstGeom>
          <a:noFill/>
        </p:spPr>
        <p:txBody>
          <a:bodyPr wrap="square">
            <a:spAutoFit/>
          </a:bodyPr>
          <a:lstStyle/>
          <a:p>
            <a:pPr algn="ctr"/>
            <a:r>
              <a:rPr sz="1005" b="1">
                <a:solidFill>
                  <a:srgbClr val="7B56A5"/>
                </a:solidFill>
                <a:latin typeface="Aptos"/>
              </a:rPr>
              <a:t>GET /athletes/me/risk-history</a:t>
            </a:r>
          </a:p>
        </p:txBody>
      </p:sp>
      <p:sp>
        <p:nvSpPr>
          <p:cNvPr id="61" name="TextBox 60"/>
          <p:cNvSpPr txBox="1"/>
          <p:nvPr/>
        </p:nvSpPr>
        <p:spPr>
          <a:xfrm>
            <a:off x="874942" y="9834610"/>
            <a:ext cx="16459200" cy="288541"/>
          </a:xfrm>
          <a:prstGeom prst="rect">
            <a:avLst/>
          </a:prstGeom>
          <a:noFill/>
        </p:spPr>
        <p:txBody>
          <a:bodyPr wrap="square">
            <a:spAutoFit/>
          </a:bodyPr>
          <a:lstStyle/>
          <a:p>
            <a:pPr algn="ctr"/>
            <a:r>
              <a:rPr sz="1275" b="1">
                <a:solidFill>
                  <a:srgbClr val="2A2867"/>
                </a:solidFill>
                <a:latin typeface="Aptos"/>
              </a:rPr>
              <a:t>Frontend → REST API → </a:t>
            </a:r>
            <a:r>
              <a:rPr sz="1275" b="1" err="1">
                <a:solidFill>
                  <a:srgbClr val="2A2867"/>
                </a:solidFill>
                <a:latin typeface="Aptos"/>
              </a:rPr>
              <a:t>FastAPI</a:t>
            </a:r>
            <a:r>
              <a:rPr sz="1275" b="1">
                <a:solidFill>
                  <a:srgbClr val="2A2867"/>
                </a:solidFill>
                <a:latin typeface="Aptos"/>
              </a:rPr>
              <a:t> → Auth / Video Processing / Risk APIs → PostgreSQL</a:t>
            </a:r>
          </a:p>
        </p:txBody>
      </p:sp>
    </p:spTree>
    <p:extLst>
      <p:ext uri="{BB962C8B-B14F-4D97-AF65-F5344CB8AC3E}">
        <p14:creationId xmlns:p14="http://schemas.microsoft.com/office/powerpoint/2010/main" val="911078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3B537AD-5851-D8BC-6946-329A5D670A0A}"/>
              </a:ext>
            </a:extLst>
          </p:cNvPr>
          <p:cNvSpPr txBox="1"/>
          <p:nvPr/>
        </p:nvSpPr>
        <p:spPr>
          <a:xfrm>
            <a:off x="1371600" y="6210300"/>
            <a:ext cx="3352800" cy="1354217"/>
          </a:xfrm>
          <a:prstGeom prst="rect">
            <a:avLst/>
          </a:prstGeom>
          <a:noFill/>
        </p:spPr>
        <p:txBody>
          <a:bodyPr wrap="square" rtlCol="0">
            <a:spAutoFit/>
          </a:bodyPr>
          <a:lstStyle/>
          <a:p>
            <a:pPr marL="457200" indent="-457200">
              <a:buFont typeface="Arial" panose="020B0604020202020204" pitchFamily="34" charset="0"/>
              <a:buChar char="•"/>
            </a:pPr>
            <a:r>
              <a:rPr lang="en-IN" sz="2800" b="1"/>
              <a:t>API Integration</a:t>
            </a:r>
          </a:p>
          <a:p>
            <a:r>
              <a:rPr lang="en-IN"/>
              <a:t>Frontend communicates with </a:t>
            </a:r>
            <a:r>
              <a:rPr lang="en-IN" err="1"/>
              <a:t>FastAPI</a:t>
            </a:r>
            <a:r>
              <a:rPr lang="en-IN"/>
              <a:t> through APIs..</a:t>
            </a:r>
          </a:p>
          <a:p>
            <a:pPr marL="285750" indent="-285750">
              <a:buFont typeface="Arial" panose="020B0604020202020204" pitchFamily="34" charset="0"/>
              <a:buChar char="•"/>
            </a:pPr>
            <a:endParaRPr lang="en-US"/>
          </a:p>
        </p:txBody>
      </p:sp>
      <p:sp>
        <p:nvSpPr>
          <p:cNvPr id="14" name="TextBox 13">
            <a:extLst>
              <a:ext uri="{FF2B5EF4-FFF2-40B4-BE49-F238E27FC236}">
                <a16:creationId xmlns:a16="http://schemas.microsoft.com/office/drawing/2014/main" id="{2325D2ED-E44C-F30E-DCE0-11033757264B}"/>
              </a:ext>
            </a:extLst>
          </p:cNvPr>
          <p:cNvSpPr txBox="1"/>
          <p:nvPr/>
        </p:nvSpPr>
        <p:spPr>
          <a:xfrm>
            <a:off x="1371600" y="4838700"/>
            <a:ext cx="3352800" cy="1077218"/>
          </a:xfrm>
          <a:prstGeom prst="rect">
            <a:avLst/>
          </a:prstGeom>
          <a:noFill/>
        </p:spPr>
        <p:txBody>
          <a:bodyPr wrap="square" rtlCol="0">
            <a:spAutoFit/>
          </a:bodyPr>
          <a:lstStyle/>
          <a:p>
            <a:pPr marL="457200" indent="-457200">
              <a:buFont typeface="Arial" panose="020B0604020202020204" pitchFamily="34" charset="0"/>
              <a:buChar char="•"/>
            </a:pPr>
            <a:r>
              <a:rPr lang="en-IN" sz="2800" b="1"/>
              <a:t>TypeScript</a:t>
            </a:r>
          </a:p>
          <a:p>
            <a:r>
              <a:rPr lang="en-IN"/>
              <a:t>Adds structure and type safety to the frontend code.</a:t>
            </a:r>
            <a:endParaRPr lang="en-US"/>
          </a:p>
        </p:txBody>
      </p:sp>
      <p:sp>
        <p:nvSpPr>
          <p:cNvPr id="15" name="TextBox 14">
            <a:extLst>
              <a:ext uri="{FF2B5EF4-FFF2-40B4-BE49-F238E27FC236}">
                <a16:creationId xmlns:a16="http://schemas.microsoft.com/office/drawing/2014/main" id="{464DB847-6F41-25DF-4321-FE9B4D41545D}"/>
              </a:ext>
            </a:extLst>
          </p:cNvPr>
          <p:cNvSpPr txBox="1"/>
          <p:nvPr/>
        </p:nvSpPr>
        <p:spPr>
          <a:xfrm>
            <a:off x="8172240" y="3592107"/>
            <a:ext cx="4196862" cy="1077218"/>
          </a:xfrm>
          <a:prstGeom prst="rect">
            <a:avLst/>
          </a:prstGeom>
          <a:noFill/>
        </p:spPr>
        <p:txBody>
          <a:bodyPr wrap="square" rtlCol="0">
            <a:spAutoFit/>
          </a:bodyPr>
          <a:lstStyle/>
          <a:p>
            <a:r>
              <a:rPr sz="2800" b="1"/>
              <a:t>01 . Registration &amp; Login</a:t>
            </a:r>
          </a:p>
          <a:p>
            <a:r>
              <a:rPr sz="2800" b="1"/>
              <a:t>Role-based secure account creation (Athlete/Coach/Staff).</a:t>
            </a:r>
          </a:p>
        </p:txBody>
      </p:sp>
      <p:sp>
        <p:nvSpPr>
          <p:cNvPr id="17" name="TextBox 5">
            <a:extLst>
              <a:ext uri="{FF2B5EF4-FFF2-40B4-BE49-F238E27FC236}">
                <a16:creationId xmlns:a16="http://schemas.microsoft.com/office/drawing/2014/main" id="{36B3288F-CE94-4328-545D-6F7DE7B8BB3D}"/>
              </a:ext>
            </a:extLst>
          </p:cNvPr>
          <p:cNvSpPr txBox="1"/>
          <p:nvPr/>
        </p:nvSpPr>
        <p:spPr>
          <a:xfrm>
            <a:off x="685800" y="-806018"/>
            <a:ext cx="8001000" cy="3250442"/>
          </a:xfrm>
          <a:prstGeom prst="rect">
            <a:avLst/>
          </a:prstGeom>
        </p:spPr>
        <p:txBody>
          <a:bodyPr wrap="square" lIns="0" tIns="0" rIns="0" bIns="0" rtlCol="0" anchor="t">
            <a:spAutoFit/>
          </a:bodyPr>
          <a:lstStyle/>
          <a:p>
            <a:pPr algn="l">
              <a:lnSpc>
                <a:spcPts val="8661"/>
              </a:lnSpc>
            </a:pPr>
            <a:endParaRPr/>
          </a:p>
          <a:p>
            <a:pPr algn="l">
              <a:lnSpc>
                <a:spcPts val="8661"/>
              </a:lnSpc>
            </a:pPr>
            <a:r>
              <a:rPr lang="en-US" sz="4800" b="1" spc="-80">
                <a:solidFill>
                  <a:srgbClr val="272665"/>
                </a:solidFill>
                <a:latin typeface="Public Sans Bold"/>
                <a:ea typeface="Public Sans Bold"/>
                <a:cs typeface="Public Sans Bold"/>
                <a:sym typeface="Public Sans Bold"/>
              </a:rPr>
              <a:t>Frontend &amp; User Interface</a:t>
            </a:r>
          </a:p>
          <a:p>
            <a:pPr algn="l">
              <a:lnSpc>
                <a:spcPts val="8661"/>
              </a:lnSpc>
            </a:pPr>
            <a:endParaRPr lang="en-US" sz="6187" b="1" spc="-80">
              <a:solidFill>
                <a:srgbClr val="272665"/>
              </a:solidFill>
              <a:latin typeface="Public Sans Bold"/>
              <a:ea typeface="Public Sans Bold"/>
              <a:cs typeface="Public Sans Bold"/>
              <a:sym typeface="Public Sans Bold"/>
            </a:endParaRPr>
          </a:p>
        </p:txBody>
      </p:sp>
      <p:sp>
        <p:nvSpPr>
          <p:cNvPr id="18" name="TextBox 5">
            <a:extLst>
              <a:ext uri="{FF2B5EF4-FFF2-40B4-BE49-F238E27FC236}">
                <a16:creationId xmlns:a16="http://schemas.microsoft.com/office/drawing/2014/main" id="{C4A318C7-C0BD-85E3-0E03-82F6AB9A6998}"/>
              </a:ext>
            </a:extLst>
          </p:cNvPr>
          <p:cNvSpPr txBox="1"/>
          <p:nvPr/>
        </p:nvSpPr>
        <p:spPr>
          <a:xfrm>
            <a:off x="8172240" y="1119173"/>
            <a:ext cx="4934159" cy="3250442"/>
          </a:xfrm>
          <a:prstGeom prst="rect">
            <a:avLst/>
          </a:prstGeom>
        </p:spPr>
        <p:txBody>
          <a:bodyPr wrap="square" lIns="0" tIns="0" rIns="0" bIns="0" rtlCol="0" anchor="t">
            <a:spAutoFit/>
          </a:bodyPr>
          <a:lstStyle/>
          <a:p>
            <a:pPr algn="l">
              <a:lnSpc>
                <a:spcPts val="8661"/>
              </a:lnSpc>
            </a:pPr>
            <a:r>
              <a:rPr lang="en-US"/>
              <a:t> </a:t>
            </a:r>
            <a:endParaRPr/>
          </a:p>
          <a:p>
            <a:pPr algn="l">
              <a:lnSpc>
                <a:spcPts val="8661"/>
              </a:lnSpc>
            </a:pPr>
            <a:r>
              <a:rPr lang="en-US" sz="4000" b="1" spc="-80">
                <a:solidFill>
                  <a:srgbClr val="272665"/>
                </a:solidFill>
                <a:latin typeface="Public Sans Bold"/>
                <a:ea typeface="Public Sans Bold"/>
                <a:cs typeface="Public Sans Bold"/>
                <a:sym typeface="Public Sans Bold"/>
              </a:rPr>
              <a:t>Main User Features </a:t>
            </a:r>
          </a:p>
          <a:p>
            <a:pPr algn="l">
              <a:lnSpc>
                <a:spcPts val="8661"/>
              </a:lnSpc>
            </a:pPr>
            <a:endParaRPr lang="en-US" sz="6187" b="1" spc="-80">
              <a:solidFill>
                <a:srgbClr val="272665"/>
              </a:solidFill>
              <a:latin typeface="Public Sans Bold"/>
              <a:ea typeface="Public Sans Bold"/>
              <a:cs typeface="Public Sans Bold"/>
              <a:sym typeface="Public Sans Bold"/>
            </a:endParaRPr>
          </a:p>
        </p:txBody>
      </p:sp>
      <p:sp>
        <p:nvSpPr>
          <p:cNvPr id="19" name="TextBox 5">
            <a:extLst>
              <a:ext uri="{FF2B5EF4-FFF2-40B4-BE49-F238E27FC236}">
                <a16:creationId xmlns:a16="http://schemas.microsoft.com/office/drawing/2014/main" id="{AD040B5E-B8BD-9855-1A5F-4E7E2AB7E378}"/>
              </a:ext>
            </a:extLst>
          </p:cNvPr>
          <p:cNvSpPr txBox="1"/>
          <p:nvPr/>
        </p:nvSpPr>
        <p:spPr>
          <a:xfrm>
            <a:off x="1447800" y="1119174"/>
            <a:ext cx="4316396" cy="3262325"/>
          </a:xfrm>
          <a:prstGeom prst="rect">
            <a:avLst/>
          </a:prstGeom>
        </p:spPr>
        <p:txBody>
          <a:bodyPr lIns="0" tIns="0" rIns="0" bIns="0" rtlCol="0" anchor="t">
            <a:spAutoFit/>
          </a:bodyPr>
          <a:lstStyle/>
          <a:p>
            <a:pPr algn="l">
              <a:lnSpc>
                <a:spcPts val="8661"/>
              </a:lnSpc>
            </a:pPr>
            <a:endParaRPr/>
          </a:p>
          <a:p>
            <a:pPr algn="l">
              <a:lnSpc>
                <a:spcPts val="8661"/>
              </a:lnSpc>
            </a:pPr>
            <a:r>
              <a:rPr lang="en-US" sz="4000" b="1" spc="-80">
                <a:solidFill>
                  <a:srgbClr val="272665"/>
                </a:solidFill>
                <a:latin typeface="Public Sans Bold"/>
                <a:ea typeface="Public Sans Bold"/>
                <a:cs typeface="Public Sans Bold"/>
                <a:sym typeface="Public Sans Bold"/>
              </a:rPr>
              <a:t>Technology</a:t>
            </a:r>
          </a:p>
          <a:p>
            <a:pPr algn="l">
              <a:lnSpc>
                <a:spcPts val="8661"/>
              </a:lnSpc>
            </a:pPr>
            <a:endParaRPr lang="en-US" sz="6187" b="1" spc="-80">
              <a:solidFill>
                <a:srgbClr val="272665"/>
              </a:solidFill>
              <a:latin typeface="Public Sans Bold"/>
              <a:ea typeface="Public Sans Bold"/>
              <a:cs typeface="Public Sans Bold"/>
              <a:sym typeface="Public Sans Bold"/>
            </a:endParaRPr>
          </a:p>
        </p:txBody>
      </p:sp>
      <p:sp>
        <p:nvSpPr>
          <p:cNvPr id="20" name="TextBox 19">
            <a:extLst>
              <a:ext uri="{FF2B5EF4-FFF2-40B4-BE49-F238E27FC236}">
                <a16:creationId xmlns:a16="http://schemas.microsoft.com/office/drawing/2014/main" id="{4435C16E-F4FA-C1F0-7146-CA058D761A5E}"/>
              </a:ext>
            </a:extLst>
          </p:cNvPr>
          <p:cNvSpPr txBox="1"/>
          <p:nvPr/>
        </p:nvSpPr>
        <p:spPr>
          <a:xfrm>
            <a:off x="1371600" y="3592107"/>
            <a:ext cx="3352800" cy="1354217"/>
          </a:xfrm>
          <a:prstGeom prst="rect">
            <a:avLst/>
          </a:prstGeom>
          <a:noFill/>
        </p:spPr>
        <p:txBody>
          <a:bodyPr wrap="square" rtlCol="0">
            <a:spAutoFit/>
          </a:bodyPr>
          <a:lstStyle/>
          <a:p>
            <a:pPr marL="457200" indent="-457200">
              <a:buFont typeface="Arial" panose="020B0604020202020204" pitchFamily="34" charset="0"/>
              <a:buChar char="•"/>
            </a:pPr>
            <a:r>
              <a:rPr lang="en-IN" sz="2800" b="1"/>
              <a:t>React</a:t>
            </a:r>
          </a:p>
          <a:p>
            <a:r>
              <a:rPr lang="en-IN"/>
              <a:t>Builds the interactive user interface and application pages.</a:t>
            </a:r>
          </a:p>
          <a:p>
            <a:pPr marL="285750" indent="-285750">
              <a:buFont typeface="Arial" panose="020B0604020202020204" pitchFamily="34" charset="0"/>
              <a:buChar char="•"/>
            </a:pPr>
            <a:endParaRPr lang="en-US"/>
          </a:p>
        </p:txBody>
      </p:sp>
      <p:sp>
        <p:nvSpPr>
          <p:cNvPr id="21" name="TextBox 20">
            <a:extLst>
              <a:ext uri="{FF2B5EF4-FFF2-40B4-BE49-F238E27FC236}">
                <a16:creationId xmlns:a16="http://schemas.microsoft.com/office/drawing/2014/main" id="{B86347E9-93C9-EFA3-F312-012754197BBA}"/>
              </a:ext>
            </a:extLst>
          </p:cNvPr>
          <p:cNvSpPr txBox="1"/>
          <p:nvPr/>
        </p:nvSpPr>
        <p:spPr>
          <a:xfrm>
            <a:off x="8172240" y="4946324"/>
            <a:ext cx="4196862" cy="1354217"/>
          </a:xfrm>
          <a:prstGeom prst="rect">
            <a:avLst/>
          </a:prstGeom>
          <a:noFill/>
        </p:spPr>
        <p:txBody>
          <a:bodyPr wrap="square" rtlCol="0">
            <a:spAutoFit/>
          </a:bodyPr>
          <a:lstStyle/>
          <a:p>
            <a:r>
              <a:rPr lang="en-IN" sz="2800" b="1"/>
              <a:t>03 . Dashboard </a:t>
            </a:r>
          </a:p>
          <a:p>
            <a:r>
              <a:rPr lang="en-IN"/>
              <a:t>Latest analysis, risk score and activity information..</a:t>
            </a:r>
          </a:p>
          <a:p>
            <a:endParaRPr lang="en-US"/>
          </a:p>
        </p:txBody>
      </p:sp>
      <p:sp>
        <p:nvSpPr>
          <p:cNvPr id="22" name="TextBox 21">
            <a:extLst>
              <a:ext uri="{FF2B5EF4-FFF2-40B4-BE49-F238E27FC236}">
                <a16:creationId xmlns:a16="http://schemas.microsoft.com/office/drawing/2014/main" id="{76051FED-BCBB-8132-0FC3-F8ECA69A2CBD}"/>
              </a:ext>
            </a:extLst>
          </p:cNvPr>
          <p:cNvSpPr txBox="1"/>
          <p:nvPr/>
        </p:nvSpPr>
        <p:spPr>
          <a:xfrm>
            <a:off x="13106399" y="3592107"/>
            <a:ext cx="4196862" cy="1354217"/>
          </a:xfrm>
          <a:prstGeom prst="rect">
            <a:avLst/>
          </a:prstGeom>
          <a:noFill/>
        </p:spPr>
        <p:txBody>
          <a:bodyPr wrap="square" rtlCol="0">
            <a:spAutoFit/>
          </a:bodyPr>
          <a:lstStyle/>
          <a:p>
            <a:r>
              <a:rPr lang="en-IN" sz="2800" b="1"/>
              <a:t>02 . Athlete Profile</a:t>
            </a:r>
          </a:p>
          <a:p>
            <a:r>
              <a:rPr lang="en-IN"/>
              <a:t>Sport, position, training load and injury history.</a:t>
            </a:r>
          </a:p>
          <a:p>
            <a:endParaRPr lang="en-US"/>
          </a:p>
        </p:txBody>
      </p:sp>
      <p:sp>
        <p:nvSpPr>
          <p:cNvPr id="23" name="TextBox 22">
            <a:extLst>
              <a:ext uri="{FF2B5EF4-FFF2-40B4-BE49-F238E27FC236}">
                <a16:creationId xmlns:a16="http://schemas.microsoft.com/office/drawing/2014/main" id="{E0A93CF3-EB38-38F4-D1DE-05604C5EFD62}"/>
              </a:ext>
            </a:extLst>
          </p:cNvPr>
          <p:cNvSpPr txBox="1"/>
          <p:nvPr/>
        </p:nvSpPr>
        <p:spPr>
          <a:xfrm>
            <a:off x="13089466" y="4946324"/>
            <a:ext cx="4512734" cy="1077218"/>
          </a:xfrm>
          <a:prstGeom prst="rect">
            <a:avLst/>
          </a:prstGeom>
          <a:noFill/>
        </p:spPr>
        <p:txBody>
          <a:bodyPr wrap="square" rtlCol="0">
            <a:spAutoFit/>
          </a:bodyPr>
          <a:lstStyle/>
          <a:p>
            <a:r>
              <a:rPr lang="en-IN" sz="2800" b="1"/>
              <a:t>04 . Video Upload &amp; Analysis</a:t>
            </a:r>
          </a:p>
          <a:p>
            <a:r>
              <a:rPr lang="en-IN"/>
              <a:t>Uploads movement videos for pose and biomechanical analysis.</a:t>
            </a:r>
            <a:endParaRPr lang="en-US"/>
          </a:p>
        </p:txBody>
      </p:sp>
      <p:sp>
        <p:nvSpPr>
          <p:cNvPr id="24" name="TextBox 23">
            <a:extLst>
              <a:ext uri="{FF2B5EF4-FFF2-40B4-BE49-F238E27FC236}">
                <a16:creationId xmlns:a16="http://schemas.microsoft.com/office/drawing/2014/main" id="{BFDADB32-95B5-8EB5-C0D8-3231A70B0267}"/>
              </a:ext>
            </a:extLst>
          </p:cNvPr>
          <p:cNvSpPr txBox="1"/>
          <p:nvPr/>
        </p:nvSpPr>
        <p:spPr>
          <a:xfrm>
            <a:off x="8172240" y="6313241"/>
            <a:ext cx="7601160" cy="800219"/>
          </a:xfrm>
          <a:prstGeom prst="rect">
            <a:avLst/>
          </a:prstGeom>
          <a:noFill/>
        </p:spPr>
        <p:txBody>
          <a:bodyPr wrap="square" rtlCol="0">
            <a:spAutoFit/>
          </a:bodyPr>
          <a:lstStyle/>
          <a:p>
            <a:r>
              <a:rPr lang="en-IN" sz="2800" b="1"/>
              <a:t>05 . Reports History </a:t>
            </a:r>
          </a:p>
          <a:p>
            <a:r>
              <a:rPr lang="en-IN"/>
              <a:t>Previous analyses, risk results, recommendations and reports.</a:t>
            </a:r>
            <a:endParaRPr lang="en-US"/>
          </a:p>
        </p:txBody>
      </p:sp>
      <p:sp>
        <p:nvSpPr>
          <p:cNvPr id="27" name="TextBox 6">
            <a:extLst>
              <a:ext uri="{FF2B5EF4-FFF2-40B4-BE49-F238E27FC236}">
                <a16:creationId xmlns:a16="http://schemas.microsoft.com/office/drawing/2014/main" id="{2862E40E-8129-6024-296F-F2C87F941904}"/>
              </a:ext>
            </a:extLst>
          </p:cNvPr>
          <p:cNvSpPr txBox="1"/>
          <p:nvPr/>
        </p:nvSpPr>
        <p:spPr>
          <a:xfrm>
            <a:off x="-1219200" y="1396663"/>
            <a:ext cx="12523806" cy="353943"/>
          </a:xfrm>
          <a:prstGeom prst="rect">
            <a:avLst/>
          </a:prstGeom>
        </p:spPr>
        <p:txBody>
          <a:bodyPr wrap="square" lIns="0" tIns="0" rIns="0" bIns="0" rtlCol="0" anchor="t">
            <a:spAutoFit/>
          </a:bodyPr>
          <a:lstStyle/>
          <a:p>
            <a:pPr algn="ctr">
              <a:lnSpc>
                <a:spcPct val="100000"/>
              </a:lnSpc>
            </a:pPr>
            <a:r>
              <a:rPr lang="en-US" sz="2300">
                <a:solidFill>
                  <a:srgbClr val="272665"/>
                </a:solidFill>
                <a:latin typeface="Public Sans"/>
                <a:ea typeface="Public Sans"/>
                <a:cs typeface="Public Sans"/>
                <a:sym typeface="Public Sans"/>
              </a:rPr>
              <a:t>React  + TypeScript frontend connected to the </a:t>
            </a:r>
            <a:r>
              <a:rPr lang="en-US" sz="2300" err="1">
                <a:solidFill>
                  <a:srgbClr val="272665"/>
                </a:solidFill>
                <a:latin typeface="Public Sans"/>
                <a:ea typeface="Public Sans"/>
                <a:cs typeface="Public Sans"/>
                <a:sym typeface="Public Sans"/>
              </a:rPr>
              <a:t>FastAPI</a:t>
            </a:r>
            <a:r>
              <a:rPr lang="en-US" sz="2300">
                <a:solidFill>
                  <a:srgbClr val="272665"/>
                </a:solidFill>
                <a:latin typeface="Public Sans"/>
                <a:ea typeface="Public Sans"/>
                <a:cs typeface="Public Sans"/>
                <a:sym typeface="Public Sans"/>
              </a:rPr>
              <a:t> backend</a:t>
            </a:r>
          </a:p>
        </p:txBody>
      </p:sp>
      <p:graphicFrame>
        <p:nvGraphicFramePr>
          <p:cNvPr id="28" name="Diagram 27">
            <a:extLst>
              <a:ext uri="{FF2B5EF4-FFF2-40B4-BE49-F238E27FC236}">
                <a16:creationId xmlns:a16="http://schemas.microsoft.com/office/drawing/2014/main" id="{02D3C0F7-4A04-60A2-0AE6-1BE9C22FC946}"/>
              </a:ext>
            </a:extLst>
          </p:cNvPr>
          <p:cNvGraphicFramePr/>
          <p:nvPr>
            <p:extLst>
              <p:ext uri="{D42A27DB-BD31-4B8C-83A1-F6EECF244321}">
                <p14:modId xmlns:p14="http://schemas.microsoft.com/office/powerpoint/2010/main" val="603073690"/>
              </p:ext>
            </p:extLst>
          </p:nvPr>
        </p:nvGraphicFramePr>
        <p:xfrm>
          <a:off x="1447800" y="5377309"/>
          <a:ext cx="15468600" cy="812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9" name="TextBox 5">
            <a:extLst>
              <a:ext uri="{FF2B5EF4-FFF2-40B4-BE49-F238E27FC236}">
                <a16:creationId xmlns:a16="http://schemas.microsoft.com/office/drawing/2014/main" id="{D806E71C-B374-7476-1B1A-FF8C48449550}"/>
              </a:ext>
            </a:extLst>
          </p:cNvPr>
          <p:cNvSpPr txBox="1"/>
          <p:nvPr/>
        </p:nvSpPr>
        <p:spPr>
          <a:xfrm>
            <a:off x="1371600" y="6584180"/>
            <a:ext cx="4316396" cy="3262325"/>
          </a:xfrm>
          <a:prstGeom prst="rect">
            <a:avLst/>
          </a:prstGeom>
        </p:spPr>
        <p:txBody>
          <a:bodyPr lIns="0" tIns="0" rIns="0" bIns="0" rtlCol="0" anchor="t">
            <a:spAutoFit/>
          </a:bodyPr>
          <a:lstStyle/>
          <a:p>
            <a:pPr algn="l">
              <a:lnSpc>
                <a:spcPts val="8661"/>
              </a:lnSpc>
            </a:pPr>
            <a:endParaRPr/>
          </a:p>
          <a:p>
            <a:pPr algn="l">
              <a:lnSpc>
                <a:spcPts val="8661"/>
              </a:lnSpc>
            </a:pPr>
            <a:r>
              <a:rPr lang="en-US" sz="2800">
                <a:solidFill>
                  <a:srgbClr val="272665"/>
                </a:solidFill>
                <a:latin typeface="Public Sans Bold"/>
                <a:ea typeface="Public Sans Bold"/>
                <a:cs typeface="Public Sans Bold"/>
                <a:sym typeface="Public Sans Bold"/>
              </a:rPr>
              <a:t>User Workflow</a:t>
            </a:r>
          </a:p>
          <a:p>
            <a:pPr algn="l">
              <a:lnSpc>
                <a:spcPts val="8661"/>
              </a:lnSpc>
            </a:pPr>
            <a:endParaRPr lang="en-US" sz="6187" b="1" spc="-80">
              <a:solidFill>
                <a:srgbClr val="272665"/>
              </a:solidFill>
              <a:latin typeface="Public Sans Bold"/>
              <a:ea typeface="Public Sans Bold"/>
              <a:cs typeface="Public Sans Bold"/>
              <a:sym typeface="Public Sans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0D51C96F-66C4-ECDF-4AB3-43E2D1E3D74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4E4AA15-3983-AF59-5691-C20D71E4B107}"/>
              </a:ext>
            </a:extLst>
          </p:cNvPr>
          <p:cNvSpPr/>
          <p:nvPr/>
        </p:nvSpPr>
        <p:spPr>
          <a:xfrm>
            <a:off x="9590913" y="2080587"/>
            <a:ext cx="7319452" cy="7140333"/>
          </a:xfrm>
          <a:custGeom>
            <a:avLst/>
            <a:gdLst/>
            <a:ahLst/>
            <a:cxnLst/>
            <a:rect l="l" t="t" r="r" b="b"/>
            <a:pathLst>
              <a:path w="7319452" h="7140333">
                <a:moveTo>
                  <a:pt x="0" y="0"/>
                </a:moveTo>
                <a:lnTo>
                  <a:pt x="7319452" y="0"/>
                </a:lnTo>
                <a:lnTo>
                  <a:pt x="7319452" y="7140332"/>
                </a:lnTo>
                <a:lnTo>
                  <a:pt x="0" y="714033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7D67B70E-06EA-A4E1-9426-9C23A5EDED92}"/>
              </a:ext>
            </a:extLst>
          </p:cNvPr>
          <p:cNvSpPr txBox="1"/>
          <p:nvPr/>
        </p:nvSpPr>
        <p:spPr>
          <a:xfrm>
            <a:off x="204380" y="3846017"/>
            <a:ext cx="12564171" cy="687822"/>
          </a:xfrm>
          <a:prstGeom prst="rect">
            <a:avLst/>
          </a:prstGeom>
        </p:spPr>
        <p:txBody>
          <a:bodyPr lIns="0" tIns="0" rIns="0" bIns="0" rtlCol="0" anchor="t">
            <a:spAutoFit/>
          </a:bodyPr>
          <a:lstStyle/>
          <a:p>
            <a:pPr algn="l">
              <a:lnSpc>
                <a:spcPts val="5163"/>
              </a:lnSpc>
            </a:pPr>
            <a:r>
              <a:rPr lang="en-US" sz="5378" spc="-59">
                <a:solidFill>
                  <a:srgbClr val="FFFFFF"/>
                </a:solidFill>
                <a:latin typeface="Public Sans"/>
                <a:ea typeface="Public Sans"/>
                <a:cs typeface="Public Sans"/>
                <a:sym typeface="Public Sans"/>
              </a:rPr>
              <a:t>    Registration  Page  </a:t>
            </a:r>
          </a:p>
        </p:txBody>
      </p:sp>
      <p:pic>
        <p:nvPicPr>
          <p:cNvPr id="4" name="Picture 4">
            <a:extLst>
              <a:ext uri="{FF2B5EF4-FFF2-40B4-BE49-F238E27FC236}">
                <a16:creationId xmlns:a16="http://schemas.microsoft.com/office/drawing/2014/main" id="{A267C6F0-D902-FCDB-C22E-090AAA2BB7D4}"/>
              </a:ext>
            </a:extLst>
          </p:cNvPr>
          <p:cNvPicPr>
            <a:picLocks noChangeAspect="1"/>
          </p:cNvPicPr>
          <p:nvPr/>
        </p:nvPicPr>
        <p:blipFill>
          <a:blip r:embed="rId3"/>
          <a:srcRect/>
          <a:stretch>
            <a:fillRect/>
          </a:stretch>
        </p:blipFill>
        <p:spPr>
          <a:xfrm>
            <a:off x="7163507" y="3310888"/>
            <a:ext cx="3631677" cy="1634255"/>
          </a:xfrm>
          <a:prstGeom prst="rect">
            <a:avLst/>
          </a:prstGeom>
        </p:spPr>
      </p:pic>
    </p:spTree>
    <p:extLst>
      <p:ext uri="{BB962C8B-B14F-4D97-AF65-F5344CB8AC3E}">
        <p14:creationId xmlns:p14="http://schemas.microsoft.com/office/powerpoint/2010/main" val="3781658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grpSp>
        <p:nvGrpSpPr>
          <p:cNvPr id="2" name="Group 2"/>
          <p:cNvGrpSpPr/>
          <p:nvPr/>
        </p:nvGrpSpPr>
        <p:grpSpPr>
          <a:xfrm>
            <a:off x="6456275" y="1675216"/>
            <a:ext cx="11831725" cy="7583084"/>
            <a:chOff x="0" y="0"/>
            <a:chExt cx="15775634" cy="10110779"/>
          </a:xfrm>
        </p:grpSpPr>
        <p:sp>
          <p:nvSpPr>
            <p:cNvPr id="3" name="Freeform 3"/>
            <p:cNvSpPr/>
            <p:nvPr/>
          </p:nvSpPr>
          <p:spPr>
            <a:xfrm>
              <a:off x="0" y="0"/>
              <a:ext cx="15775634" cy="10110779"/>
            </a:xfrm>
            <a:custGeom>
              <a:avLst/>
              <a:gdLst/>
              <a:ahLst/>
              <a:cxnLst/>
              <a:rect l="l" t="t" r="r" b="b"/>
              <a:pathLst>
                <a:path w="15775634" h="10110779">
                  <a:moveTo>
                    <a:pt x="0" y="0"/>
                  </a:moveTo>
                  <a:lnTo>
                    <a:pt x="15775634" y="0"/>
                  </a:lnTo>
                  <a:lnTo>
                    <a:pt x="15775634" y="10110779"/>
                  </a:lnTo>
                  <a:lnTo>
                    <a:pt x="0" y="10110779"/>
                  </a:lnTo>
                  <a:lnTo>
                    <a:pt x="0" y="0"/>
                  </a:lnTo>
                  <a:close/>
                </a:path>
              </a:pathLst>
            </a:custGeom>
            <a:blipFill>
              <a:blip r:embed="rId2"/>
              <a:stretch>
                <a:fillRect/>
              </a:stretch>
            </a:blipFill>
          </p:spPr>
        </p:sp>
      </p:grpSp>
      <p:sp>
        <p:nvSpPr>
          <p:cNvPr id="4" name="TextBox 4"/>
          <p:cNvSpPr txBox="1"/>
          <p:nvPr/>
        </p:nvSpPr>
        <p:spPr>
          <a:xfrm>
            <a:off x="263409" y="3551291"/>
            <a:ext cx="7917815" cy="2459712"/>
          </a:xfrm>
          <a:prstGeom prst="rect">
            <a:avLst/>
          </a:prstGeom>
        </p:spPr>
        <p:txBody>
          <a:bodyPr lIns="0" tIns="0" rIns="0" bIns="0" rtlCol="0" anchor="t">
            <a:spAutoFit/>
          </a:bodyPr>
          <a:lstStyle/>
          <a:p>
            <a:pPr algn="l">
              <a:lnSpc>
                <a:spcPts val="4906"/>
              </a:lnSpc>
            </a:pPr>
            <a:r>
              <a:t>Role-Based User Registration</a:t>
            </a:r>
            <a:endParaRPr/>
          </a:p>
          <a:p>
            <a:r>
              <a:t>Athlete &amp; Coach Profiles</a:t>
            </a:r>
          </a:p>
          <a:p>
            <a:r>
              <a:t>Responsive Design</a:t>
            </a:r>
          </a:p>
        </p:txBody>
      </p:sp>
      <p:sp>
        <p:nvSpPr>
          <p:cNvPr id="5" name="TextBox 5"/>
          <p:cNvSpPr txBox="1"/>
          <p:nvPr/>
        </p:nvSpPr>
        <p:spPr>
          <a:xfrm>
            <a:off x="774856" y="895350"/>
            <a:ext cx="4316396" cy="3262325"/>
          </a:xfrm>
          <a:prstGeom prst="rect">
            <a:avLst/>
          </a:prstGeom>
        </p:spPr>
        <p:txBody>
          <a:bodyPr lIns="0" tIns="0" rIns="0" bIns="0" rtlCol="0" anchor="t">
            <a:spAutoFit/>
          </a:bodyPr>
          <a:lstStyle/>
          <a:p>
            <a:pPr algn="l">
              <a:lnSpc>
                <a:spcPts val="8661"/>
              </a:lnSpc>
            </a:pPr>
            <a:endParaRPr/>
          </a:p>
          <a:p>
            <a:pPr algn="l">
              <a:lnSpc>
                <a:spcPts val="8661"/>
              </a:lnSpc>
            </a:pPr>
            <a:r>
              <a:rPr lang="en-US" sz="6187" b="1" spc="-80">
                <a:solidFill>
                  <a:srgbClr val="272665"/>
                </a:solidFill>
                <a:latin typeface="Public Sans Bold"/>
                <a:ea typeface="Public Sans Bold"/>
                <a:cs typeface="Public Sans Bold"/>
                <a:sym typeface="Public Sans Bold"/>
              </a:rPr>
              <a:t>Features</a:t>
            </a:r>
          </a:p>
          <a:p>
            <a:pPr algn="l">
              <a:lnSpc>
                <a:spcPts val="8661"/>
              </a:lnSpc>
            </a:pPr>
            <a:endParaRPr lang="en-US" sz="6187" b="1" spc="-80">
              <a:solidFill>
                <a:srgbClr val="272665"/>
              </a:solidFill>
              <a:latin typeface="Public Sans Bold"/>
              <a:ea typeface="Public Sans Bold"/>
              <a:cs typeface="Public Sans Bold"/>
              <a:sym typeface="Public Sans Bold"/>
            </a:endParaRPr>
          </a:p>
        </p:txBody>
      </p:sp>
      <p:pic>
        <p:nvPicPr>
          <p:cNvPr id="7" name="Picture 6">
            <a:extLst>
              <a:ext uri="{FF2B5EF4-FFF2-40B4-BE49-F238E27FC236}">
                <a16:creationId xmlns:a16="http://schemas.microsoft.com/office/drawing/2014/main" id="{A6F406EA-E6AD-43F2-05E3-A72B639A3CA1}"/>
              </a:ext>
            </a:extLst>
          </p:cNvPr>
          <p:cNvPicPr>
            <a:picLocks noChangeAspect="1"/>
          </p:cNvPicPr>
          <p:nvPr/>
        </p:nvPicPr>
        <p:blipFill>
          <a:blip r:embed="rId3">
            <a:extLst>
              <a:ext uri="{28A0092B-C50C-407E-A947-70E740481C1C}">
                <a14:useLocalDpi xmlns:a14="http://schemas.microsoft.com/office/drawing/2010/main" val="0"/>
              </a:ext>
            </a:extLst>
          </a:blip>
          <a:srcRect t="11732" b="5686"/>
          <a:stretch>
            <a:fillRect/>
          </a:stretch>
        </p:blipFill>
        <p:spPr>
          <a:xfrm>
            <a:off x="7259606" y="2171700"/>
            <a:ext cx="10215438" cy="5486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2" name="TextBox 2"/>
          <p:cNvSpPr txBox="1"/>
          <p:nvPr/>
        </p:nvSpPr>
        <p:spPr>
          <a:xfrm>
            <a:off x="531503" y="4956370"/>
            <a:ext cx="12564171" cy="687822"/>
          </a:xfrm>
          <a:prstGeom prst="rect">
            <a:avLst/>
          </a:prstGeom>
        </p:spPr>
        <p:txBody>
          <a:bodyPr lIns="0" tIns="0" rIns="0" bIns="0" rtlCol="0" anchor="t">
            <a:spAutoFit/>
          </a:bodyPr>
          <a:lstStyle/>
          <a:p>
            <a:pPr algn="l">
              <a:lnSpc>
                <a:spcPts val="5163"/>
              </a:lnSpc>
            </a:pPr>
            <a:r>
              <a:rPr lang="en-US" sz="5378" spc="-59">
                <a:solidFill>
                  <a:srgbClr val="FFFFFF"/>
                </a:solidFill>
                <a:latin typeface="Public Sans"/>
                <a:ea typeface="Public Sans"/>
                <a:cs typeface="Public Sans"/>
                <a:sym typeface="Public Sans"/>
              </a:rPr>
              <a:t>Login  Page     </a:t>
            </a:r>
          </a:p>
        </p:txBody>
      </p:sp>
      <p:pic>
        <p:nvPicPr>
          <p:cNvPr id="3" name="Picture 3"/>
          <p:cNvPicPr>
            <a:picLocks noChangeAspect="1"/>
          </p:cNvPicPr>
          <p:nvPr/>
        </p:nvPicPr>
        <p:blipFill>
          <a:blip r:embed="rId2"/>
          <a:srcRect/>
          <a:stretch>
            <a:fillRect/>
          </a:stretch>
        </p:blipFill>
        <p:spPr>
          <a:xfrm>
            <a:off x="5300371" y="4326373"/>
            <a:ext cx="3631677" cy="1634255"/>
          </a:xfrm>
          <a:prstGeom prst="rect">
            <a:avLst/>
          </a:prstGeom>
        </p:spPr>
      </p:pic>
      <p:sp>
        <p:nvSpPr>
          <p:cNvPr id="4" name="Freeform 4"/>
          <p:cNvSpPr/>
          <p:nvPr/>
        </p:nvSpPr>
        <p:spPr>
          <a:xfrm>
            <a:off x="8750377" y="1503581"/>
            <a:ext cx="9001345" cy="7279838"/>
          </a:xfrm>
          <a:custGeom>
            <a:avLst/>
            <a:gdLst/>
            <a:ahLst/>
            <a:cxnLst/>
            <a:rect l="l" t="t" r="r" b="b"/>
            <a:pathLst>
              <a:path w="9001345" h="7279838">
                <a:moveTo>
                  <a:pt x="0" y="0"/>
                </a:moveTo>
                <a:lnTo>
                  <a:pt x="9001345" y="0"/>
                </a:lnTo>
                <a:lnTo>
                  <a:pt x="9001345" y="7279838"/>
                </a:lnTo>
                <a:lnTo>
                  <a:pt x="0" y="7279838"/>
                </a:lnTo>
                <a:lnTo>
                  <a:pt x="0" y="0"/>
                </a:lnTo>
                <a:close/>
              </a:path>
            </a:pathLst>
          </a:custGeom>
          <a:blipFill>
            <a:blip r:embed="rId3"/>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4" name="TextBox 4"/>
          <p:cNvSpPr txBox="1"/>
          <p:nvPr/>
        </p:nvSpPr>
        <p:spPr>
          <a:xfrm>
            <a:off x="519345" y="1455661"/>
            <a:ext cx="4316396" cy="3262325"/>
          </a:xfrm>
          <a:prstGeom prst="rect">
            <a:avLst/>
          </a:prstGeom>
        </p:spPr>
        <p:txBody>
          <a:bodyPr lIns="0" tIns="0" rIns="0" bIns="0" rtlCol="0" anchor="t">
            <a:spAutoFit/>
          </a:bodyPr>
          <a:lstStyle/>
          <a:p>
            <a:pPr algn="l">
              <a:lnSpc>
                <a:spcPts val="8661"/>
              </a:lnSpc>
            </a:pPr>
            <a:endParaRPr/>
          </a:p>
          <a:p>
            <a:pPr algn="l">
              <a:lnSpc>
                <a:spcPts val="8661"/>
              </a:lnSpc>
            </a:pPr>
            <a:r>
              <a:rPr lang="en-US" sz="6187" b="1" spc="-80">
                <a:solidFill>
                  <a:srgbClr val="272665"/>
                </a:solidFill>
                <a:latin typeface="Public Sans Bold"/>
                <a:ea typeface="Public Sans Bold"/>
                <a:cs typeface="Public Sans Bold"/>
                <a:sym typeface="Public Sans Bold"/>
              </a:rPr>
              <a:t>Features</a:t>
            </a:r>
          </a:p>
          <a:p>
            <a:pPr algn="l">
              <a:lnSpc>
                <a:spcPts val="8661"/>
              </a:lnSpc>
            </a:pPr>
            <a:endParaRPr lang="en-US" sz="6187" b="1" spc="-80">
              <a:solidFill>
                <a:srgbClr val="272665"/>
              </a:solidFill>
              <a:latin typeface="Public Sans Bold"/>
              <a:ea typeface="Public Sans Bold"/>
              <a:cs typeface="Public Sans Bold"/>
              <a:sym typeface="Public Sans Bold"/>
            </a:endParaRPr>
          </a:p>
        </p:txBody>
      </p:sp>
      <p:sp>
        <p:nvSpPr>
          <p:cNvPr id="5" name="TextBox 5"/>
          <p:cNvSpPr txBox="1"/>
          <p:nvPr/>
        </p:nvSpPr>
        <p:spPr>
          <a:xfrm>
            <a:off x="0" y="3805853"/>
            <a:ext cx="8142355" cy="1869486"/>
          </a:xfrm>
          <a:prstGeom prst="rect">
            <a:avLst/>
          </a:prstGeom>
        </p:spPr>
        <p:txBody>
          <a:bodyPr lIns="0" tIns="0" rIns="0" bIns="0" rtlCol="0" anchor="t">
            <a:spAutoFit/>
          </a:bodyPr>
          <a:lstStyle/>
          <a:p>
            <a:pPr algn="l">
              <a:lnSpc>
                <a:spcPts val="5045"/>
              </a:lnSpc>
            </a:pPr>
            <a:r>
              <a:t>Role-based authentication &amp; login.</a:t>
            </a:r>
            <a:endParaRPr/>
          </a:p>
          <a:p>
            <a:r>
              <a:t>User-Friendly Input Fields</a:t>
            </a:r>
          </a:p>
        </p:txBody>
      </p:sp>
      <p:sp>
        <p:nvSpPr>
          <p:cNvPr id="3" name="Freeform 3"/>
          <p:cNvSpPr/>
          <p:nvPr/>
        </p:nvSpPr>
        <p:spPr>
          <a:xfrm>
            <a:off x="6948923" y="1853721"/>
            <a:ext cx="11553207" cy="7404579"/>
          </a:xfrm>
          <a:custGeom>
            <a:avLst/>
            <a:gdLst/>
            <a:ahLst/>
            <a:cxnLst/>
            <a:rect l="l" t="t" r="r" b="b"/>
            <a:pathLst>
              <a:path w="15404276" h="9872772">
                <a:moveTo>
                  <a:pt x="0" y="0"/>
                </a:moveTo>
                <a:lnTo>
                  <a:pt x="15404276" y="0"/>
                </a:lnTo>
                <a:lnTo>
                  <a:pt x="15404276" y="9872772"/>
                </a:lnTo>
                <a:lnTo>
                  <a:pt x="0" y="9872772"/>
                </a:lnTo>
                <a:lnTo>
                  <a:pt x="0" y="0"/>
                </a:lnTo>
                <a:close/>
              </a:path>
            </a:pathLst>
          </a:custGeom>
          <a:blipFill>
            <a:blip r:embed="rId2"/>
            <a:stretch>
              <a:fillRect/>
            </a:stretch>
          </a:blipFill>
        </p:spPr>
        <p:txBody>
          <a:bodyPr/>
          <a:lstStyle/>
          <a:p>
            <a:endParaRPr lang="en-US"/>
          </a:p>
        </p:txBody>
      </p:sp>
      <p:pic>
        <p:nvPicPr>
          <p:cNvPr id="7" name="Picture 6">
            <a:extLst>
              <a:ext uri="{FF2B5EF4-FFF2-40B4-BE49-F238E27FC236}">
                <a16:creationId xmlns:a16="http://schemas.microsoft.com/office/drawing/2014/main" id="{43D5534F-ED2D-79A2-6900-D19CC05C2C94}"/>
              </a:ext>
            </a:extLst>
          </p:cNvPr>
          <p:cNvPicPr>
            <a:picLocks noChangeAspect="1"/>
          </p:cNvPicPr>
          <p:nvPr/>
        </p:nvPicPr>
        <p:blipFill>
          <a:blip r:embed="rId3">
            <a:extLst>
              <a:ext uri="{28A0092B-C50C-407E-A947-70E740481C1C}">
                <a14:useLocalDpi xmlns:a14="http://schemas.microsoft.com/office/drawing/2010/main" val="0"/>
              </a:ext>
            </a:extLst>
          </a:blip>
          <a:srcRect l="2252" t="20534" r="2989" b="6049"/>
          <a:stretch>
            <a:fillRect/>
          </a:stretch>
        </p:blipFill>
        <p:spPr>
          <a:xfrm>
            <a:off x="7746511" y="2666999"/>
            <a:ext cx="9958029" cy="495300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2" name="Freeform 2"/>
          <p:cNvSpPr/>
          <p:nvPr/>
        </p:nvSpPr>
        <p:spPr>
          <a:xfrm>
            <a:off x="6929299" y="1028700"/>
            <a:ext cx="11151220" cy="8229600"/>
          </a:xfrm>
          <a:custGeom>
            <a:avLst/>
            <a:gdLst/>
            <a:ahLst/>
            <a:cxnLst/>
            <a:rect l="l" t="t" r="r" b="b"/>
            <a:pathLst>
              <a:path w="11151220" h="8229600">
                <a:moveTo>
                  <a:pt x="0" y="0"/>
                </a:moveTo>
                <a:lnTo>
                  <a:pt x="11151220" y="0"/>
                </a:lnTo>
                <a:lnTo>
                  <a:pt x="11151220" y="8229600"/>
                </a:lnTo>
                <a:lnTo>
                  <a:pt x="0" y="8229600"/>
                </a:lnTo>
                <a:lnTo>
                  <a:pt x="0" y="0"/>
                </a:lnTo>
                <a:close/>
              </a:path>
            </a:pathLst>
          </a:custGeom>
          <a:blipFill>
            <a:blip r:embed="rId2"/>
            <a:stretch>
              <a:fillRect/>
            </a:stretch>
          </a:blipFill>
        </p:spPr>
      </p:sp>
      <p:pic>
        <p:nvPicPr>
          <p:cNvPr id="3" name="Picture 3"/>
          <p:cNvPicPr>
            <a:picLocks noChangeAspect="1"/>
          </p:cNvPicPr>
          <p:nvPr/>
        </p:nvPicPr>
        <p:blipFill>
          <a:blip r:embed="rId3"/>
          <a:srcRect/>
          <a:stretch>
            <a:fillRect/>
          </a:stretch>
        </p:blipFill>
        <p:spPr>
          <a:xfrm>
            <a:off x="6929299" y="3799907"/>
            <a:ext cx="3631677" cy="1634255"/>
          </a:xfrm>
          <a:prstGeom prst="rect">
            <a:avLst/>
          </a:prstGeom>
        </p:spPr>
      </p:pic>
      <p:sp>
        <p:nvSpPr>
          <p:cNvPr id="4" name="TextBox 4"/>
          <p:cNvSpPr txBox="1"/>
          <p:nvPr/>
        </p:nvSpPr>
        <p:spPr>
          <a:xfrm>
            <a:off x="614336" y="4113515"/>
            <a:ext cx="12902433" cy="1665833"/>
          </a:xfrm>
          <a:prstGeom prst="rect">
            <a:avLst/>
          </a:prstGeom>
        </p:spPr>
        <p:txBody>
          <a:bodyPr lIns="0" tIns="0" rIns="0" bIns="0" rtlCol="0" anchor="t">
            <a:spAutoFit/>
          </a:bodyPr>
          <a:lstStyle/>
          <a:p>
            <a:pPr algn="l">
              <a:lnSpc>
                <a:spcPts val="6517"/>
              </a:lnSpc>
            </a:pPr>
            <a:r>
              <a:rPr lang="en-US" sz="5523" spc="-60">
                <a:solidFill>
                  <a:srgbClr val="FFFFFF"/>
                </a:solidFill>
                <a:latin typeface="Public Sans"/>
                <a:ea typeface="Public Sans"/>
                <a:cs typeface="Public Sans"/>
                <a:sym typeface="Public Sans"/>
              </a:rPr>
              <a:t>     Let’s Explore    </a:t>
            </a:r>
          </a:p>
          <a:p>
            <a:pPr algn="l">
              <a:lnSpc>
                <a:spcPts val="6517"/>
              </a:lnSpc>
            </a:pPr>
            <a:r>
              <a:rPr lang="en-US" sz="5523" spc="-60">
                <a:solidFill>
                  <a:srgbClr val="FFFFFF"/>
                </a:solidFill>
                <a:latin typeface="Public Sans"/>
                <a:ea typeface="Public Sans"/>
                <a:cs typeface="Public Sans"/>
                <a:sym typeface="Public Sans"/>
              </a:rPr>
              <a:t>        Dashboard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grpSp>
        <p:nvGrpSpPr>
          <p:cNvPr id="2" name="Group 2"/>
          <p:cNvGrpSpPr/>
          <p:nvPr/>
        </p:nvGrpSpPr>
        <p:grpSpPr>
          <a:xfrm>
            <a:off x="2590800" y="723900"/>
            <a:ext cx="12573000" cy="8382000"/>
            <a:chOff x="0" y="0"/>
            <a:chExt cx="19398238" cy="12432546"/>
          </a:xfrm>
        </p:grpSpPr>
        <p:sp>
          <p:nvSpPr>
            <p:cNvPr id="3" name="Freeform 3"/>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CF59EB29-1D0B-69E8-F638-D0814B0B4BB8}"/>
              </a:ext>
            </a:extLst>
          </p:cNvPr>
          <p:cNvPicPr>
            <a:picLocks noChangeAspect="1"/>
          </p:cNvPicPr>
          <p:nvPr/>
        </p:nvPicPr>
        <p:blipFill>
          <a:blip r:embed="rId3">
            <a:extLst>
              <a:ext uri="{28A0092B-C50C-407E-A947-70E740481C1C}">
                <a14:useLocalDpi xmlns:a14="http://schemas.microsoft.com/office/drawing/2010/main" val="0"/>
              </a:ext>
            </a:extLst>
          </a:blip>
          <a:srcRect t="9045"/>
          <a:stretch>
            <a:fillRect/>
          </a:stretch>
        </p:blipFill>
        <p:spPr>
          <a:xfrm>
            <a:off x="3482807" y="1485900"/>
            <a:ext cx="10788985" cy="6019800"/>
          </a:xfrm>
          <a:prstGeom prst="rect">
            <a:avLst/>
          </a:prstGeom>
        </p:spPr>
      </p:pic>
      <p:pic>
        <p:nvPicPr>
          <p:cNvPr id="4" name="Picture 4"/>
          <p:cNvPicPr>
            <a:picLocks noChangeAspect="1"/>
          </p:cNvPicPr>
          <p:nvPr/>
        </p:nvPicPr>
        <p:blipFill>
          <a:blip r:embed="rId4"/>
          <a:srcRect/>
          <a:stretch>
            <a:fillRect/>
          </a:stretch>
        </p:blipFill>
        <p:spPr>
          <a:xfrm>
            <a:off x="4267200" y="2400300"/>
            <a:ext cx="696015" cy="82368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C0B1D833-01B9-7F53-4CE3-056DEA8A884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BF90A7A-C649-EA10-5326-A175F52CFCDE}"/>
              </a:ext>
            </a:extLst>
          </p:cNvPr>
          <p:cNvGrpSpPr/>
          <p:nvPr/>
        </p:nvGrpSpPr>
        <p:grpSpPr>
          <a:xfrm>
            <a:off x="2590800" y="723900"/>
            <a:ext cx="12573000" cy="8382000"/>
            <a:chOff x="0" y="0"/>
            <a:chExt cx="19398238" cy="12432546"/>
          </a:xfrm>
        </p:grpSpPr>
        <p:sp>
          <p:nvSpPr>
            <p:cNvPr id="3" name="Freeform 3">
              <a:extLst>
                <a:ext uri="{FF2B5EF4-FFF2-40B4-BE49-F238E27FC236}">
                  <a16:creationId xmlns:a16="http://schemas.microsoft.com/office/drawing/2014/main" id="{C8115565-9898-209B-E8A3-5273729DDD4E}"/>
                </a:ext>
              </a:extLst>
            </p:cNvPr>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7464DC2E-0847-1A74-A523-FA9A7D96134E}"/>
              </a:ext>
            </a:extLst>
          </p:cNvPr>
          <p:cNvPicPr>
            <a:picLocks noChangeAspect="1"/>
          </p:cNvPicPr>
          <p:nvPr/>
        </p:nvPicPr>
        <p:blipFill>
          <a:blip r:embed="rId3">
            <a:extLst>
              <a:ext uri="{28A0092B-C50C-407E-A947-70E740481C1C}">
                <a14:useLocalDpi xmlns:a14="http://schemas.microsoft.com/office/drawing/2010/main" val="0"/>
              </a:ext>
            </a:extLst>
          </a:blip>
          <a:srcRect t="9275" b="7102"/>
          <a:stretch>
            <a:fillRect/>
          </a:stretch>
        </p:blipFill>
        <p:spPr>
          <a:xfrm>
            <a:off x="3482807" y="1562100"/>
            <a:ext cx="10788985" cy="5715000"/>
          </a:xfrm>
          <a:prstGeom prst="rect">
            <a:avLst/>
          </a:prstGeom>
        </p:spPr>
      </p:pic>
      <p:pic>
        <p:nvPicPr>
          <p:cNvPr id="4" name="Picture 4">
            <a:extLst>
              <a:ext uri="{FF2B5EF4-FFF2-40B4-BE49-F238E27FC236}">
                <a16:creationId xmlns:a16="http://schemas.microsoft.com/office/drawing/2014/main" id="{51BE9ACC-E3DB-3F8D-177B-C056499044DB}"/>
              </a:ext>
            </a:extLst>
          </p:cNvPr>
          <p:cNvPicPr>
            <a:picLocks noChangeAspect="1"/>
          </p:cNvPicPr>
          <p:nvPr/>
        </p:nvPicPr>
        <p:blipFill>
          <a:blip r:embed="rId4"/>
          <a:srcRect/>
          <a:stretch>
            <a:fillRect/>
          </a:stretch>
        </p:blipFill>
        <p:spPr>
          <a:xfrm>
            <a:off x="4267200" y="2857500"/>
            <a:ext cx="696015" cy="823687"/>
          </a:xfrm>
          <a:prstGeom prst="rect">
            <a:avLst/>
          </a:prstGeom>
        </p:spPr>
      </p:pic>
    </p:spTree>
    <p:extLst>
      <p:ext uri="{BB962C8B-B14F-4D97-AF65-F5344CB8AC3E}">
        <p14:creationId xmlns:p14="http://schemas.microsoft.com/office/powerpoint/2010/main" val="2478776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B9D0C184-10FC-9CDC-DDA3-80E2CA74955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E0A891A-52DD-0532-2E55-5AE78E559B72}"/>
              </a:ext>
            </a:extLst>
          </p:cNvPr>
          <p:cNvGrpSpPr/>
          <p:nvPr/>
        </p:nvGrpSpPr>
        <p:grpSpPr>
          <a:xfrm>
            <a:off x="2590800" y="723900"/>
            <a:ext cx="12573000" cy="8382000"/>
            <a:chOff x="0" y="0"/>
            <a:chExt cx="19398238" cy="12432546"/>
          </a:xfrm>
        </p:grpSpPr>
        <p:sp>
          <p:nvSpPr>
            <p:cNvPr id="3" name="Freeform 3">
              <a:extLst>
                <a:ext uri="{FF2B5EF4-FFF2-40B4-BE49-F238E27FC236}">
                  <a16:creationId xmlns:a16="http://schemas.microsoft.com/office/drawing/2014/main" id="{18839A0A-76E4-F42E-0ECA-7872B48216EB}"/>
                </a:ext>
              </a:extLst>
            </p:cNvPr>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16455819-BAB7-EFBA-2DE5-6071ADE80E77}"/>
              </a:ext>
            </a:extLst>
          </p:cNvPr>
          <p:cNvPicPr>
            <a:picLocks noChangeAspect="1"/>
          </p:cNvPicPr>
          <p:nvPr/>
        </p:nvPicPr>
        <p:blipFill>
          <a:blip r:embed="rId3">
            <a:extLst>
              <a:ext uri="{28A0092B-C50C-407E-A947-70E740481C1C}">
                <a14:useLocalDpi xmlns:a14="http://schemas.microsoft.com/office/drawing/2010/main" val="0"/>
              </a:ext>
            </a:extLst>
          </a:blip>
          <a:srcRect t="9275" b="9275"/>
          <a:stretch/>
        </p:blipFill>
        <p:spPr>
          <a:xfrm>
            <a:off x="3482807" y="1562100"/>
            <a:ext cx="10788985" cy="5715000"/>
          </a:xfrm>
          <a:prstGeom prst="rect">
            <a:avLst/>
          </a:prstGeom>
        </p:spPr>
      </p:pic>
      <p:pic>
        <p:nvPicPr>
          <p:cNvPr id="4" name="Picture 4">
            <a:extLst>
              <a:ext uri="{FF2B5EF4-FFF2-40B4-BE49-F238E27FC236}">
                <a16:creationId xmlns:a16="http://schemas.microsoft.com/office/drawing/2014/main" id="{32477516-C767-E62D-A5D0-00B9EBADD407}"/>
              </a:ext>
            </a:extLst>
          </p:cNvPr>
          <p:cNvPicPr>
            <a:picLocks noChangeAspect="1"/>
          </p:cNvPicPr>
          <p:nvPr/>
        </p:nvPicPr>
        <p:blipFill>
          <a:blip r:embed="rId4"/>
          <a:srcRect/>
          <a:stretch>
            <a:fillRect/>
          </a:stretch>
        </p:blipFill>
        <p:spPr>
          <a:xfrm>
            <a:off x="6858000" y="3390900"/>
            <a:ext cx="696015" cy="823687"/>
          </a:xfrm>
          <a:prstGeom prst="rect">
            <a:avLst/>
          </a:prstGeom>
        </p:spPr>
      </p:pic>
    </p:spTree>
    <p:extLst>
      <p:ext uri="{BB962C8B-B14F-4D97-AF65-F5344CB8AC3E}">
        <p14:creationId xmlns:p14="http://schemas.microsoft.com/office/powerpoint/2010/main" val="787157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E068E94B-D2E1-14E6-23B5-F0B8D258374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C07CAB9-B257-1439-E64C-373B82EDFA9D}"/>
              </a:ext>
            </a:extLst>
          </p:cNvPr>
          <p:cNvGrpSpPr/>
          <p:nvPr/>
        </p:nvGrpSpPr>
        <p:grpSpPr>
          <a:xfrm>
            <a:off x="2590800" y="723900"/>
            <a:ext cx="12573000" cy="8382000"/>
            <a:chOff x="0" y="0"/>
            <a:chExt cx="19398238" cy="12432546"/>
          </a:xfrm>
        </p:grpSpPr>
        <p:sp>
          <p:nvSpPr>
            <p:cNvPr id="3" name="Freeform 3">
              <a:extLst>
                <a:ext uri="{FF2B5EF4-FFF2-40B4-BE49-F238E27FC236}">
                  <a16:creationId xmlns:a16="http://schemas.microsoft.com/office/drawing/2014/main" id="{5F425EC6-1D97-39DB-18A5-F5FEDA63EC92}"/>
                </a:ext>
              </a:extLst>
            </p:cNvPr>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232A83DF-C29C-D213-1862-B0C0D3E80104}"/>
              </a:ext>
            </a:extLst>
          </p:cNvPr>
          <p:cNvPicPr>
            <a:picLocks noChangeAspect="1"/>
          </p:cNvPicPr>
          <p:nvPr/>
        </p:nvPicPr>
        <p:blipFill>
          <a:blip r:embed="rId3">
            <a:extLst>
              <a:ext uri="{28A0092B-C50C-407E-A947-70E740481C1C}">
                <a14:useLocalDpi xmlns:a14="http://schemas.microsoft.com/office/drawing/2010/main" val="0"/>
              </a:ext>
            </a:extLst>
          </a:blip>
          <a:srcRect t="9275" b="9275"/>
          <a:stretch/>
        </p:blipFill>
        <p:spPr>
          <a:xfrm>
            <a:off x="3482807" y="1562100"/>
            <a:ext cx="10788985" cy="5715000"/>
          </a:xfrm>
          <a:prstGeom prst="rect">
            <a:avLst/>
          </a:prstGeom>
        </p:spPr>
      </p:pic>
      <p:pic>
        <p:nvPicPr>
          <p:cNvPr id="4" name="Picture 4">
            <a:extLst>
              <a:ext uri="{FF2B5EF4-FFF2-40B4-BE49-F238E27FC236}">
                <a16:creationId xmlns:a16="http://schemas.microsoft.com/office/drawing/2014/main" id="{C0AB77B6-678C-BED9-74B6-339CB6728546}"/>
              </a:ext>
            </a:extLst>
          </p:cNvPr>
          <p:cNvPicPr>
            <a:picLocks noChangeAspect="1"/>
          </p:cNvPicPr>
          <p:nvPr/>
        </p:nvPicPr>
        <p:blipFill>
          <a:blip r:embed="rId4"/>
          <a:srcRect/>
          <a:stretch>
            <a:fillRect/>
          </a:stretch>
        </p:blipFill>
        <p:spPr>
          <a:xfrm>
            <a:off x="12877800" y="6057900"/>
            <a:ext cx="696015" cy="823687"/>
          </a:xfrm>
          <a:prstGeom prst="rect">
            <a:avLst/>
          </a:prstGeom>
        </p:spPr>
      </p:pic>
    </p:spTree>
    <p:extLst>
      <p:ext uri="{BB962C8B-B14F-4D97-AF65-F5344CB8AC3E}">
        <p14:creationId xmlns:p14="http://schemas.microsoft.com/office/powerpoint/2010/main" val="3267533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C4CF8D43-13CE-E2E0-6521-A1258D21978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DBA7DD2-8B38-61E0-FF05-A16E7970677F}"/>
              </a:ext>
            </a:extLst>
          </p:cNvPr>
          <p:cNvGrpSpPr/>
          <p:nvPr/>
        </p:nvGrpSpPr>
        <p:grpSpPr>
          <a:xfrm>
            <a:off x="2590800" y="723900"/>
            <a:ext cx="12573000" cy="8382000"/>
            <a:chOff x="0" y="0"/>
            <a:chExt cx="19398238" cy="12432546"/>
          </a:xfrm>
        </p:grpSpPr>
        <p:sp>
          <p:nvSpPr>
            <p:cNvPr id="3" name="Freeform 3">
              <a:extLst>
                <a:ext uri="{FF2B5EF4-FFF2-40B4-BE49-F238E27FC236}">
                  <a16:creationId xmlns:a16="http://schemas.microsoft.com/office/drawing/2014/main" id="{0EFACF53-B9E8-1377-FB9E-CD5B7299F03A}"/>
                </a:ext>
              </a:extLst>
            </p:cNvPr>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D710AFF1-1391-9552-7DBA-CED415AF9AC9}"/>
              </a:ext>
            </a:extLst>
          </p:cNvPr>
          <p:cNvPicPr>
            <a:picLocks noChangeAspect="1"/>
          </p:cNvPicPr>
          <p:nvPr/>
        </p:nvPicPr>
        <p:blipFill>
          <a:blip r:embed="rId3">
            <a:extLst>
              <a:ext uri="{28A0092B-C50C-407E-A947-70E740481C1C}">
                <a14:useLocalDpi xmlns:a14="http://schemas.microsoft.com/office/drawing/2010/main" val="0"/>
              </a:ext>
            </a:extLst>
          </a:blip>
          <a:srcRect t="9275" b="9275"/>
          <a:stretch/>
        </p:blipFill>
        <p:spPr>
          <a:xfrm>
            <a:off x="3482807" y="1562100"/>
            <a:ext cx="10788985" cy="5715000"/>
          </a:xfrm>
          <a:prstGeom prst="rect">
            <a:avLst/>
          </a:prstGeom>
        </p:spPr>
      </p:pic>
      <p:pic>
        <p:nvPicPr>
          <p:cNvPr id="4" name="Picture 4">
            <a:extLst>
              <a:ext uri="{FF2B5EF4-FFF2-40B4-BE49-F238E27FC236}">
                <a16:creationId xmlns:a16="http://schemas.microsoft.com/office/drawing/2014/main" id="{00B492CB-2271-0012-0C31-8ACA18547B23}"/>
              </a:ext>
            </a:extLst>
          </p:cNvPr>
          <p:cNvPicPr>
            <a:picLocks noChangeAspect="1"/>
          </p:cNvPicPr>
          <p:nvPr/>
        </p:nvPicPr>
        <p:blipFill>
          <a:blip r:embed="rId4"/>
          <a:srcRect/>
          <a:stretch>
            <a:fillRect/>
          </a:stretch>
        </p:blipFill>
        <p:spPr>
          <a:xfrm>
            <a:off x="9176084" y="4129313"/>
            <a:ext cx="696015" cy="823687"/>
          </a:xfrm>
          <a:prstGeom prst="rect">
            <a:avLst/>
          </a:prstGeom>
        </p:spPr>
      </p:pic>
    </p:spTree>
    <p:extLst>
      <p:ext uri="{BB962C8B-B14F-4D97-AF65-F5344CB8AC3E}">
        <p14:creationId xmlns:p14="http://schemas.microsoft.com/office/powerpoint/2010/main" val="2728067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F2E79EE8-C39F-67B8-F1BB-289F66FB15A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9D132E5-EE94-6BD6-4A39-C43A69D0B9C8}"/>
              </a:ext>
            </a:extLst>
          </p:cNvPr>
          <p:cNvGrpSpPr/>
          <p:nvPr/>
        </p:nvGrpSpPr>
        <p:grpSpPr>
          <a:xfrm>
            <a:off x="2590800" y="723900"/>
            <a:ext cx="12573000" cy="8382000"/>
            <a:chOff x="0" y="0"/>
            <a:chExt cx="19398238" cy="12432546"/>
          </a:xfrm>
        </p:grpSpPr>
        <p:sp>
          <p:nvSpPr>
            <p:cNvPr id="3" name="Freeform 3">
              <a:extLst>
                <a:ext uri="{FF2B5EF4-FFF2-40B4-BE49-F238E27FC236}">
                  <a16:creationId xmlns:a16="http://schemas.microsoft.com/office/drawing/2014/main" id="{77F8A603-9059-7F64-E45B-F7E99669DA4C}"/>
                </a:ext>
              </a:extLst>
            </p:cNvPr>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DC95D487-C8B7-72D8-1921-83EE3C018EE1}"/>
              </a:ext>
            </a:extLst>
          </p:cNvPr>
          <p:cNvPicPr>
            <a:picLocks noChangeAspect="1"/>
          </p:cNvPicPr>
          <p:nvPr/>
        </p:nvPicPr>
        <p:blipFill>
          <a:blip r:embed="rId3">
            <a:extLst>
              <a:ext uri="{28A0092B-C50C-407E-A947-70E740481C1C}">
                <a14:useLocalDpi xmlns:a14="http://schemas.microsoft.com/office/drawing/2010/main" val="0"/>
              </a:ext>
            </a:extLst>
          </a:blip>
          <a:srcRect t="9275" b="9275"/>
          <a:stretch/>
        </p:blipFill>
        <p:spPr>
          <a:xfrm>
            <a:off x="3482807" y="1562100"/>
            <a:ext cx="10788985" cy="5715000"/>
          </a:xfrm>
          <a:prstGeom prst="rect">
            <a:avLst/>
          </a:prstGeom>
        </p:spPr>
      </p:pic>
      <p:pic>
        <p:nvPicPr>
          <p:cNvPr id="4" name="Picture 4">
            <a:extLst>
              <a:ext uri="{FF2B5EF4-FFF2-40B4-BE49-F238E27FC236}">
                <a16:creationId xmlns:a16="http://schemas.microsoft.com/office/drawing/2014/main" id="{F3EA04D0-FDAA-BED9-16C2-154934E2CE76}"/>
              </a:ext>
            </a:extLst>
          </p:cNvPr>
          <p:cNvPicPr>
            <a:picLocks noChangeAspect="1"/>
          </p:cNvPicPr>
          <p:nvPr/>
        </p:nvPicPr>
        <p:blipFill>
          <a:blip r:embed="rId4"/>
          <a:srcRect/>
          <a:stretch>
            <a:fillRect/>
          </a:stretch>
        </p:blipFill>
        <p:spPr>
          <a:xfrm>
            <a:off x="6553200" y="2781300"/>
            <a:ext cx="696015" cy="823687"/>
          </a:xfrm>
          <a:prstGeom prst="rect">
            <a:avLst/>
          </a:prstGeom>
        </p:spPr>
      </p:pic>
    </p:spTree>
    <p:extLst>
      <p:ext uri="{BB962C8B-B14F-4D97-AF65-F5344CB8AC3E}">
        <p14:creationId xmlns:p14="http://schemas.microsoft.com/office/powerpoint/2010/main" val="3551207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877B6F00-06AE-FE8A-EB5B-77A4B0DFFB8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7BFA19C-6792-B92E-C944-AFE727ACF2A2}"/>
              </a:ext>
            </a:extLst>
          </p:cNvPr>
          <p:cNvGrpSpPr/>
          <p:nvPr/>
        </p:nvGrpSpPr>
        <p:grpSpPr>
          <a:xfrm>
            <a:off x="2590800" y="723900"/>
            <a:ext cx="12573000" cy="8382000"/>
            <a:chOff x="0" y="0"/>
            <a:chExt cx="19398238" cy="12432546"/>
          </a:xfrm>
        </p:grpSpPr>
        <p:sp>
          <p:nvSpPr>
            <p:cNvPr id="3" name="Freeform 3">
              <a:extLst>
                <a:ext uri="{FF2B5EF4-FFF2-40B4-BE49-F238E27FC236}">
                  <a16:creationId xmlns:a16="http://schemas.microsoft.com/office/drawing/2014/main" id="{216EF166-7111-3F0F-4544-51F2A9D9ED8F}"/>
                </a:ext>
              </a:extLst>
            </p:cNvPr>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BD9A1807-B3A0-AD30-342D-32855AAB1C1A}"/>
              </a:ext>
            </a:extLst>
          </p:cNvPr>
          <p:cNvPicPr>
            <a:picLocks noChangeAspect="1"/>
          </p:cNvPicPr>
          <p:nvPr/>
        </p:nvPicPr>
        <p:blipFill>
          <a:blip r:embed="rId3">
            <a:extLst>
              <a:ext uri="{28A0092B-C50C-407E-A947-70E740481C1C}">
                <a14:useLocalDpi xmlns:a14="http://schemas.microsoft.com/office/drawing/2010/main" val="0"/>
              </a:ext>
            </a:extLst>
          </a:blip>
          <a:srcRect t="9275" b="1757"/>
          <a:stretch>
            <a:fillRect/>
          </a:stretch>
        </p:blipFill>
        <p:spPr>
          <a:xfrm>
            <a:off x="3482807" y="1485900"/>
            <a:ext cx="10788985" cy="5791200"/>
          </a:xfrm>
          <a:prstGeom prst="rect">
            <a:avLst/>
          </a:prstGeom>
        </p:spPr>
      </p:pic>
      <p:pic>
        <p:nvPicPr>
          <p:cNvPr id="4" name="Picture 4">
            <a:extLst>
              <a:ext uri="{FF2B5EF4-FFF2-40B4-BE49-F238E27FC236}">
                <a16:creationId xmlns:a16="http://schemas.microsoft.com/office/drawing/2014/main" id="{8DC922AA-A36D-EFA7-C2F0-52D83CE09BD7}"/>
              </a:ext>
            </a:extLst>
          </p:cNvPr>
          <p:cNvPicPr>
            <a:picLocks noChangeAspect="1"/>
          </p:cNvPicPr>
          <p:nvPr/>
        </p:nvPicPr>
        <p:blipFill>
          <a:blip r:embed="rId4"/>
          <a:srcRect/>
          <a:stretch>
            <a:fillRect/>
          </a:stretch>
        </p:blipFill>
        <p:spPr>
          <a:xfrm>
            <a:off x="12954000" y="3314700"/>
            <a:ext cx="696015" cy="823687"/>
          </a:xfrm>
          <a:prstGeom prst="rect">
            <a:avLst/>
          </a:prstGeom>
        </p:spPr>
      </p:pic>
    </p:spTree>
    <p:extLst>
      <p:ext uri="{BB962C8B-B14F-4D97-AF65-F5344CB8AC3E}">
        <p14:creationId xmlns:p14="http://schemas.microsoft.com/office/powerpoint/2010/main" val="343284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TextBox 2"/>
          <p:cNvSpPr txBox="1"/>
          <p:nvPr/>
        </p:nvSpPr>
        <p:spPr>
          <a:xfrm>
            <a:off x="617220" y="822961"/>
            <a:ext cx="9085372" cy="646331"/>
          </a:xfrm>
          <a:prstGeom prst="rect">
            <a:avLst/>
          </a:prstGeom>
          <a:noFill/>
        </p:spPr>
        <p:txBody>
          <a:bodyPr wrap="none">
            <a:spAutoFit/>
          </a:bodyPr>
          <a:lstStyle/>
          <a:p>
            <a:pPr algn="l"/>
            <a:r>
              <a:rPr sz="3600" b="1">
                <a:solidFill>
                  <a:schemeClr val="accent4">
                    <a:lumMod val="75000"/>
                  </a:schemeClr>
                </a:solidFill>
                <a:latin typeface="Aptos"/>
              </a:rPr>
              <a:t>Pose Estimation &amp; Biomechanical Analysis</a:t>
            </a:r>
          </a:p>
        </p:txBody>
      </p:sp>
      <p:sp>
        <p:nvSpPr>
          <p:cNvPr id="7" name="TextBox 6"/>
          <p:cNvSpPr txBox="1"/>
          <p:nvPr/>
        </p:nvSpPr>
        <p:spPr>
          <a:xfrm>
            <a:off x="754381" y="2221992"/>
            <a:ext cx="2104487" cy="369332"/>
          </a:xfrm>
          <a:prstGeom prst="rect">
            <a:avLst/>
          </a:prstGeom>
          <a:noFill/>
        </p:spPr>
        <p:txBody>
          <a:bodyPr wrap="none">
            <a:spAutoFit/>
          </a:bodyPr>
          <a:lstStyle/>
          <a:p>
            <a:pPr algn="l"/>
            <a:r>
              <a:rPr b="1">
                <a:solidFill>
                  <a:schemeClr val="accent4">
                    <a:lumMod val="75000"/>
                  </a:schemeClr>
                </a:solidFill>
                <a:latin typeface="Aptos"/>
              </a:rPr>
              <a:t>POSE ESTIMATION</a:t>
            </a:r>
          </a:p>
        </p:txBody>
      </p:sp>
      <p:sp>
        <p:nvSpPr>
          <p:cNvPr id="8" name="Rounded Rectangle 7"/>
          <p:cNvSpPr/>
          <p:nvPr/>
        </p:nvSpPr>
        <p:spPr>
          <a:xfrm>
            <a:off x="754380" y="2743200"/>
            <a:ext cx="5448150" cy="349758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9" name="TextBox 8"/>
          <p:cNvSpPr txBox="1"/>
          <p:nvPr/>
        </p:nvSpPr>
        <p:spPr>
          <a:xfrm>
            <a:off x="1097280" y="3086101"/>
            <a:ext cx="2407582" cy="461665"/>
          </a:xfrm>
          <a:prstGeom prst="rect">
            <a:avLst/>
          </a:prstGeom>
          <a:noFill/>
        </p:spPr>
        <p:txBody>
          <a:bodyPr wrap="none">
            <a:spAutoFit/>
          </a:bodyPr>
          <a:lstStyle/>
          <a:p>
            <a:pPr algn="l"/>
            <a:r>
              <a:rPr sz="2400" b="1">
                <a:solidFill>
                  <a:srgbClr val="F0F5F8"/>
                </a:solidFill>
                <a:latin typeface="Aptos"/>
              </a:rPr>
              <a:t>MediaPipe Pose</a:t>
            </a:r>
          </a:p>
        </p:txBody>
      </p:sp>
      <p:sp>
        <p:nvSpPr>
          <p:cNvPr id="10" name="TextBox 9"/>
          <p:cNvSpPr txBox="1"/>
          <p:nvPr/>
        </p:nvSpPr>
        <p:spPr>
          <a:xfrm>
            <a:off x="1097281" y="3730753"/>
            <a:ext cx="4194931" cy="304571"/>
          </a:xfrm>
          <a:prstGeom prst="rect">
            <a:avLst/>
          </a:prstGeom>
          <a:noFill/>
        </p:spPr>
        <p:txBody>
          <a:bodyPr wrap="none">
            <a:spAutoFit/>
          </a:bodyPr>
          <a:lstStyle/>
          <a:p>
            <a:pPr algn="l"/>
            <a:r>
              <a:rPr sz="1379">
                <a:solidFill>
                  <a:schemeClr val="bg1"/>
                </a:solidFill>
                <a:latin typeface="Aptos"/>
              </a:rPr>
              <a:t>• Detects athlete body landmarks from video frames.</a:t>
            </a:r>
          </a:p>
        </p:txBody>
      </p:sp>
      <p:sp>
        <p:nvSpPr>
          <p:cNvPr id="11" name="TextBox 10"/>
          <p:cNvSpPr txBox="1"/>
          <p:nvPr/>
        </p:nvSpPr>
        <p:spPr>
          <a:xfrm>
            <a:off x="1097280" y="4320541"/>
            <a:ext cx="2491836" cy="304571"/>
          </a:xfrm>
          <a:prstGeom prst="rect">
            <a:avLst/>
          </a:prstGeom>
          <a:noFill/>
        </p:spPr>
        <p:txBody>
          <a:bodyPr wrap="none">
            <a:spAutoFit/>
          </a:bodyPr>
          <a:lstStyle/>
          <a:p>
            <a:pPr algn="l"/>
            <a:r>
              <a:rPr sz="1379">
                <a:solidFill>
                  <a:schemeClr val="bg1"/>
                </a:solidFill>
                <a:latin typeface="Aptos"/>
              </a:rPr>
              <a:t>• Provides 33 pose landmarks.</a:t>
            </a:r>
          </a:p>
        </p:txBody>
      </p:sp>
      <p:sp>
        <p:nvSpPr>
          <p:cNvPr id="12" name="TextBox 11"/>
          <p:cNvSpPr txBox="1"/>
          <p:nvPr/>
        </p:nvSpPr>
        <p:spPr>
          <a:xfrm>
            <a:off x="1097280" y="4910329"/>
            <a:ext cx="5081648" cy="304571"/>
          </a:xfrm>
          <a:prstGeom prst="rect">
            <a:avLst/>
          </a:prstGeom>
          <a:noFill/>
        </p:spPr>
        <p:txBody>
          <a:bodyPr wrap="none">
            <a:spAutoFit/>
          </a:bodyPr>
          <a:lstStyle/>
          <a:p>
            <a:pPr algn="l"/>
            <a:r>
              <a:rPr sz="1379">
                <a:solidFill>
                  <a:schemeClr val="bg1"/>
                </a:solidFill>
                <a:latin typeface="Aptos"/>
              </a:rPr>
              <a:t>• Maps required points to a 17-point COCO-style representation.</a:t>
            </a:r>
          </a:p>
        </p:txBody>
      </p:sp>
      <p:sp>
        <p:nvSpPr>
          <p:cNvPr id="13" name="TextBox 12"/>
          <p:cNvSpPr txBox="1"/>
          <p:nvPr/>
        </p:nvSpPr>
        <p:spPr>
          <a:xfrm>
            <a:off x="1097281" y="5500117"/>
            <a:ext cx="5053563" cy="304571"/>
          </a:xfrm>
          <a:prstGeom prst="rect">
            <a:avLst/>
          </a:prstGeom>
          <a:noFill/>
        </p:spPr>
        <p:txBody>
          <a:bodyPr wrap="none">
            <a:spAutoFit/>
          </a:bodyPr>
          <a:lstStyle/>
          <a:p>
            <a:pPr algn="l"/>
            <a:r>
              <a:rPr sz="1379">
                <a:solidFill>
                  <a:schemeClr val="bg1"/>
                </a:solidFill>
                <a:latin typeface="Aptos"/>
              </a:rPr>
              <a:t>• Tracks shoulder, elbow, hip, knee, ankle and other body points.</a:t>
            </a:r>
          </a:p>
        </p:txBody>
      </p:sp>
      <p:sp>
        <p:nvSpPr>
          <p:cNvPr id="14" name="TextBox 13"/>
          <p:cNvSpPr txBox="1"/>
          <p:nvPr/>
        </p:nvSpPr>
        <p:spPr>
          <a:xfrm>
            <a:off x="754380" y="6556249"/>
            <a:ext cx="1794402" cy="323165"/>
          </a:xfrm>
          <a:prstGeom prst="rect">
            <a:avLst/>
          </a:prstGeom>
          <a:noFill/>
        </p:spPr>
        <p:txBody>
          <a:bodyPr wrap="none">
            <a:spAutoFit/>
          </a:bodyPr>
          <a:lstStyle/>
          <a:p>
            <a:pPr algn="l"/>
            <a:r>
              <a:rPr sz="1500" b="1">
                <a:solidFill>
                  <a:schemeClr val="accent4">
                    <a:lumMod val="75000"/>
                  </a:schemeClr>
                </a:solidFill>
                <a:latin typeface="Aptos"/>
              </a:rPr>
              <a:t>Key tracked points</a:t>
            </a:r>
          </a:p>
        </p:txBody>
      </p:sp>
      <p:sp>
        <p:nvSpPr>
          <p:cNvPr id="15" name="Rounded Rectangle 14"/>
          <p:cNvSpPr/>
          <p:nvPr/>
        </p:nvSpPr>
        <p:spPr>
          <a:xfrm>
            <a:off x="754380" y="6995160"/>
            <a:ext cx="1741932" cy="34290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TextBox 15"/>
          <p:cNvSpPr txBox="1"/>
          <p:nvPr/>
        </p:nvSpPr>
        <p:spPr>
          <a:xfrm>
            <a:off x="1217577" y="7070597"/>
            <a:ext cx="801823" cy="281295"/>
          </a:xfrm>
          <a:prstGeom prst="rect">
            <a:avLst/>
          </a:prstGeom>
          <a:noFill/>
        </p:spPr>
        <p:txBody>
          <a:bodyPr wrap="none">
            <a:spAutoFit/>
          </a:bodyPr>
          <a:lstStyle/>
          <a:p>
            <a:pPr algn="ctr"/>
            <a:r>
              <a:rPr sz="1228">
                <a:solidFill>
                  <a:srgbClr val="F0F5F8"/>
                </a:solidFill>
                <a:latin typeface="Aptos"/>
              </a:rPr>
              <a:t>Shoulder</a:t>
            </a:r>
          </a:p>
        </p:txBody>
      </p:sp>
      <p:sp>
        <p:nvSpPr>
          <p:cNvPr id="17" name="Rounded Rectangle 16"/>
          <p:cNvSpPr/>
          <p:nvPr/>
        </p:nvSpPr>
        <p:spPr>
          <a:xfrm>
            <a:off x="2743200" y="6995160"/>
            <a:ext cx="1741932" cy="34290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3306551" y="7070597"/>
            <a:ext cx="601511" cy="281295"/>
          </a:xfrm>
          <a:prstGeom prst="rect">
            <a:avLst/>
          </a:prstGeom>
          <a:noFill/>
        </p:spPr>
        <p:txBody>
          <a:bodyPr wrap="none">
            <a:spAutoFit/>
          </a:bodyPr>
          <a:lstStyle/>
          <a:p>
            <a:pPr algn="ctr"/>
            <a:r>
              <a:rPr sz="1228">
                <a:solidFill>
                  <a:srgbClr val="F0F5F8"/>
                </a:solidFill>
                <a:latin typeface="Aptos"/>
              </a:rPr>
              <a:t>Elbow</a:t>
            </a:r>
          </a:p>
        </p:txBody>
      </p:sp>
      <p:sp>
        <p:nvSpPr>
          <p:cNvPr id="19" name="Rounded Rectangle 18"/>
          <p:cNvSpPr/>
          <p:nvPr/>
        </p:nvSpPr>
        <p:spPr>
          <a:xfrm>
            <a:off x="4732020" y="6991467"/>
            <a:ext cx="1741932" cy="34290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0" name="TextBox 19"/>
          <p:cNvSpPr txBox="1"/>
          <p:nvPr/>
        </p:nvSpPr>
        <p:spPr>
          <a:xfrm>
            <a:off x="5385974" y="7066904"/>
            <a:ext cx="420307" cy="281295"/>
          </a:xfrm>
          <a:prstGeom prst="rect">
            <a:avLst/>
          </a:prstGeom>
          <a:noFill/>
        </p:spPr>
        <p:txBody>
          <a:bodyPr wrap="none">
            <a:spAutoFit/>
          </a:bodyPr>
          <a:lstStyle/>
          <a:p>
            <a:pPr algn="ctr"/>
            <a:r>
              <a:rPr sz="1228">
                <a:solidFill>
                  <a:srgbClr val="F0F5F8"/>
                </a:solidFill>
                <a:latin typeface="Aptos"/>
              </a:rPr>
              <a:t>Hip</a:t>
            </a:r>
          </a:p>
        </p:txBody>
      </p:sp>
      <p:sp>
        <p:nvSpPr>
          <p:cNvPr id="21" name="Rounded Rectangle 20"/>
          <p:cNvSpPr/>
          <p:nvPr/>
        </p:nvSpPr>
        <p:spPr>
          <a:xfrm>
            <a:off x="6720840" y="7001018"/>
            <a:ext cx="1741932" cy="34290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TextBox 21"/>
          <p:cNvSpPr txBox="1"/>
          <p:nvPr/>
        </p:nvSpPr>
        <p:spPr>
          <a:xfrm>
            <a:off x="7321413" y="7076455"/>
            <a:ext cx="527067" cy="281295"/>
          </a:xfrm>
          <a:prstGeom prst="rect">
            <a:avLst/>
          </a:prstGeom>
          <a:noFill/>
        </p:spPr>
        <p:txBody>
          <a:bodyPr wrap="none">
            <a:spAutoFit/>
          </a:bodyPr>
          <a:lstStyle/>
          <a:p>
            <a:pPr algn="ctr"/>
            <a:r>
              <a:rPr sz="1228">
                <a:solidFill>
                  <a:srgbClr val="F0F5F8"/>
                </a:solidFill>
                <a:latin typeface="Aptos"/>
              </a:rPr>
              <a:t>Knee</a:t>
            </a:r>
          </a:p>
        </p:txBody>
      </p:sp>
      <p:sp>
        <p:nvSpPr>
          <p:cNvPr id="23" name="Rounded Rectangle 22"/>
          <p:cNvSpPr/>
          <p:nvPr/>
        </p:nvSpPr>
        <p:spPr>
          <a:xfrm>
            <a:off x="8741163" y="7001018"/>
            <a:ext cx="1741932" cy="34290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4" name="TextBox 23"/>
          <p:cNvSpPr txBox="1"/>
          <p:nvPr/>
        </p:nvSpPr>
        <p:spPr>
          <a:xfrm>
            <a:off x="9322180" y="7076456"/>
            <a:ext cx="566181" cy="281295"/>
          </a:xfrm>
          <a:prstGeom prst="rect">
            <a:avLst/>
          </a:prstGeom>
          <a:noFill/>
        </p:spPr>
        <p:txBody>
          <a:bodyPr wrap="none">
            <a:spAutoFit/>
          </a:bodyPr>
          <a:lstStyle/>
          <a:p>
            <a:pPr algn="ctr"/>
            <a:r>
              <a:rPr sz="1228">
                <a:solidFill>
                  <a:srgbClr val="F0F5F8"/>
                </a:solidFill>
                <a:latin typeface="Aptos"/>
              </a:rPr>
              <a:t>Ankle</a:t>
            </a:r>
          </a:p>
        </p:txBody>
      </p:sp>
      <p:sp>
        <p:nvSpPr>
          <p:cNvPr id="25" name="Rounded Rectangle 24"/>
          <p:cNvSpPr/>
          <p:nvPr/>
        </p:nvSpPr>
        <p:spPr>
          <a:xfrm>
            <a:off x="10729983" y="7001018"/>
            <a:ext cx="1741932" cy="34290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11348862" y="7076456"/>
            <a:ext cx="490454" cy="281295"/>
          </a:xfrm>
          <a:prstGeom prst="rect">
            <a:avLst/>
          </a:prstGeom>
          <a:noFill/>
        </p:spPr>
        <p:txBody>
          <a:bodyPr wrap="none">
            <a:spAutoFit/>
          </a:bodyPr>
          <a:lstStyle/>
          <a:p>
            <a:pPr algn="ctr"/>
            <a:r>
              <a:rPr sz="1228">
                <a:solidFill>
                  <a:srgbClr val="F0F5F8"/>
                </a:solidFill>
                <a:latin typeface="Aptos"/>
              </a:rPr>
              <a:t>Foot</a:t>
            </a:r>
          </a:p>
        </p:txBody>
      </p:sp>
      <p:sp>
        <p:nvSpPr>
          <p:cNvPr id="27" name="TextBox 26"/>
          <p:cNvSpPr txBox="1"/>
          <p:nvPr/>
        </p:nvSpPr>
        <p:spPr>
          <a:xfrm>
            <a:off x="9888361" y="2221992"/>
            <a:ext cx="3089692" cy="369332"/>
          </a:xfrm>
          <a:prstGeom prst="rect">
            <a:avLst/>
          </a:prstGeom>
          <a:noFill/>
        </p:spPr>
        <p:txBody>
          <a:bodyPr wrap="none">
            <a:spAutoFit/>
          </a:bodyPr>
          <a:lstStyle/>
          <a:p>
            <a:pPr algn="l"/>
            <a:r>
              <a:rPr b="1">
                <a:solidFill>
                  <a:schemeClr val="accent4">
                    <a:lumMod val="75000"/>
                  </a:schemeClr>
                </a:solidFill>
                <a:latin typeface="Aptos"/>
              </a:rPr>
              <a:t>BIOMECHANICAL ANALYSIS</a:t>
            </a:r>
          </a:p>
        </p:txBody>
      </p:sp>
      <p:sp>
        <p:nvSpPr>
          <p:cNvPr id="28" name="Rounded Rectangle 27"/>
          <p:cNvSpPr/>
          <p:nvPr/>
        </p:nvSpPr>
        <p:spPr>
          <a:xfrm>
            <a:off x="6748914" y="3086101"/>
            <a:ext cx="4869180" cy="128930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9" name="TextBox 28"/>
          <p:cNvSpPr txBox="1"/>
          <p:nvPr/>
        </p:nvSpPr>
        <p:spPr>
          <a:xfrm>
            <a:off x="6968370" y="3278126"/>
            <a:ext cx="1566454" cy="323165"/>
          </a:xfrm>
          <a:prstGeom prst="rect">
            <a:avLst/>
          </a:prstGeom>
          <a:noFill/>
        </p:spPr>
        <p:txBody>
          <a:bodyPr wrap="none">
            <a:spAutoFit/>
          </a:bodyPr>
          <a:lstStyle/>
          <a:p>
            <a:pPr algn="l"/>
            <a:r>
              <a:rPr sz="1500" b="1">
                <a:solidFill>
                  <a:srgbClr val="F0F5F8"/>
                </a:solidFill>
                <a:latin typeface="Aptos"/>
              </a:rPr>
              <a:t>01 · Joint Angles</a:t>
            </a:r>
          </a:p>
        </p:txBody>
      </p:sp>
      <p:sp>
        <p:nvSpPr>
          <p:cNvPr id="30" name="TextBox 29"/>
          <p:cNvSpPr txBox="1"/>
          <p:nvPr/>
        </p:nvSpPr>
        <p:spPr>
          <a:xfrm>
            <a:off x="6968370" y="3634741"/>
            <a:ext cx="3883884" cy="283924"/>
          </a:xfrm>
          <a:prstGeom prst="rect">
            <a:avLst/>
          </a:prstGeom>
          <a:noFill/>
        </p:spPr>
        <p:txBody>
          <a:bodyPr wrap="none">
            <a:spAutoFit/>
          </a:bodyPr>
          <a:lstStyle/>
          <a:p>
            <a:pPr algn="l"/>
            <a:r>
              <a:rPr sz="1245">
                <a:solidFill>
                  <a:schemeClr val="bg1"/>
                </a:solidFill>
                <a:latin typeface="Aptos"/>
              </a:rPr>
              <a:t>Measures angles at joints such as the knee and elbow.</a:t>
            </a:r>
          </a:p>
        </p:txBody>
      </p:sp>
      <p:sp>
        <p:nvSpPr>
          <p:cNvPr id="31" name="Rounded Rectangle 30"/>
          <p:cNvSpPr/>
          <p:nvPr/>
        </p:nvSpPr>
        <p:spPr>
          <a:xfrm>
            <a:off x="11960994" y="3086101"/>
            <a:ext cx="4869180" cy="128930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TextBox 31"/>
          <p:cNvSpPr txBox="1"/>
          <p:nvPr/>
        </p:nvSpPr>
        <p:spPr>
          <a:xfrm>
            <a:off x="12180450" y="3278126"/>
            <a:ext cx="2109552" cy="323165"/>
          </a:xfrm>
          <a:prstGeom prst="rect">
            <a:avLst/>
          </a:prstGeom>
          <a:noFill/>
        </p:spPr>
        <p:txBody>
          <a:bodyPr wrap="none">
            <a:spAutoFit/>
          </a:bodyPr>
          <a:lstStyle/>
          <a:p>
            <a:pPr algn="l"/>
            <a:r>
              <a:rPr sz="1500" b="1">
                <a:solidFill>
                  <a:srgbClr val="F0F5F8"/>
                </a:solidFill>
                <a:latin typeface="Aptos"/>
              </a:rPr>
              <a:t>02 · Knee Valgus Proxy</a:t>
            </a:r>
          </a:p>
        </p:txBody>
      </p:sp>
      <p:sp>
        <p:nvSpPr>
          <p:cNvPr id="33" name="TextBox 32"/>
          <p:cNvSpPr txBox="1"/>
          <p:nvPr/>
        </p:nvSpPr>
        <p:spPr>
          <a:xfrm>
            <a:off x="12180451" y="3634741"/>
            <a:ext cx="4588763" cy="475515"/>
          </a:xfrm>
          <a:prstGeom prst="rect">
            <a:avLst/>
          </a:prstGeom>
          <a:noFill/>
        </p:spPr>
        <p:txBody>
          <a:bodyPr wrap="square">
            <a:spAutoFit/>
          </a:bodyPr>
          <a:lstStyle/>
          <a:p>
            <a:pPr algn="l"/>
            <a:r>
              <a:rPr sz="1245">
                <a:solidFill>
                  <a:schemeClr val="bg1"/>
                </a:solidFill>
                <a:latin typeface="Aptos"/>
              </a:rPr>
              <a:t>2D estimate of inward/outward knee alignment; directional, not clinical.</a:t>
            </a:r>
          </a:p>
        </p:txBody>
      </p:sp>
      <p:sp>
        <p:nvSpPr>
          <p:cNvPr id="34" name="Rounded Rectangle 33"/>
          <p:cNvSpPr/>
          <p:nvPr/>
        </p:nvSpPr>
        <p:spPr>
          <a:xfrm>
            <a:off x="6748914" y="4594861"/>
            <a:ext cx="4869180" cy="128930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chemeClr val="bg1"/>
              </a:solidFill>
            </a:endParaRPr>
          </a:p>
        </p:txBody>
      </p:sp>
      <p:sp>
        <p:nvSpPr>
          <p:cNvPr id="35" name="TextBox 34"/>
          <p:cNvSpPr txBox="1"/>
          <p:nvPr/>
        </p:nvSpPr>
        <p:spPr>
          <a:xfrm>
            <a:off x="6968370" y="4786886"/>
            <a:ext cx="1900970" cy="323165"/>
          </a:xfrm>
          <a:prstGeom prst="rect">
            <a:avLst/>
          </a:prstGeom>
          <a:noFill/>
        </p:spPr>
        <p:txBody>
          <a:bodyPr wrap="none">
            <a:spAutoFit/>
          </a:bodyPr>
          <a:lstStyle/>
          <a:p>
            <a:pPr algn="l"/>
            <a:r>
              <a:rPr sz="1500" b="1">
                <a:solidFill>
                  <a:srgbClr val="F0F5F8"/>
                </a:solidFill>
                <a:latin typeface="Aptos"/>
              </a:rPr>
              <a:t>03 · ROM Difference</a:t>
            </a:r>
          </a:p>
        </p:txBody>
      </p:sp>
      <p:sp>
        <p:nvSpPr>
          <p:cNvPr id="36" name="TextBox 35"/>
          <p:cNvSpPr txBox="1"/>
          <p:nvPr/>
        </p:nvSpPr>
        <p:spPr>
          <a:xfrm>
            <a:off x="6968371" y="5143501"/>
            <a:ext cx="4338367" cy="283924"/>
          </a:xfrm>
          <a:prstGeom prst="rect">
            <a:avLst/>
          </a:prstGeom>
          <a:noFill/>
        </p:spPr>
        <p:txBody>
          <a:bodyPr wrap="none">
            <a:spAutoFit/>
          </a:bodyPr>
          <a:lstStyle/>
          <a:p>
            <a:pPr algn="l"/>
            <a:r>
              <a:rPr sz="1245">
                <a:solidFill>
                  <a:schemeClr val="bg1"/>
                </a:solidFill>
                <a:latin typeface="Aptos"/>
              </a:rPr>
              <a:t>Compares left and right knee range of motion across the clip.</a:t>
            </a:r>
          </a:p>
        </p:txBody>
      </p:sp>
      <p:sp>
        <p:nvSpPr>
          <p:cNvPr id="37" name="Rounded Rectangle 36"/>
          <p:cNvSpPr/>
          <p:nvPr/>
        </p:nvSpPr>
        <p:spPr>
          <a:xfrm>
            <a:off x="11960994" y="4594861"/>
            <a:ext cx="4869180" cy="128930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8" name="TextBox 37"/>
          <p:cNvSpPr txBox="1"/>
          <p:nvPr/>
        </p:nvSpPr>
        <p:spPr>
          <a:xfrm>
            <a:off x="12180450" y="4786886"/>
            <a:ext cx="1470980" cy="323165"/>
          </a:xfrm>
          <a:prstGeom prst="rect">
            <a:avLst/>
          </a:prstGeom>
          <a:noFill/>
        </p:spPr>
        <p:txBody>
          <a:bodyPr wrap="none">
            <a:spAutoFit/>
          </a:bodyPr>
          <a:lstStyle/>
          <a:p>
            <a:pPr algn="l"/>
            <a:r>
              <a:rPr sz="1500" b="1">
                <a:solidFill>
                  <a:srgbClr val="F0F5F8"/>
                </a:solidFill>
                <a:latin typeface="Aptos"/>
              </a:rPr>
              <a:t>04 · Trunk Lean</a:t>
            </a:r>
          </a:p>
        </p:txBody>
      </p:sp>
      <p:sp>
        <p:nvSpPr>
          <p:cNvPr id="39" name="TextBox 38"/>
          <p:cNvSpPr txBox="1"/>
          <p:nvPr/>
        </p:nvSpPr>
        <p:spPr>
          <a:xfrm>
            <a:off x="12180450" y="5143501"/>
            <a:ext cx="3293722" cy="283924"/>
          </a:xfrm>
          <a:prstGeom prst="rect">
            <a:avLst/>
          </a:prstGeom>
          <a:noFill/>
        </p:spPr>
        <p:txBody>
          <a:bodyPr wrap="none">
            <a:spAutoFit/>
          </a:bodyPr>
          <a:lstStyle/>
          <a:p>
            <a:pPr algn="l"/>
            <a:r>
              <a:rPr sz="1245">
                <a:solidFill>
                  <a:schemeClr val="bg1"/>
                </a:solidFill>
                <a:latin typeface="Aptos"/>
              </a:rPr>
              <a:t>Measures upper-body lean during movement.</a:t>
            </a:r>
          </a:p>
        </p:txBody>
      </p:sp>
      <p:sp>
        <p:nvSpPr>
          <p:cNvPr id="43" name="TextBox 42"/>
          <p:cNvSpPr txBox="1"/>
          <p:nvPr/>
        </p:nvSpPr>
        <p:spPr>
          <a:xfrm>
            <a:off x="754380" y="8346696"/>
            <a:ext cx="1316771" cy="276999"/>
          </a:xfrm>
          <a:prstGeom prst="rect">
            <a:avLst/>
          </a:prstGeom>
          <a:noFill/>
        </p:spPr>
        <p:txBody>
          <a:bodyPr wrap="none">
            <a:spAutoFit/>
          </a:bodyPr>
          <a:lstStyle/>
          <a:p>
            <a:pPr algn="l"/>
            <a:r>
              <a:rPr sz="1200" b="1">
                <a:solidFill>
                  <a:schemeClr val="accent4">
                    <a:lumMod val="75000"/>
                  </a:schemeClr>
                </a:solidFill>
                <a:latin typeface="Aptos"/>
              </a:rPr>
              <a:t>ANALYSIS FLOW</a:t>
            </a:r>
          </a:p>
        </p:txBody>
      </p:sp>
      <p:sp>
        <p:nvSpPr>
          <p:cNvPr id="44" name="Rounded Rectangle 43"/>
          <p:cNvSpPr/>
          <p:nvPr/>
        </p:nvSpPr>
        <p:spPr>
          <a:xfrm>
            <a:off x="754380" y="8613648"/>
            <a:ext cx="1165860" cy="521208"/>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TextBox 44"/>
          <p:cNvSpPr txBox="1"/>
          <p:nvPr/>
        </p:nvSpPr>
        <p:spPr>
          <a:xfrm>
            <a:off x="1045403" y="8764525"/>
            <a:ext cx="583813" cy="276999"/>
          </a:xfrm>
          <a:prstGeom prst="rect">
            <a:avLst/>
          </a:prstGeom>
          <a:noFill/>
        </p:spPr>
        <p:txBody>
          <a:bodyPr wrap="none">
            <a:spAutoFit/>
          </a:bodyPr>
          <a:lstStyle/>
          <a:p>
            <a:pPr algn="ctr"/>
            <a:r>
              <a:rPr sz="1200" b="1">
                <a:solidFill>
                  <a:schemeClr val="bg1"/>
                </a:solidFill>
                <a:latin typeface="Aptos"/>
              </a:rPr>
              <a:t>Video</a:t>
            </a:r>
          </a:p>
        </p:txBody>
      </p:sp>
      <p:sp>
        <p:nvSpPr>
          <p:cNvPr id="46" name="TextBox 45"/>
          <p:cNvSpPr txBox="1"/>
          <p:nvPr/>
        </p:nvSpPr>
        <p:spPr>
          <a:xfrm>
            <a:off x="1936038" y="873709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47" name="Rounded Rectangle 46"/>
          <p:cNvSpPr/>
          <p:nvPr/>
        </p:nvSpPr>
        <p:spPr>
          <a:xfrm>
            <a:off x="2263140" y="8613648"/>
            <a:ext cx="1165860" cy="521208"/>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8" name="TextBox 47"/>
          <p:cNvSpPr txBox="1"/>
          <p:nvPr/>
        </p:nvSpPr>
        <p:spPr>
          <a:xfrm>
            <a:off x="2493601" y="8764525"/>
            <a:ext cx="704937" cy="276999"/>
          </a:xfrm>
          <a:prstGeom prst="rect">
            <a:avLst/>
          </a:prstGeom>
          <a:noFill/>
        </p:spPr>
        <p:txBody>
          <a:bodyPr wrap="none">
            <a:spAutoFit/>
          </a:bodyPr>
          <a:lstStyle/>
          <a:p>
            <a:pPr algn="ctr"/>
            <a:r>
              <a:rPr sz="1200" b="1">
                <a:solidFill>
                  <a:schemeClr val="bg1"/>
                </a:solidFill>
                <a:latin typeface="Aptos"/>
              </a:rPr>
              <a:t>Frames</a:t>
            </a:r>
          </a:p>
        </p:txBody>
      </p:sp>
      <p:sp>
        <p:nvSpPr>
          <p:cNvPr id="49" name="TextBox 48"/>
          <p:cNvSpPr txBox="1"/>
          <p:nvPr/>
        </p:nvSpPr>
        <p:spPr>
          <a:xfrm>
            <a:off x="3444798" y="873709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50" name="Rounded Rectangle 49"/>
          <p:cNvSpPr/>
          <p:nvPr/>
        </p:nvSpPr>
        <p:spPr>
          <a:xfrm>
            <a:off x="3771900" y="8613648"/>
            <a:ext cx="1851660" cy="521208"/>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TextBox 50"/>
          <p:cNvSpPr txBox="1"/>
          <p:nvPr/>
        </p:nvSpPr>
        <p:spPr>
          <a:xfrm>
            <a:off x="4050086" y="8764525"/>
            <a:ext cx="1295290" cy="276999"/>
          </a:xfrm>
          <a:prstGeom prst="rect">
            <a:avLst/>
          </a:prstGeom>
          <a:noFill/>
        </p:spPr>
        <p:txBody>
          <a:bodyPr wrap="none">
            <a:spAutoFit/>
          </a:bodyPr>
          <a:lstStyle/>
          <a:p>
            <a:pPr algn="ctr"/>
            <a:r>
              <a:rPr sz="1200" b="1">
                <a:solidFill>
                  <a:schemeClr val="bg1"/>
                </a:solidFill>
                <a:latin typeface="Aptos"/>
              </a:rPr>
              <a:t>MediaPipe Pose</a:t>
            </a:r>
          </a:p>
        </p:txBody>
      </p:sp>
      <p:sp>
        <p:nvSpPr>
          <p:cNvPr id="52" name="TextBox 51"/>
          <p:cNvSpPr txBox="1"/>
          <p:nvPr/>
        </p:nvSpPr>
        <p:spPr>
          <a:xfrm>
            <a:off x="5639357" y="873709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53" name="Rounded Rectangle 52"/>
          <p:cNvSpPr/>
          <p:nvPr/>
        </p:nvSpPr>
        <p:spPr>
          <a:xfrm>
            <a:off x="5966459" y="8613648"/>
            <a:ext cx="1783080" cy="521208"/>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4" name="TextBox 53"/>
          <p:cNvSpPr txBox="1"/>
          <p:nvPr/>
        </p:nvSpPr>
        <p:spPr>
          <a:xfrm>
            <a:off x="6184130" y="8764525"/>
            <a:ext cx="1347740" cy="276999"/>
          </a:xfrm>
          <a:prstGeom prst="rect">
            <a:avLst/>
          </a:prstGeom>
          <a:noFill/>
        </p:spPr>
        <p:txBody>
          <a:bodyPr wrap="none">
            <a:spAutoFit/>
          </a:bodyPr>
          <a:lstStyle/>
          <a:p>
            <a:pPr algn="ctr"/>
            <a:r>
              <a:rPr sz="1200" b="1">
                <a:solidFill>
                  <a:schemeClr val="bg1"/>
                </a:solidFill>
                <a:latin typeface="Aptos"/>
              </a:rPr>
              <a:t>Body Landmarks</a:t>
            </a:r>
          </a:p>
        </p:txBody>
      </p:sp>
      <p:sp>
        <p:nvSpPr>
          <p:cNvPr id="55" name="TextBox 54"/>
          <p:cNvSpPr txBox="1"/>
          <p:nvPr/>
        </p:nvSpPr>
        <p:spPr>
          <a:xfrm>
            <a:off x="7765337" y="873709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56" name="Rounded Rectangle 55"/>
          <p:cNvSpPr/>
          <p:nvPr/>
        </p:nvSpPr>
        <p:spPr>
          <a:xfrm>
            <a:off x="8092439" y="8613648"/>
            <a:ext cx="2537460" cy="521208"/>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TextBox 56"/>
          <p:cNvSpPr txBox="1"/>
          <p:nvPr/>
        </p:nvSpPr>
        <p:spPr>
          <a:xfrm>
            <a:off x="8370225" y="8764525"/>
            <a:ext cx="1981889" cy="276999"/>
          </a:xfrm>
          <a:prstGeom prst="rect">
            <a:avLst/>
          </a:prstGeom>
          <a:noFill/>
        </p:spPr>
        <p:txBody>
          <a:bodyPr wrap="none">
            <a:spAutoFit/>
          </a:bodyPr>
          <a:lstStyle/>
          <a:p>
            <a:pPr algn="ctr"/>
            <a:r>
              <a:rPr sz="1200" b="1">
                <a:solidFill>
                  <a:schemeClr val="bg1"/>
                </a:solidFill>
                <a:latin typeface="Aptos"/>
              </a:rPr>
              <a:t>Joint &amp; Movement Metrics</a:t>
            </a:r>
          </a:p>
        </p:txBody>
      </p:sp>
      <p:sp>
        <p:nvSpPr>
          <p:cNvPr id="58" name="TextBox 57"/>
          <p:cNvSpPr txBox="1"/>
          <p:nvPr/>
        </p:nvSpPr>
        <p:spPr>
          <a:xfrm>
            <a:off x="10645698" y="873709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59" name="Rounded Rectangle 58"/>
          <p:cNvSpPr/>
          <p:nvPr/>
        </p:nvSpPr>
        <p:spPr>
          <a:xfrm>
            <a:off x="10972800" y="8613648"/>
            <a:ext cx="2400300" cy="521208"/>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0" name="TextBox 59"/>
          <p:cNvSpPr txBox="1"/>
          <p:nvPr/>
        </p:nvSpPr>
        <p:spPr>
          <a:xfrm>
            <a:off x="11243529" y="8764525"/>
            <a:ext cx="1858842" cy="276999"/>
          </a:xfrm>
          <a:prstGeom prst="rect">
            <a:avLst/>
          </a:prstGeom>
          <a:noFill/>
        </p:spPr>
        <p:txBody>
          <a:bodyPr wrap="none">
            <a:spAutoFit/>
          </a:bodyPr>
          <a:lstStyle/>
          <a:p>
            <a:pPr algn="ctr"/>
            <a:r>
              <a:rPr sz="1200" b="1">
                <a:solidFill>
                  <a:schemeClr val="bg1"/>
                </a:solidFill>
                <a:latin typeface="Aptos"/>
              </a:rPr>
              <a:t>Biomechanical Analysis</a:t>
            </a:r>
          </a:p>
        </p:txBody>
      </p:sp>
      <p:sp>
        <p:nvSpPr>
          <p:cNvPr id="61" name="TextBox 60"/>
          <p:cNvSpPr txBox="1"/>
          <p:nvPr/>
        </p:nvSpPr>
        <p:spPr>
          <a:xfrm>
            <a:off x="718779" y="9671035"/>
            <a:ext cx="5740674" cy="258532"/>
          </a:xfrm>
          <a:prstGeom prst="rect">
            <a:avLst/>
          </a:prstGeom>
          <a:noFill/>
        </p:spPr>
        <p:txBody>
          <a:bodyPr wrap="none">
            <a:spAutoFit/>
          </a:bodyPr>
          <a:lstStyle/>
          <a:p>
            <a:pPr algn="l"/>
            <a:r>
              <a:rPr sz="1080">
                <a:solidFill>
                  <a:schemeClr val="tx1">
                    <a:lumMod val="65000"/>
                    <a:lumOff val="35000"/>
                  </a:schemeClr>
                </a:solidFill>
                <a:latin typeface="Aptos"/>
              </a:rPr>
              <a:t>Note: knee valgus is a 2D single-camera proxy and is less </a:t>
            </a:r>
            <a:r>
              <a:rPr sz="1080" err="1">
                <a:solidFill>
                  <a:schemeClr val="tx1">
                    <a:lumMod val="65000"/>
                    <a:lumOff val="35000"/>
                  </a:schemeClr>
                </a:solidFill>
                <a:latin typeface="Aptos"/>
              </a:rPr>
              <a:t>reiable</a:t>
            </a:r>
            <a:r>
              <a:rPr sz="1080">
                <a:solidFill>
                  <a:schemeClr val="tx1">
                    <a:lumMod val="65000"/>
                    <a:lumOff val="35000"/>
                  </a:schemeClr>
                </a:solidFill>
                <a:latin typeface="Aptos"/>
              </a:rPr>
              <a:t> for side-on running footage</a:t>
            </a:r>
            <a:r>
              <a:rPr sz="1080">
                <a:solidFill>
                  <a:schemeClr val="bg1"/>
                </a:solidFill>
                <a:latin typeface="Aptos"/>
              </a:rPr>
              <a:t>.</a:t>
            </a:r>
          </a:p>
        </p:txBody>
      </p:sp>
    </p:spTree>
    <p:extLst>
      <p:ext uri="{BB962C8B-B14F-4D97-AF65-F5344CB8AC3E}">
        <p14:creationId xmlns:p14="http://schemas.microsoft.com/office/powerpoint/2010/main" val="1566135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B93CA3DA-4725-EF23-D8F8-BE68332A590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E92F5F5-F366-BAD3-7F01-4E8C617C7E3C}"/>
              </a:ext>
            </a:extLst>
          </p:cNvPr>
          <p:cNvSpPr txBox="1"/>
          <p:nvPr/>
        </p:nvSpPr>
        <p:spPr>
          <a:xfrm>
            <a:off x="609600" y="495300"/>
            <a:ext cx="9007402" cy="646331"/>
          </a:xfrm>
          <a:prstGeom prst="rect">
            <a:avLst/>
          </a:prstGeom>
          <a:noFill/>
        </p:spPr>
        <p:txBody>
          <a:bodyPr wrap="none">
            <a:spAutoFit/>
          </a:bodyPr>
          <a:lstStyle/>
          <a:p>
            <a:r>
              <a:rPr lang="en-US" sz="3600" b="1">
                <a:solidFill>
                  <a:schemeClr val="accent4">
                    <a:lumMod val="75000"/>
                  </a:schemeClr>
                </a:solidFill>
                <a:latin typeface="Aptos"/>
              </a:rPr>
              <a:t>Annotated athlete video / skeleton overlay</a:t>
            </a:r>
            <a:endParaRPr sz="3600" b="1">
              <a:solidFill>
                <a:schemeClr val="accent4">
                  <a:lumMod val="75000"/>
                </a:schemeClr>
              </a:solidFill>
              <a:latin typeface="Aptos"/>
            </a:endParaRPr>
          </a:p>
        </p:txBody>
      </p:sp>
      <p:pic>
        <p:nvPicPr>
          <p:cNvPr id="62" name="Picture 61">
            <a:extLst>
              <a:ext uri="{FF2B5EF4-FFF2-40B4-BE49-F238E27FC236}">
                <a16:creationId xmlns:a16="http://schemas.microsoft.com/office/drawing/2014/main" id="{4FAE3DC6-088B-5704-3EE3-1DCBA915B714}"/>
              </a:ext>
            </a:extLst>
          </p:cNvPr>
          <p:cNvPicPr>
            <a:picLocks noChangeAspect="1"/>
          </p:cNvPicPr>
          <p:nvPr/>
        </p:nvPicPr>
        <p:blipFill>
          <a:blip r:embed="rId2">
            <a:extLst>
              <a:ext uri="{28A0092B-C50C-407E-A947-70E740481C1C}">
                <a14:useLocalDpi xmlns:a14="http://schemas.microsoft.com/office/drawing/2010/main" val="0"/>
              </a:ext>
            </a:extLst>
          </a:blip>
          <a:srcRect l="21569" t="16583" r="6863"/>
          <a:stretch>
            <a:fillRect/>
          </a:stretch>
        </p:blipFill>
        <p:spPr>
          <a:xfrm>
            <a:off x="3276600" y="1638300"/>
            <a:ext cx="11125200" cy="8433006"/>
          </a:xfrm>
          <a:prstGeom prst="rect">
            <a:avLst/>
          </a:prstGeom>
        </p:spPr>
      </p:pic>
    </p:spTree>
    <p:extLst>
      <p:ext uri="{BB962C8B-B14F-4D97-AF65-F5344CB8AC3E}">
        <p14:creationId xmlns:p14="http://schemas.microsoft.com/office/powerpoint/2010/main" val="2251898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6E0ED"/>
        </a:solidFill>
        <a:effectLst/>
      </p:bgPr>
    </p:bg>
    <p:spTree>
      <p:nvGrpSpPr>
        <p:cNvPr id="1" name=""/>
        <p:cNvGrpSpPr/>
        <p:nvPr/>
      </p:nvGrpSpPr>
      <p:grpSpPr>
        <a:xfrm>
          <a:off x="0" y="0"/>
          <a:ext cx="0" cy="0"/>
          <a:chOff x="0" y="0"/>
          <a:chExt cx="0" cy="0"/>
        </a:xfrm>
      </p:grpSpPr>
      <p:sp>
        <p:nvSpPr>
          <p:cNvPr id="3" name="TextBox 2"/>
          <p:cNvSpPr txBox="1"/>
          <p:nvPr/>
        </p:nvSpPr>
        <p:spPr>
          <a:xfrm>
            <a:off x="617221" y="822961"/>
            <a:ext cx="9116085" cy="646331"/>
          </a:xfrm>
          <a:prstGeom prst="rect">
            <a:avLst/>
          </a:prstGeom>
          <a:noFill/>
        </p:spPr>
        <p:txBody>
          <a:bodyPr wrap="none">
            <a:spAutoFit/>
          </a:bodyPr>
          <a:lstStyle/>
          <a:p>
            <a:pPr algn="l"/>
            <a:r>
              <a:rPr sz="3600" b="1">
                <a:solidFill>
                  <a:schemeClr val="accent4">
                    <a:lumMod val="75000"/>
                  </a:schemeClr>
                </a:solidFill>
                <a:latin typeface="Aptos"/>
              </a:rPr>
              <a:t>Risk Scoring + Recommendations + Testing</a:t>
            </a:r>
          </a:p>
        </p:txBody>
      </p:sp>
      <p:sp>
        <p:nvSpPr>
          <p:cNvPr id="7" name="TextBox 6"/>
          <p:cNvSpPr txBox="1"/>
          <p:nvPr/>
        </p:nvSpPr>
        <p:spPr>
          <a:xfrm>
            <a:off x="754381" y="2221992"/>
            <a:ext cx="1741631" cy="369332"/>
          </a:xfrm>
          <a:prstGeom prst="rect">
            <a:avLst/>
          </a:prstGeom>
          <a:noFill/>
        </p:spPr>
        <p:txBody>
          <a:bodyPr wrap="none">
            <a:spAutoFit/>
          </a:bodyPr>
          <a:lstStyle/>
          <a:p>
            <a:pPr algn="l"/>
            <a:r>
              <a:rPr b="1">
                <a:solidFill>
                  <a:schemeClr val="accent4">
                    <a:lumMod val="75000"/>
                  </a:schemeClr>
                </a:solidFill>
                <a:latin typeface="Aptos"/>
              </a:rPr>
              <a:t>RISK SCORING</a:t>
            </a:r>
          </a:p>
        </p:txBody>
      </p:sp>
      <p:sp>
        <p:nvSpPr>
          <p:cNvPr id="8" name="Rounded Rectangle 7"/>
          <p:cNvSpPr/>
          <p:nvPr/>
        </p:nvSpPr>
        <p:spPr>
          <a:xfrm>
            <a:off x="754380" y="2743200"/>
            <a:ext cx="5486400" cy="185166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1069849" y="3044952"/>
            <a:ext cx="3689793" cy="438582"/>
          </a:xfrm>
          <a:prstGeom prst="rect">
            <a:avLst/>
          </a:prstGeom>
          <a:noFill/>
        </p:spPr>
        <p:txBody>
          <a:bodyPr wrap="none">
            <a:spAutoFit/>
          </a:bodyPr>
          <a:lstStyle/>
          <a:p>
            <a:pPr algn="l"/>
            <a:r>
              <a:rPr sz="2250" b="1">
                <a:latin typeface="Aptos"/>
              </a:rPr>
              <a:t>XGBoost ML Risk Engine</a:t>
            </a:r>
          </a:p>
        </p:txBody>
      </p:sp>
      <p:sp>
        <p:nvSpPr>
          <p:cNvPr id="10" name="TextBox 9"/>
          <p:cNvSpPr txBox="1"/>
          <p:nvPr/>
        </p:nvSpPr>
        <p:spPr>
          <a:xfrm>
            <a:off x="1069848" y="3538729"/>
            <a:ext cx="4924044" cy="516808"/>
          </a:xfrm>
          <a:prstGeom prst="rect">
            <a:avLst/>
          </a:prstGeom>
          <a:noFill/>
        </p:spPr>
        <p:txBody>
          <a:bodyPr wrap="square">
            <a:spAutoFit/>
          </a:bodyPr>
          <a:lstStyle/>
          <a:p>
            <a:pPr algn="l"/>
            <a:r>
              <a:rPr sz="1379">
                <a:latin typeface="Aptos"/>
              </a:rPr>
              <a:t>Trained XGBoost machine learning model evaluates extracted biomechanical features to predict a 0–100 injury risk score with high explainability.</a:t>
            </a:r>
          </a:p>
        </p:txBody>
      </p:sp>
      <p:sp>
        <p:nvSpPr>
          <p:cNvPr id="11" name="Rounded Rectangle 10"/>
          <p:cNvSpPr/>
          <p:nvPr/>
        </p:nvSpPr>
        <p:spPr>
          <a:xfrm>
            <a:off x="754380" y="4869180"/>
            <a:ext cx="2606040" cy="98755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TextBox 11"/>
          <p:cNvSpPr txBox="1"/>
          <p:nvPr/>
        </p:nvSpPr>
        <p:spPr>
          <a:xfrm>
            <a:off x="1529403" y="5047489"/>
            <a:ext cx="1055995" cy="276999"/>
          </a:xfrm>
          <a:prstGeom prst="rect">
            <a:avLst/>
          </a:prstGeom>
          <a:noFill/>
        </p:spPr>
        <p:txBody>
          <a:bodyPr wrap="none">
            <a:spAutoFit/>
          </a:bodyPr>
          <a:lstStyle/>
          <a:p>
            <a:pPr algn="ctr"/>
            <a:r>
              <a:rPr sz="1200" b="1">
                <a:solidFill>
                  <a:schemeClr val="bg1"/>
                </a:solidFill>
                <a:latin typeface="Aptos"/>
              </a:rPr>
              <a:t>Score Range</a:t>
            </a:r>
          </a:p>
        </p:txBody>
      </p:sp>
      <p:sp>
        <p:nvSpPr>
          <p:cNvPr id="13" name="TextBox 12"/>
          <p:cNvSpPr txBox="1"/>
          <p:nvPr/>
        </p:nvSpPr>
        <p:spPr>
          <a:xfrm>
            <a:off x="1550979" y="5362956"/>
            <a:ext cx="1012841" cy="484748"/>
          </a:xfrm>
          <a:prstGeom prst="rect">
            <a:avLst/>
          </a:prstGeom>
          <a:noFill/>
        </p:spPr>
        <p:txBody>
          <a:bodyPr wrap="none">
            <a:spAutoFit/>
          </a:bodyPr>
          <a:lstStyle/>
          <a:p>
            <a:pPr algn="ctr"/>
            <a:r>
              <a:rPr sz="2550" b="1">
                <a:solidFill>
                  <a:srgbClr val="F0F5F8"/>
                </a:solidFill>
                <a:latin typeface="Aptos"/>
              </a:rPr>
              <a:t>0–100</a:t>
            </a:r>
          </a:p>
        </p:txBody>
      </p:sp>
      <p:sp>
        <p:nvSpPr>
          <p:cNvPr id="14" name="Rounded Rectangle 13"/>
          <p:cNvSpPr/>
          <p:nvPr/>
        </p:nvSpPr>
        <p:spPr>
          <a:xfrm>
            <a:off x="3634740" y="4869180"/>
            <a:ext cx="2606040" cy="98755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TextBox 14"/>
          <p:cNvSpPr txBox="1"/>
          <p:nvPr/>
        </p:nvSpPr>
        <p:spPr>
          <a:xfrm>
            <a:off x="4599366" y="5047489"/>
            <a:ext cx="676788" cy="276999"/>
          </a:xfrm>
          <a:prstGeom prst="rect">
            <a:avLst/>
          </a:prstGeom>
          <a:noFill/>
        </p:spPr>
        <p:txBody>
          <a:bodyPr wrap="none">
            <a:spAutoFit/>
          </a:bodyPr>
          <a:lstStyle/>
          <a:p>
            <a:pPr algn="ctr"/>
            <a:r>
              <a:rPr sz="1200" b="1">
                <a:solidFill>
                  <a:schemeClr val="bg1"/>
                </a:solidFill>
                <a:latin typeface="Aptos"/>
              </a:rPr>
              <a:t>Output</a:t>
            </a:r>
          </a:p>
        </p:txBody>
      </p:sp>
      <p:sp>
        <p:nvSpPr>
          <p:cNvPr id="16" name="TextBox 15"/>
          <p:cNvSpPr txBox="1"/>
          <p:nvPr/>
        </p:nvSpPr>
        <p:spPr>
          <a:xfrm>
            <a:off x="4274725" y="5362957"/>
            <a:ext cx="1326069" cy="392415"/>
          </a:xfrm>
          <a:prstGeom prst="rect">
            <a:avLst/>
          </a:prstGeom>
          <a:noFill/>
        </p:spPr>
        <p:txBody>
          <a:bodyPr wrap="none">
            <a:spAutoFit/>
          </a:bodyPr>
          <a:lstStyle/>
          <a:p>
            <a:pPr algn="ctr"/>
            <a:r>
              <a:rPr sz="1950" b="1">
                <a:solidFill>
                  <a:srgbClr val="F0F5F8"/>
                </a:solidFill>
                <a:latin typeface="Aptos"/>
              </a:rPr>
              <a:t>Risk Level</a:t>
            </a:r>
          </a:p>
        </p:txBody>
      </p:sp>
      <p:sp>
        <p:nvSpPr>
          <p:cNvPr id="17" name="TextBox 16"/>
          <p:cNvSpPr txBox="1"/>
          <p:nvPr/>
        </p:nvSpPr>
        <p:spPr>
          <a:xfrm>
            <a:off x="754381" y="6172201"/>
            <a:ext cx="1065869" cy="276999"/>
          </a:xfrm>
          <a:prstGeom prst="rect">
            <a:avLst/>
          </a:prstGeom>
          <a:noFill/>
        </p:spPr>
        <p:txBody>
          <a:bodyPr wrap="none">
            <a:spAutoFit/>
          </a:bodyPr>
          <a:lstStyle/>
          <a:p>
            <a:pPr algn="l"/>
            <a:r>
              <a:rPr sz="1200" b="1">
                <a:solidFill>
                  <a:schemeClr val="accent4">
                    <a:lumMod val="75000"/>
                  </a:schemeClr>
                </a:solidFill>
                <a:latin typeface="Aptos"/>
              </a:rPr>
              <a:t>RISK LEVELS</a:t>
            </a:r>
          </a:p>
        </p:txBody>
      </p:sp>
      <p:sp>
        <p:nvSpPr>
          <p:cNvPr id="18" name="Rounded Rectangle 17"/>
          <p:cNvSpPr/>
          <p:nvPr/>
        </p:nvSpPr>
        <p:spPr>
          <a:xfrm>
            <a:off x="754380" y="6542532"/>
            <a:ext cx="1207008" cy="5486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9" name="TextBox 18"/>
          <p:cNvSpPr txBox="1"/>
          <p:nvPr/>
        </p:nvSpPr>
        <p:spPr>
          <a:xfrm>
            <a:off x="1123909" y="6720841"/>
            <a:ext cx="467949" cy="276999"/>
          </a:xfrm>
          <a:prstGeom prst="rect">
            <a:avLst/>
          </a:prstGeom>
          <a:noFill/>
        </p:spPr>
        <p:txBody>
          <a:bodyPr wrap="none">
            <a:spAutoFit/>
          </a:bodyPr>
          <a:lstStyle/>
          <a:p>
            <a:pPr algn="ctr"/>
            <a:r>
              <a:rPr sz="1200" b="1">
                <a:solidFill>
                  <a:srgbClr val="F0F5F8"/>
                </a:solidFill>
                <a:latin typeface="Aptos"/>
              </a:rPr>
              <a:t>Low</a:t>
            </a:r>
          </a:p>
        </p:txBody>
      </p:sp>
      <p:sp>
        <p:nvSpPr>
          <p:cNvPr id="20" name="Rounded Rectangle 19"/>
          <p:cNvSpPr/>
          <p:nvPr/>
        </p:nvSpPr>
        <p:spPr>
          <a:xfrm>
            <a:off x="2098548" y="6542532"/>
            <a:ext cx="1207008" cy="5486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TextBox 20"/>
          <p:cNvSpPr txBox="1"/>
          <p:nvPr/>
        </p:nvSpPr>
        <p:spPr>
          <a:xfrm>
            <a:off x="2277834" y="6720841"/>
            <a:ext cx="848437" cy="276999"/>
          </a:xfrm>
          <a:prstGeom prst="rect">
            <a:avLst/>
          </a:prstGeom>
          <a:noFill/>
        </p:spPr>
        <p:txBody>
          <a:bodyPr wrap="none">
            <a:spAutoFit/>
          </a:bodyPr>
          <a:lstStyle/>
          <a:p>
            <a:pPr algn="ctr"/>
            <a:r>
              <a:rPr sz="1200" b="1">
                <a:solidFill>
                  <a:srgbClr val="F0F5F8"/>
                </a:solidFill>
                <a:latin typeface="Aptos"/>
              </a:rPr>
              <a:t>Moderate</a:t>
            </a:r>
          </a:p>
        </p:txBody>
      </p:sp>
      <p:sp>
        <p:nvSpPr>
          <p:cNvPr id="22" name="Rounded Rectangle 21"/>
          <p:cNvSpPr/>
          <p:nvPr/>
        </p:nvSpPr>
        <p:spPr>
          <a:xfrm>
            <a:off x="3442716" y="6542532"/>
            <a:ext cx="1207008" cy="5486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3" name="TextBox 22"/>
          <p:cNvSpPr txBox="1"/>
          <p:nvPr/>
        </p:nvSpPr>
        <p:spPr>
          <a:xfrm>
            <a:off x="3792784" y="6720841"/>
            <a:ext cx="506869" cy="276999"/>
          </a:xfrm>
          <a:prstGeom prst="rect">
            <a:avLst/>
          </a:prstGeom>
          <a:noFill/>
        </p:spPr>
        <p:txBody>
          <a:bodyPr wrap="none">
            <a:spAutoFit/>
          </a:bodyPr>
          <a:lstStyle/>
          <a:p>
            <a:pPr algn="ctr"/>
            <a:r>
              <a:rPr sz="1200" b="1">
                <a:solidFill>
                  <a:srgbClr val="F0F5F8"/>
                </a:solidFill>
                <a:latin typeface="Aptos"/>
              </a:rPr>
              <a:t>High</a:t>
            </a:r>
          </a:p>
        </p:txBody>
      </p:sp>
      <p:sp>
        <p:nvSpPr>
          <p:cNvPr id="24" name="Rounded Rectangle 23"/>
          <p:cNvSpPr/>
          <p:nvPr/>
        </p:nvSpPr>
        <p:spPr>
          <a:xfrm>
            <a:off x="4786884" y="6542532"/>
            <a:ext cx="1207008" cy="5486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TextBox 24"/>
          <p:cNvSpPr txBox="1"/>
          <p:nvPr/>
        </p:nvSpPr>
        <p:spPr>
          <a:xfrm>
            <a:off x="5039811" y="6720841"/>
            <a:ext cx="701154" cy="276999"/>
          </a:xfrm>
          <a:prstGeom prst="rect">
            <a:avLst/>
          </a:prstGeom>
          <a:noFill/>
        </p:spPr>
        <p:txBody>
          <a:bodyPr wrap="none">
            <a:spAutoFit/>
          </a:bodyPr>
          <a:lstStyle/>
          <a:p>
            <a:pPr algn="ctr"/>
            <a:r>
              <a:rPr sz="1200" b="1">
                <a:solidFill>
                  <a:srgbClr val="F0F5F8"/>
                </a:solidFill>
                <a:latin typeface="Aptos"/>
              </a:rPr>
              <a:t>Critical</a:t>
            </a:r>
          </a:p>
        </p:txBody>
      </p:sp>
      <p:sp>
        <p:nvSpPr>
          <p:cNvPr id="26" name="TextBox 25"/>
          <p:cNvSpPr txBox="1"/>
          <p:nvPr/>
        </p:nvSpPr>
        <p:spPr>
          <a:xfrm>
            <a:off x="754381" y="7324345"/>
            <a:ext cx="1550617" cy="276999"/>
          </a:xfrm>
          <a:prstGeom prst="rect">
            <a:avLst/>
          </a:prstGeom>
          <a:noFill/>
        </p:spPr>
        <p:txBody>
          <a:bodyPr wrap="none">
            <a:spAutoFit/>
          </a:bodyPr>
          <a:lstStyle/>
          <a:p>
            <a:pPr algn="l"/>
            <a:r>
              <a:rPr sz="1200" b="1">
                <a:solidFill>
                  <a:schemeClr val="accent4">
                    <a:lumMod val="75000"/>
                  </a:schemeClr>
                </a:solidFill>
                <a:latin typeface="Aptos"/>
              </a:rPr>
              <a:t>SCORING FACTORS</a:t>
            </a:r>
          </a:p>
        </p:txBody>
      </p:sp>
      <p:sp>
        <p:nvSpPr>
          <p:cNvPr id="27" name="Rounded Rectangle 26"/>
          <p:cNvSpPr/>
          <p:nvPr/>
        </p:nvSpPr>
        <p:spPr>
          <a:xfrm>
            <a:off x="754380" y="7680960"/>
            <a:ext cx="2523744" cy="356616"/>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8" name="TextBox 27"/>
          <p:cNvSpPr txBox="1"/>
          <p:nvPr/>
        </p:nvSpPr>
        <p:spPr>
          <a:xfrm>
            <a:off x="1348441" y="7749539"/>
            <a:ext cx="1335622" cy="272382"/>
          </a:xfrm>
          <a:prstGeom prst="rect">
            <a:avLst/>
          </a:prstGeom>
          <a:noFill/>
        </p:spPr>
        <p:txBody>
          <a:bodyPr wrap="none">
            <a:spAutoFit/>
          </a:bodyPr>
          <a:lstStyle/>
          <a:p>
            <a:pPr algn="ctr"/>
            <a:r>
              <a:rPr sz="1170">
                <a:solidFill>
                  <a:schemeClr val="bg1"/>
                </a:solidFill>
                <a:latin typeface="Aptos"/>
              </a:rPr>
              <a:t>Knee valgus proxy</a:t>
            </a:r>
          </a:p>
        </p:txBody>
      </p:sp>
      <p:sp>
        <p:nvSpPr>
          <p:cNvPr id="29" name="Rounded Rectangle 28"/>
          <p:cNvSpPr/>
          <p:nvPr/>
        </p:nvSpPr>
        <p:spPr>
          <a:xfrm>
            <a:off x="3470148" y="7680960"/>
            <a:ext cx="2523744" cy="356616"/>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TextBox 29"/>
          <p:cNvSpPr txBox="1"/>
          <p:nvPr/>
        </p:nvSpPr>
        <p:spPr>
          <a:xfrm>
            <a:off x="3926350" y="7749539"/>
            <a:ext cx="1611339" cy="272382"/>
          </a:xfrm>
          <a:prstGeom prst="rect">
            <a:avLst/>
          </a:prstGeom>
          <a:noFill/>
        </p:spPr>
        <p:txBody>
          <a:bodyPr wrap="none">
            <a:spAutoFit/>
          </a:bodyPr>
          <a:lstStyle/>
          <a:p>
            <a:pPr algn="ctr"/>
            <a:r>
              <a:rPr sz="1170">
                <a:solidFill>
                  <a:schemeClr val="bg1"/>
                </a:solidFill>
                <a:latin typeface="Aptos"/>
              </a:rPr>
              <a:t>Knee ROM asymmetry</a:t>
            </a:r>
          </a:p>
        </p:txBody>
      </p:sp>
      <p:sp>
        <p:nvSpPr>
          <p:cNvPr id="31" name="Rounded Rectangle 30"/>
          <p:cNvSpPr/>
          <p:nvPr/>
        </p:nvSpPr>
        <p:spPr>
          <a:xfrm>
            <a:off x="754380" y="8133588"/>
            <a:ext cx="2523744" cy="356616"/>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TextBox 31"/>
          <p:cNvSpPr txBox="1"/>
          <p:nvPr/>
        </p:nvSpPr>
        <p:spPr>
          <a:xfrm>
            <a:off x="1587289" y="8202168"/>
            <a:ext cx="857927" cy="272382"/>
          </a:xfrm>
          <a:prstGeom prst="rect">
            <a:avLst/>
          </a:prstGeom>
          <a:noFill/>
        </p:spPr>
        <p:txBody>
          <a:bodyPr wrap="none">
            <a:spAutoFit/>
          </a:bodyPr>
          <a:lstStyle/>
          <a:p>
            <a:pPr algn="ctr"/>
            <a:r>
              <a:rPr sz="1170">
                <a:solidFill>
                  <a:schemeClr val="bg1"/>
                </a:solidFill>
                <a:latin typeface="Aptos"/>
              </a:rPr>
              <a:t>Trunk lean</a:t>
            </a:r>
          </a:p>
        </p:txBody>
      </p:sp>
      <p:sp>
        <p:nvSpPr>
          <p:cNvPr id="33" name="Rounded Rectangle 32"/>
          <p:cNvSpPr/>
          <p:nvPr/>
        </p:nvSpPr>
        <p:spPr>
          <a:xfrm>
            <a:off x="3470148" y="8133588"/>
            <a:ext cx="2523744" cy="356616"/>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4226113" y="8202168"/>
            <a:ext cx="1011815" cy="272382"/>
          </a:xfrm>
          <a:prstGeom prst="rect">
            <a:avLst/>
          </a:prstGeom>
          <a:noFill/>
        </p:spPr>
        <p:txBody>
          <a:bodyPr wrap="none">
            <a:spAutoFit/>
          </a:bodyPr>
          <a:lstStyle/>
          <a:p>
            <a:pPr algn="ctr"/>
            <a:r>
              <a:rPr sz="1170">
                <a:solidFill>
                  <a:schemeClr val="bg1"/>
                </a:solidFill>
                <a:latin typeface="Aptos"/>
              </a:rPr>
              <a:t>Training load</a:t>
            </a:r>
          </a:p>
        </p:txBody>
      </p:sp>
      <p:sp>
        <p:nvSpPr>
          <p:cNvPr id="35" name="Rounded Rectangle 34"/>
          <p:cNvSpPr/>
          <p:nvPr/>
        </p:nvSpPr>
        <p:spPr>
          <a:xfrm>
            <a:off x="754380" y="8586216"/>
            <a:ext cx="5212080" cy="356616"/>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6" name="TextBox 35"/>
          <p:cNvSpPr txBox="1"/>
          <p:nvPr/>
        </p:nvSpPr>
        <p:spPr>
          <a:xfrm>
            <a:off x="2854513" y="8654796"/>
            <a:ext cx="1011815" cy="272382"/>
          </a:xfrm>
          <a:prstGeom prst="rect">
            <a:avLst/>
          </a:prstGeom>
          <a:noFill/>
        </p:spPr>
        <p:txBody>
          <a:bodyPr wrap="none">
            <a:spAutoFit/>
          </a:bodyPr>
          <a:lstStyle/>
          <a:p>
            <a:pPr algn="ctr"/>
            <a:r>
              <a:rPr sz="1170">
                <a:solidFill>
                  <a:schemeClr val="bg1"/>
                </a:solidFill>
                <a:latin typeface="Aptos"/>
              </a:rPr>
              <a:t>Injury history</a:t>
            </a:r>
          </a:p>
        </p:txBody>
      </p:sp>
      <p:sp>
        <p:nvSpPr>
          <p:cNvPr id="37" name="TextBox 36"/>
          <p:cNvSpPr txBox="1"/>
          <p:nvPr/>
        </p:nvSpPr>
        <p:spPr>
          <a:xfrm>
            <a:off x="6652261" y="2221992"/>
            <a:ext cx="2420919" cy="369332"/>
          </a:xfrm>
          <a:prstGeom prst="rect">
            <a:avLst/>
          </a:prstGeom>
          <a:noFill/>
        </p:spPr>
        <p:txBody>
          <a:bodyPr wrap="none">
            <a:spAutoFit/>
          </a:bodyPr>
          <a:lstStyle/>
          <a:p>
            <a:pPr algn="l"/>
            <a:r>
              <a:rPr b="1">
                <a:solidFill>
                  <a:schemeClr val="accent4">
                    <a:lumMod val="75000"/>
                  </a:schemeClr>
                </a:solidFill>
                <a:latin typeface="Aptos"/>
              </a:rPr>
              <a:t>RECOMMENDATIONS</a:t>
            </a:r>
          </a:p>
        </p:txBody>
      </p:sp>
      <p:sp>
        <p:nvSpPr>
          <p:cNvPr id="38" name="Rounded Rectangle 37"/>
          <p:cNvSpPr/>
          <p:nvPr/>
        </p:nvSpPr>
        <p:spPr>
          <a:xfrm>
            <a:off x="6652260" y="2743200"/>
            <a:ext cx="4869180" cy="12344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9" name="TextBox 38"/>
          <p:cNvSpPr txBox="1"/>
          <p:nvPr/>
        </p:nvSpPr>
        <p:spPr>
          <a:xfrm>
            <a:off x="6926580" y="2935225"/>
            <a:ext cx="1922386" cy="334707"/>
          </a:xfrm>
          <a:prstGeom prst="rect">
            <a:avLst/>
          </a:prstGeom>
          <a:noFill/>
        </p:spPr>
        <p:txBody>
          <a:bodyPr wrap="none">
            <a:spAutoFit/>
          </a:bodyPr>
          <a:lstStyle/>
          <a:p>
            <a:pPr algn="l"/>
            <a:r>
              <a:rPr sz="1575" b="1">
                <a:solidFill>
                  <a:schemeClr val="bg1"/>
                </a:solidFill>
                <a:latin typeface="Aptos"/>
              </a:rPr>
              <a:t>Posture Correction</a:t>
            </a:r>
          </a:p>
        </p:txBody>
      </p:sp>
      <p:sp>
        <p:nvSpPr>
          <p:cNvPr id="40" name="TextBox 39"/>
          <p:cNvSpPr txBox="1"/>
          <p:nvPr/>
        </p:nvSpPr>
        <p:spPr>
          <a:xfrm>
            <a:off x="6926580" y="3291841"/>
            <a:ext cx="4193520" cy="281295"/>
          </a:xfrm>
          <a:prstGeom prst="rect">
            <a:avLst/>
          </a:prstGeom>
          <a:noFill/>
        </p:spPr>
        <p:txBody>
          <a:bodyPr wrap="none">
            <a:spAutoFit/>
          </a:bodyPr>
          <a:lstStyle/>
          <a:p>
            <a:pPr algn="l"/>
            <a:r>
              <a:rPr sz="1228">
                <a:solidFill>
                  <a:schemeClr val="bg1"/>
                </a:solidFill>
                <a:latin typeface="Aptos"/>
              </a:rPr>
              <a:t>Movement cues based on identified biomechanical factors.</a:t>
            </a:r>
          </a:p>
        </p:txBody>
      </p:sp>
      <p:sp>
        <p:nvSpPr>
          <p:cNvPr id="41" name="Rounded Rectangle 40"/>
          <p:cNvSpPr/>
          <p:nvPr/>
        </p:nvSpPr>
        <p:spPr>
          <a:xfrm>
            <a:off x="6652260" y="4183380"/>
            <a:ext cx="4869180" cy="12344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2" name="TextBox 41"/>
          <p:cNvSpPr txBox="1"/>
          <p:nvPr/>
        </p:nvSpPr>
        <p:spPr>
          <a:xfrm>
            <a:off x="6926580" y="4375405"/>
            <a:ext cx="1414618" cy="334707"/>
          </a:xfrm>
          <a:prstGeom prst="rect">
            <a:avLst/>
          </a:prstGeom>
          <a:noFill/>
        </p:spPr>
        <p:txBody>
          <a:bodyPr wrap="none">
            <a:spAutoFit/>
          </a:bodyPr>
          <a:lstStyle/>
          <a:p>
            <a:pPr algn="l"/>
            <a:r>
              <a:rPr sz="1575" b="1">
                <a:solidFill>
                  <a:schemeClr val="bg1"/>
                </a:solidFill>
                <a:latin typeface="Aptos"/>
              </a:rPr>
              <a:t>Exercise Plan</a:t>
            </a:r>
          </a:p>
        </p:txBody>
      </p:sp>
      <p:sp>
        <p:nvSpPr>
          <p:cNvPr id="43" name="TextBox 42"/>
          <p:cNvSpPr txBox="1"/>
          <p:nvPr/>
        </p:nvSpPr>
        <p:spPr>
          <a:xfrm>
            <a:off x="6926581" y="4732019"/>
            <a:ext cx="4440959" cy="281295"/>
          </a:xfrm>
          <a:prstGeom prst="rect">
            <a:avLst/>
          </a:prstGeom>
          <a:noFill/>
        </p:spPr>
        <p:txBody>
          <a:bodyPr wrap="none">
            <a:spAutoFit/>
          </a:bodyPr>
          <a:lstStyle/>
          <a:p>
            <a:pPr algn="l"/>
            <a:r>
              <a:rPr sz="1228">
                <a:solidFill>
                  <a:schemeClr val="bg1"/>
                </a:solidFill>
                <a:latin typeface="Aptos"/>
              </a:rPr>
              <a:t>Targeted exercise suggestions related to movement limitations.</a:t>
            </a:r>
          </a:p>
        </p:txBody>
      </p:sp>
      <p:sp>
        <p:nvSpPr>
          <p:cNvPr id="44" name="Rounded Rectangle 43"/>
          <p:cNvSpPr/>
          <p:nvPr/>
        </p:nvSpPr>
        <p:spPr>
          <a:xfrm>
            <a:off x="6652260" y="5623559"/>
            <a:ext cx="4869180" cy="12344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TextBox 44"/>
          <p:cNvSpPr txBox="1"/>
          <p:nvPr/>
        </p:nvSpPr>
        <p:spPr>
          <a:xfrm>
            <a:off x="6926581" y="5815583"/>
            <a:ext cx="1488613" cy="334707"/>
          </a:xfrm>
          <a:prstGeom prst="rect">
            <a:avLst/>
          </a:prstGeom>
          <a:noFill/>
        </p:spPr>
        <p:txBody>
          <a:bodyPr wrap="none">
            <a:spAutoFit/>
          </a:bodyPr>
          <a:lstStyle/>
          <a:p>
            <a:pPr algn="l"/>
            <a:r>
              <a:rPr sz="1575" b="1">
                <a:solidFill>
                  <a:schemeClr val="bg1"/>
                </a:solidFill>
                <a:latin typeface="Aptos"/>
              </a:rPr>
              <a:t>Recovery Plan</a:t>
            </a:r>
          </a:p>
        </p:txBody>
      </p:sp>
      <p:sp>
        <p:nvSpPr>
          <p:cNvPr id="46" name="TextBox 45"/>
          <p:cNvSpPr txBox="1"/>
          <p:nvPr/>
        </p:nvSpPr>
        <p:spPr>
          <a:xfrm>
            <a:off x="6926580" y="6172201"/>
            <a:ext cx="4136004" cy="281295"/>
          </a:xfrm>
          <a:prstGeom prst="rect">
            <a:avLst/>
          </a:prstGeom>
          <a:noFill/>
        </p:spPr>
        <p:txBody>
          <a:bodyPr wrap="none">
            <a:spAutoFit/>
          </a:bodyPr>
          <a:lstStyle/>
          <a:p>
            <a:pPr algn="l"/>
            <a:r>
              <a:rPr sz="1228">
                <a:solidFill>
                  <a:schemeClr val="bg1"/>
                </a:solidFill>
                <a:latin typeface="Aptos"/>
              </a:rPr>
              <a:t>Recovery and training-load guidance based on risk factors.</a:t>
            </a:r>
          </a:p>
        </p:txBody>
      </p:sp>
      <p:sp>
        <p:nvSpPr>
          <p:cNvPr id="47" name="Rounded Rectangle 46"/>
          <p:cNvSpPr/>
          <p:nvPr/>
        </p:nvSpPr>
        <p:spPr>
          <a:xfrm>
            <a:off x="6652260" y="7132320"/>
            <a:ext cx="4869180" cy="98755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8" name="TextBox 47"/>
          <p:cNvSpPr txBox="1"/>
          <p:nvPr/>
        </p:nvSpPr>
        <p:spPr>
          <a:xfrm>
            <a:off x="6817134" y="7365493"/>
            <a:ext cx="4498283" cy="288541"/>
          </a:xfrm>
          <a:prstGeom prst="rect">
            <a:avLst/>
          </a:prstGeom>
          <a:noFill/>
        </p:spPr>
        <p:txBody>
          <a:bodyPr wrap="none">
            <a:spAutoFit/>
          </a:bodyPr>
          <a:lstStyle/>
          <a:p>
            <a:pPr algn="ctr"/>
            <a:r>
              <a:rPr sz="1275" b="1">
                <a:solidFill>
                  <a:schemeClr val="bg1"/>
                </a:solidFill>
                <a:latin typeface="Aptos"/>
              </a:rPr>
              <a:t>Biomechanics → Risk Factors → Score → Recommendations</a:t>
            </a:r>
          </a:p>
        </p:txBody>
      </p:sp>
      <p:sp>
        <p:nvSpPr>
          <p:cNvPr id="49" name="TextBox 48"/>
          <p:cNvSpPr txBox="1"/>
          <p:nvPr/>
        </p:nvSpPr>
        <p:spPr>
          <a:xfrm>
            <a:off x="11905488" y="2221992"/>
            <a:ext cx="1084912" cy="369332"/>
          </a:xfrm>
          <a:prstGeom prst="rect">
            <a:avLst/>
          </a:prstGeom>
          <a:noFill/>
        </p:spPr>
        <p:txBody>
          <a:bodyPr wrap="none">
            <a:spAutoFit/>
          </a:bodyPr>
          <a:lstStyle/>
          <a:p>
            <a:pPr algn="l"/>
            <a:r>
              <a:rPr b="1">
                <a:solidFill>
                  <a:schemeClr val="accent4">
                    <a:lumMod val="75000"/>
                  </a:schemeClr>
                </a:solidFill>
                <a:latin typeface="Aptos"/>
              </a:rPr>
              <a:t>TESTING</a:t>
            </a:r>
          </a:p>
        </p:txBody>
      </p:sp>
      <p:sp>
        <p:nvSpPr>
          <p:cNvPr id="50" name="Rounded Rectangle 49"/>
          <p:cNvSpPr/>
          <p:nvPr/>
        </p:nvSpPr>
        <p:spPr>
          <a:xfrm>
            <a:off x="11905488" y="2743200"/>
            <a:ext cx="548640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TextBox 50"/>
          <p:cNvSpPr txBox="1"/>
          <p:nvPr/>
        </p:nvSpPr>
        <p:spPr>
          <a:xfrm>
            <a:off x="12152375" y="2880361"/>
            <a:ext cx="2109360" cy="307007"/>
          </a:xfrm>
          <a:prstGeom prst="rect">
            <a:avLst/>
          </a:prstGeom>
          <a:noFill/>
        </p:spPr>
        <p:txBody>
          <a:bodyPr wrap="none">
            <a:spAutoFit/>
          </a:bodyPr>
          <a:lstStyle/>
          <a:p>
            <a:pPr algn="l"/>
            <a:r>
              <a:rPr sz="1395" b="1">
                <a:solidFill>
                  <a:schemeClr val="bg1"/>
                </a:solidFill>
                <a:latin typeface="Aptos"/>
              </a:rPr>
              <a:t>Injury-Risk Engine Tests</a:t>
            </a:r>
          </a:p>
        </p:txBody>
      </p:sp>
      <p:sp>
        <p:nvSpPr>
          <p:cNvPr id="52" name="TextBox 51"/>
          <p:cNvSpPr txBox="1"/>
          <p:nvPr/>
        </p:nvSpPr>
        <p:spPr>
          <a:xfrm>
            <a:off x="12152375" y="3168397"/>
            <a:ext cx="3281668" cy="265457"/>
          </a:xfrm>
          <a:prstGeom prst="rect">
            <a:avLst/>
          </a:prstGeom>
          <a:noFill/>
        </p:spPr>
        <p:txBody>
          <a:bodyPr wrap="none">
            <a:spAutoFit/>
          </a:bodyPr>
          <a:lstStyle/>
          <a:p>
            <a:pPr algn="l"/>
            <a:r>
              <a:rPr sz="1125">
                <a:solidFill>
                  <a:schemeClr val="bg1"/>
                </a:solidFill>
                <a:latin typeface="Aptos"/>
              </a:rPr>
              <a:t>Score, thresholds, factors and recommendations.</a:t>
            </a:r>
          </a:p>
        </p:txBody>
      </p:sp>
      <p:sp>
        <p:nvSpPr>
          <p:cNvPr id="53" name="Rounded Rectangle 52"/>
          <p:cNvSpPr/>
          <p:nvPr/>
        </p:nvSpPr>
        <p:spPr>
          <a:xfrm>
            <a:off x="11905488" y="3813048"/>
            <a:ext cx="548640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4" name="TextBox 53"/>
          <p:cNvSpPr txBox="1"/>
          <p:nvPr/>
        </p:nvSpPr>
        <p:spPr>
          <a:xfrm>
            <a:off x="12152375" y="3950209"/>
            <a:ext cx="1680140" cy="307007"/>
          </a:xfrm>
          <a:prstGeom prst="rect">
            <a:avLst/>
          </a:prstGeom>
          <a:noFill/>
        </p:spPr>
        <p:txBody>
          <a:bodyPr wrap="none">
            <a:spAutoFit/>
          </a:bodyPr>
          <a:lstStyle/>
          <a:p>
            <a:pPr algn="l"/>
            <a:r>
              <a:rPr sz="1395" b="1">
                <a:solidFill>
                  <a:schemeClr val="bg1"/>
                </a:solidFill>
                <a:latin typeface="Aptos"/>
              </a:rPr>
              <a:t>Upload-Flow Tests</a:t>
            </a:r>
          </a:p>
        </p:txBody>
      </p:sp>
      <p:sp>
        <p:nvSpPr>
          <p:cNvPr id="55" name="TextBox 54"/>
          <p:cNvSpPr txBox="1"/>
          <p:nvPr/>
        </p:nvSpPr>
        <p:spPr>
          <a:xfrm>
            <a:off x="12152375" y="4238245"/>
            <a:ext cx="2855269" cy="265457"/>
          </a:xfrm>
          <a:prstGeom prst="rect">
            <a:avLst/>
          </a:prstGeom>
          <a:noFill/>
        </p:spPr>
        <p:txBody>
          <a:bodyPr wrap="none">
            <a:spAutoFit/>
          </a:bodyPr>
          <a:lstStyle/>
          <a:p>
            <a:pPr algn="l"/>
            <a:r>
              <a:rPr sz="1125">
                <a:solidFill>
                  <a:schemeClr val="bg1"/>
                </a:solidFill>
                <a:latin typeface="Aptos"/>
              </a:rPr>
              <a:t>End-to-end video upload and analysis flow.</a:t>
            </a:r>
          </a:p>
        </p:txBody>
      </p:sp>
      <p:sp>
        <p:nvSpPr>
          <p:cNvPr id="56" name="Rounded Rectangle 55"/>
          <p:cNvSpPr/>
          <p:nvPr/>
        </p:nvSpPr>
        <p:spPr>
          <a:xfrm>
            <a:off x="11905488" y="4882896"/>
            <a:ext cx="548640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TextBox 56"/>
          <p:cNvSpPr txBox="1"/>
          <p:nvPr/>
        </p:nvSpPr>
        <p:spPr>
          <a:xfrm>
            <a:off x="12152375" y="5020057"/>
            <a:ext cx="2293833" cy="307007"/>
          </a:xfrm>
          <a:prstGeom prst="rect">
            <a:avLst/>
          </a:prstGeom>
          <a:noFill/>
        </p:spPr>
        <p:txBody>
          <a:bodyPr wrap="none">
            <a:spAutoFit/>
          </a:bodyPr>
          <a:lstStyle/>
          <a:p>
            <a:pPr algn="l"/>
            <a:r>
              <a:rPr sz="1395" b="1">
                <a:solidFill>
                  <a:schemeClr val="bg1"/>
                </a:solidFill>
                <a:latin typeface="Aptos"/>
              </a:rPr>
              <a:t>Biomechanics Regression</a:t>
            </a:r>
          </a:p>
        </p:txBody>
      </p:sp>
      <p:sp>
        <p:nvSpPr>
          <p:cNvPr id="58" name="TextBox 57"/>
          <p:cNvSpPr txBox="1"/>
          <p:nvPr/>
        </p:nvSpPr>
        <p:spPr>
          <a:xfrm>
            <a:off x="12152375" y="5308093"/>
            <a:ext cx="3334567" cy="265457"/>
          </a:xfrm>
          <a:prstGeom prst="rect">
            <a:avLst/>
          </a:prstGeom>
          <a:noFill/>
        </p:spPr>
        <p:txBody>
          <a:bodyPr wrap="none">
            <a:spAutoFit/>
          </a:bodyPr>
          <a:lstStyle/>
          <a:p>
            <a:pPr algn="l"/>
            <a:r>
              <a:rPr sz="1125">
                <a:solidFill>
                  <a:schemeClr val="bg1"/>
                </a:solidFill>
                <a:latin typeface="Aptos"/>
              </a:rPr>
              <a:t>Checks biomechanical calculations remain stable.</a:t>
            </a:r>
          </a:p>
        </p:txBody>
      </p:sp>
      <p:sp>
        <p:nvSpPr>
          <p:cNvPr id="59" name="Rounded Rectangle 58"/>
          <p:cNvSpPr/>
          <p:nvPr/>
        </p:nvSpPr>
        <p:spPr>
          <a:xfrm>
            <a:off x="11905488" y="5952744"/>
            <a:ext cx="548640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0" name="TextBox 59"/>
          <p:cNvSpPr txBox="1"/>
          <p:nvPr/>
        </p:nvSpPr>
        <p:spPr>
          <a:xfrm>
            <a:off x="12152375" y="6089903"/>
            <a:ext cx="1648528" cy="307007"/>
          </a:xfrm>
          <a:prstGeom prst="rect">
            <a:avLst/>
          </a:prstGeom>
          <a:noFill/>
        </p:spPr>
        <p:txBody>
          <a:bodyPr wrap="none">
            <a:spAutoFit/>
          </a:bodyPr>
          <a:lstStyle/>
          <a:p>
            <a:pPr algn="l"/>
            <a:r>
              <a:rPr sz="1395" b="1">
                <a:solidFill>
                  <a:schemeClr val="bg1"/>
                </a:solidFill>
                <a:latin typeface="Aptos"/>
              </a:rPr>
              <a:t>Risk-History Tests</a:t>
            </a:r>
          </a:p>
        </p:txBody>
      </p:sp>
      <p:sp>
        <p:nvSpPr>
          <p:cNvPr id="61" name="TextBox 60"/>
          <p:cNvSpPr txBox="1"/>
          <p:nvPr/>
        </p:nvSpPr>
        <p:spPr>
          <a:xfrm>
            <a:off x="12152375" y="6377939"/>
            <a:ext cx="3156633" cy="265457"/>
          </a:xfrm>
          <a:prstGeom prst="rect">
            <a:avLst/>
          </a:prstGeom>
          <a:noFill/>
        </p:spPr>
        <p:txBody>
          <a:bodyPr wrap="none">
            <a:spAutoFit/>
          </a:bodyPr>
          <a:lstStyle/>
          <a:p>
            <a:pPr algn="l"/>
            <a:r>
              <a:rPr sz="1125">
                <a:solidFill>
                  <a:schemeClr val="bg1"/>
                </a:solidFill>
                <a:latin typeface="Aptos"/>
              </a:rPr>
              <a:t>Validates risk history aggregation across videos.</a:t>
            </a:r>
          </a:p>
        </p:txBody>
      </p:sp>
      <p:sp>
        <p:nvSpPr>
          <p:cNvPr id="62" name="Rounded Rectangle 61"/>
          <p:cNvSpPr/>
          <p:nvPr/>
        </p:nvSpPr>
        <p:spPr>
          <a:xfrm>
            <a:off x="11905488" y="7132320"/>
            <a:ext cx="5486400" cy="98755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TextBox 62"/>
          <p:cNvSpPr txBox="1"/>
          <p:nvPr/>
        </p:nvSpPr>
        <p:spPr>
          <a:xfrm>
            <a:off x="12152375" y="7351777"/>
            <a:ext cx="1627753" cy="288541"/>
          </a:xfrm>
          <a:prstGeom prst="rect">
            <a:avLst/>
          </a:prstGeom>
          <a:noFill/>
        </p:spPr>
        <p:txBody>
          <a:bodyPr wrap="none">
            <a:spAutoFit/>
          </a:bodyPr>
          <a:lstStyle/>
          <a:p>
            <a:pPr algn="l"/>
            <a:r>
              <a:rPr sz="1275" b="1">
                <a:latin typeface="Aptos"/>
              </a:rPr>
              <a:t>WHY XGBOOST &amp; SYNTHETIC DATA?</a:t>
            </a:r>
          </a:p>
        </p:txBody>
      </p:sp>
      <p:sp>
        <p:nvSpPr>
          <p:cNvPr id="64" name="TextBox 63"/>
          <p:cNvSpPr txBox="1"/>
          <p:nvPr/>
        </p:nvSpPr>
        <p:spPr>
          <a:xfrm>
            <a:off x="12152375" y="7653529"/>
            <a:ext cx="5068825" cy="433965"/>
          </a:xfrm>
          <a:prstGeom prst="rect">
            <a:avLst/>
          </a:prstGeom>
          <a:noFill/>
        </p:spPr>
        <p:txBody>
          <a:bodyPr wrap="square">
            <a:spAutoFit/>
          </a:bodyPr>
          <a:lstStyle/>
          <a:p>
            <a:pPr algn="l"/>
            <a:r>
              <a:rPr sz="1110">
                <a:latin typeface="Aptos"/>
              </a:rPr>
              <a:t>Addresses clinical data scarcity by training on validated synthetic biomechanical distributions, providing high accuracy, fast inference, and feature importance.</a:t>
            </a:r>
          </a:p>
        </p:txBody>
      </p:sp>
    </p:spTree>
    <p:extLst>
      <p:ext uri="{BB962C8B-B14F-4D97-AF65-F5344CB8AC3E}">
        <p14:creationId xmlns:p14="http://schemas.microsoft.com/office/powerpoint/2010/main" val="3542196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6E0ED"/>
        </a:solidFill>
        <a:effectLst/>
      </p:bgPr>
    </p:bg>
    <p:spTree>
      <p:nvGrpSpPr>
        <p:cNvPr id="1" name=""/>
        <p:cNvGrpSpPr/>
        <p:nvPr/>
      </p:nvGrpSpPr>
      <p:grpSpPr>
        <a:xfrm>
          <a:off x="0" y="0"/>
          <a:ext cx="0" cy="0"/>
          <a:chOff x="0" y="0"/>
          <a:chExt cx="0" cy="0"/>
        </a:xfrm>
      </p:grpSpPr>
      <p:sp>
        <p:nvSpPr>
          <p:cNvPr id="3" name="TextBox 2"/>
          <p:cNvSpPr txBox="1"/>
          <p:nvPr/>
        </p:nvSpPr>
        <p:spPr>
          <a:xfrm>
            <a:off x="617221" y="822960"/>
            <a:ext cx="5119735" cy="669414"/>
          </a:xfrm>
          <a:prstGeom prst="rect">
            <a:avLst/>
          </a:prstGeom>
          <a:noFill/>
        </p:spPr>
        <p:txBody>
          <a:bodyPr wrap="none">
            <a:spAutoFit/>
          </a:bodyPr>
          <a:lstStyle/>
          <a:p>
            <a:pPr algn="l"/>
            <a:r>
              <a:rPr sz="3750" b="1">
                <a:solidFill>
                  <a:schemeClr val="accent4">
                    <a:lumMod val="75000"/>
                  </a:schemeClr>
                </a:solidFill>
                <a:latin typeface="Aptos"/>
              </a:rPr>
              <a:t>Reports &amp; Deployment</a:t>
            </a:r>
          </a:p>
        </p:txBody>
      </p:sp>
      <p:sp>
        <p:nvSpPr>
          <p:cNvPr id="7" name="TextBox 6"/>
          <p:cNvSpPr txBox="1"/>
          <p:nvPr/>
        </p:nvSpPr>
        <p:spPr>
          <a:xfrm>
            <a:off x="754381" y="2221992"/>
            <a:ext cx="2651303" cy="357790"/>
          </a:xfrm>
          <a:prstGeom prst="rect">
            <a:avLst/>
          </a:prstGeom>
          <a:noFill/>
        </p:spPr>
        <p:txBody>
          <a:bodyPr wrap="none">
            <a:spAutoFit/>
          </a:bodyPr>
          <a:lstStyle/>
          <a:p>
            <a:pPr algn="l"/>
            <a:r>
              <a:rPr sz="1725" b="1">
                <a:solidFill>
                  <a:schemeClr val="accent4">
                    <a:lumMod val="75000"/>
                  </a:schemeClr>
                </a:solidFill>
                <a:latin typeface="Aptos"/>
              </a:rPr>
              <a:t>01 · REPORTS &amp; HISTORY</a:t>
            </a:r>
          </a:p>
        </p:txBody>
      </p:sp>
      <p:sp>
        <p:nvSpPr>
          <p:cNvPr id="8" name="Rounded Rectangle 7"/>
          <p:cNvSpPr/>
          <p:nvPr/>
        </p:nvSpPr>
        <p:spPr>
          <a:xfrm>
            <a:off x="754380" y="2743201"/>
            <a:ext cx="5486400" cy="3127247"/>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E6E0ED"/>
              </a:solidFill>
            </a:endParaRPr>
          </a:p>
        </p:txBody>
      </p:sp>
      <p:sp>
        <p:nvSpPr>
          <p:cNvPr id="9" name="TextBox 8"/>
          <p:cNvSpPr txBox="1"/>
          <p:nvPr/>
        </p:nvSpPr>
        <p:spPr>
          <a:xfrm>
            <a:off x="1097281" y="3072384"/>
            <a:ext cx="2231829" cy="438582"/>
          </a:xfrm>
          <a:prstGeom prst="rect">
            <a:avLst/>
          </a:prstGeom>
          <a:noFill/>
        </p:spPr>
        <p:txBody>
          <a:bodyPr wrap="none">
            <a:spAutoFit/>
          </a:bodyPr>
          <a:lstStyle/>
          <a:p>
            <a:pPr algn="l"/>
            <a:r>
              <a:rPr sz="2250" b="1">
                <a:solidFill>
                  <a:srgbClr val="F0F5F8"/>
                </a:solidFill>
                <a:latin typeface="Aptos"/>
              </a:rPr>
              <a:t>Reports History</a:t>
            </a:r>
          </a:p>
        </p:txBody>
      </p:sp>
      <p:sp>
        <p:nvSpPr>
          <p:cNvPr id="10" name="TextBox 9"/>
          <p:cNvSpPr txBox="1"/>
          <p:nvPr/>
        </p:nvSpPr>
        <p:spPr>
          <a:xfrm>
            <a:off x="1097280" y="3607309"/>
            <a:ext cx="3233834" cy="307007"/>
          </a:xfrm>
          <a:prstGeom prst="rect">
            <a:avLst/>
          </a:prstGeom>
          <a:noFill/>
        </p:spPr>
        <p:txBody>
          <a:bodyPr wrap="none">
            <a:spAutoFit/>
          </a:bodyPr>
          <a:lstStyle/>
          <a:p>
            <a:pPr algn="l"/>
            <a:r>
              <a:rPr sz="1395">
                <a:solidFill>
                  <a:schemeClr val="bg1"/>
                </a:solidFill>
                <a:latin typeface="Aptos"/>
              </a:rPr>
              <a:t>• Stores previous video analysis results.</a:t>
            </a:r>
          </a:p>
        </p:txBody>
      </p:sp>
      <p:sp>
        <p:nvSpPr>
          <p:cNvPr id="11" name="TextBox 10"/>
          <p:cNvSpPr txBox="1"/>
          <p:nvPr/>
        </p:nvSpPr>
        <p:spPr>
          <a:xfrm>
            <a:off x="1097280" y="4101085"/>
            <a:ext cx="3720634" cy="307007"/>
          </a:xfrm>
          <a:prstGeom prst="rect">
            <a:avLst/>
          </a:prstGeom>
          <a:noFill/>
        </p:spPr>
        <p:txBody>
          <a:bodyPr wrap="none">
            <a:spAutoFit/>
          </a:bodyPr>
          <a:lstStyle/>
          <a:p>
            <a:pPr algn="l"/>
            <a:r>
              <a:rPr sz="1395">
                <a:solidFill>
                  <a:schemeClr val="bg1"/>
                </a:solidFill>
                <a:latin typeface="Aptos"/>
              </a:rPr>
              <a:t>• Displays injury type, risk score and risk level.</a:t>
            </a:r>
          </a:p>
        </p:txBody>
      </p:sp>
      <p:sp>
        <p:nvSpPr>
          <p:cNvPr id="12" name="TextBox 11"/>
          <p:cNvSpPr txBox="1"/>
          <p:nvPr/>
        </p:nvSpPr>
        <p:spPr>
          <a:xfrm>
            <a:off x="1097280" y="4594859"/>
            <a:ext cx="3115596" cy="307007"/>
          </a:xfrm>
          <a:prstGeom prst="rect">
            <a:avLst/>
          </a:prstGeom>
          <a:noFill/>
        </p:spPr>
        <p:txBody>
          <a:bodyPr wrap="none">
            <a:spAutoFit/>
          </a:bodyPr>
          <a:lstStyle/>
          <a:p>
            <a:pPr algn="l"/>
            <a:r>
              <a:rPr sz="1395">
                <a:solidFill>
                  <a:schemeClr val="bg1"/>
                </a:solidFill>
                <a:latin typeface="Aptos"/>
              </a:rPr>
              <a:t>• Downloads an individual PDF report.</a:t>
            </a:r>
          </a:p>
        </p:txBody>
      </p:sp>
      <p:sp>
        <p:nvSpPr>
          <p:cNvPr id="13" name="TextBox 12"/>
          <p:cNvSpPr txBox="1"/>
          <p:nvPr/>
        </p:nvSpPr>
        <p:spPr>
          <a:xfrm>
            <a:off x="1097281" y="5088637"/>
            <a:ext cx="2840073" cy="307007"/>
          </a:xfrm>
          <a:prstGeom prst="rect">
            <a:avLst/>
          </a:prstGeom>
          <a:noFill/>
        </p:spPr>
        <p:txBody>
          <a:bodyPr wrap="none">
            <a:spAutoFit/>
          </a:bodyPr>
          <a:lstStyle/>
          <a:p>
            <a:pPr algn="l"/>
            <a:r>
              <a:rPr sz="1395">
                <a:solidFill>
                  <a:schemeClr val="bg1"/>
                </a:solidFill>
                <a:latin typeface="Aptos"/>
              </a:rPr>
              <a:t>• Exports complete history as CSV.</a:t>
            </a:r>
          </a:p>
        </p:txBody>
      </p:sp>
      <p:sp>
        <p:nvSpPr>
          <p:cNvPr id="14" name="Rounded Rectangle 13"/>
          <p:cNvSpPr/>
          <p:nvPr/>
        </p:nvSpPr>
        <p:spPr>
          <a:xfrm>
            <a:off x="754380" y="6144768"/>
            <a:ext cx="2606040" cy="115214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15" name="TextBox 14"/>
          <p:cNvSpPr txBox="1"/>
          <p:nvPr/>
        </p:nvSpPr>
        <p:spPr>
          <a:xfrm>
            <a:off x="1698167" y="6336792"/>
            <a:ext cx="718465" cy="438582"/>
          </a:xfrm>
          <a:prstGeom prst="rect">
            <a:avLst/>
          </a:prstGeom>
          <a:noFill/>
        </p:spPr>
        <p:txBody>
          <a:bodyPr wrap="none">
            <a:spAutoFit/>
          </a:bodyPr>
          <a:lstStyle/>
          <a:p>
            <a:pPr algn="ctr"/>
            <a:r>
              <a:rPr sz="2250" b="1">
                <a:solidFill>
                  <a:schemeClr val="bg1"/>
                </a:solidFill>
                <a:latin typeface="Aptos"/>
              </a:rPr>
              <a:t>PDF</a:t>
            </a:r>
          </a:p>
        </p:txBody>
      </p:sp>
      <p:sp>
        <p:nvSpPr>
          <p:cNvPr id="16" name="TextBox 15"/>
          <p:cNvSpPr txBox="1"/>
          <p:nvPr/>
        </p:nvSpPr>
        <p:spPr>
          <a:xfrm>
            <a:off x="1064982" y="6720841"/>
            <a:ext cx="1984839" cy="265457"/>
          </a:xfrm>
          <a:prstGeom prst="rect">
            <a:avLst/>
          </a:prstGeom>
          <a:noFill/>
        </p:spPr>
        <p:txBody>
          <a:bodyPr wrap="none">
            <a:spAutoFit/>
          </a:bodyPr>
          <a:lstStyle/>
          <a:p>
            <a:pPr algn="ctr"/>
            <a:r>
              <a:rPr sz="1125">
                <a:solidFill>
                  <a:schemeClr val="bg1"/>
                </a:solidFill>
                <a:latin typeface="Aptos"/>
              </a:rPr>
              <a:t>Individual assessment report</a:t>
            </a:r>
          </a:p>
        </p:txBody>
      </p:sp>
      <p:sp>
        <p:nvSpPr>
          <p:cNvPr id="17" name="Rounded Rectangle 16"/>
          <p:cNvSpPr/>
          <p:nvPr/>
        </p:nvSpPr>
        <p:spPr>
          <a:xfrm>
            <a:off x="3634740" y="6144768"/>
            <a:ext cx="2606040" cy="115214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18" name="TextBox 17"/>
          <p:cNvSpPr txBox="1"/>
          <p:nvPr/>
        </p:nvSpPr>
        <p:spPr>
          <a:xfrm>
            <a:off x="4569293" y="6336792"/>
            <a:ext cx="736933" cy="438582"/>
          </a:xfrm>
          <a:prstGeom prst="rect">
            <a:avLst/>
          </a:prstGeom>
          <a:noFill/>
        </p:spPr>
        <p:txBody>
          <a:bodyPr wrap="none">
            <a:spAutoFit/>
          </a:bodyPr>
          <a:lstStyle/>
          <a:p>
            <a:pPr algn="ctr"/>
            <a:r>
              <a:rPr sz="2250" b="1">
                <a:solidFill>
                  <a:schemeClr val="bg1"/>
                </a:solidFill>
                <a:latin typeface="Aptos"/>
              </a:rPr>
              <a:t>CSV</a:t>
            </a:r>
          </a:p>
        </p:txBody>
      </p:sp>
      <p:sp>
        <p:nvSpPr>
          <p:cNvPr id="19" name="TextBox 18"/>
          <p:cNvSpPr txBox="1"/>
          <p:nvPr/>
        </p:nvSpPr>
        <p:spPr>
          <a:xfrm>
            <a:off x="3894846" y="6720841"/>
            <a:ext cx="2085827" cy="265457"/>
          </a:xfrm>
          <a:prstGeom prst="rect">
            <a:avLst/>
          </a:prstGeom>
          <a:noFill/>
        </p:spPr>
        <p:txBody>
          <a:bodyPr wrap="none">
            <a:spAutoFit/>
          </a:bodyPr>
          <a:lstStyle/>
          <a:p>
            <a:pPr algn="ctr"/>
            <a:r>
              <a:rPr sz="1125">
                <a:solidFill>
                  <a:schemeClr val="bg1"/>
                </a:solidFill>
                <a:latin typeface="Aptos"/>
              </a:rPr>
              <a:t>Complete report history export</a:t>
            </a:r>
          </a:p>
        </p:txBody>
      </p:sp>
      <p:sp>
        <p:nvSpPr>
          <p:cNvPr id="20" name="TextBox 19"/>
          <p:cNvSpPr txBox="1"/>
          <p:nvPr/>
        </p:nvSpPr>
        <p:spPr>
          <a:xfrm>
            <a:off x="6556248" y="2221992"/>
            <a:ext cx="2774862" cy="357790"/>
          </a:xfrm>
          <a:prstGeom prst="rect">
            <a:avLst/>
          </a:prstGeom>
          <a:noFill/>
        </p:spPr>
        <p:txBody>
          <a:bodyPr wrap="none">
            <a:spAutoFit/>
          </a:bodyPr>
          <a:lstStyle/>
          <a:p>
            <a:pPr algn="l"/>
            <a:r>
              <a:rPr sz="1725" b="1">
                <a:solidFill>
                  <a:schemeClr val="accent4">
                    <a:lumMod val="75000"/>
                  </a:schemeClr>
                </a:solidFill>
                <a:latin typeface="Aptos"/>
              </a:rPr>
              <a:t>02 · REPORT GENERATION</a:t>
            </a:r>
          </a:p>
        </p:txBody>
      </p:sp>
      <p:sp>
        <p:nvSpPr>
          <p:cNvPr id="21" name="Rounded Rectangle 20"/>
          <p:cNvSpPr/>
          <p:nvPr/>
        </p:nvSpPr>
        <p:spPr>
          <a:xfrm>
            <a:off x="6556248" y="2743200"/>
            <a:ext cx="4869180" cy="349758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22" name="TextBox 21"/>
          <p:cNvSpPr txBox="1"/>
          <p:nvPr/>
        </p:nvSpPr>
        <p:spPr>
          <a:xfrm>
            <a:off x="6885432" y="3044952"/>
            <a:ext cx="3472554" cy="415498"/>
          </a:xfrm>
          <a:prstGeom prst="rect">
            <a:avLst/>
          </a:prstGeom>
          <a:noFill/>
        </p:spPr>
        <p:txBody>
          <a:bodyPr wrap="none">
            <a:spAutoFit/>
          </a:bodyPr>
          <a:lstStyle/>
          <a:p>
            <a:pPr algn="l"/>
            <a:r>
              <a:rPr sz="2100" b="1">
                <a:solidFill>
                  <a:srgbClr val="F0F5F8"/>
                </a:solidFill>
                <a:latin typeface="Aptos"/>
              </a:rPr>
              <a:t>Generated Report Includes</a:t>
            </a:r>
          </a:p>
        </p:txBody>
      </p:sp>
      <p:sp>
        <p:nvSpPr>
          <p:cNvPr id="23" name="Rounded Rectangle 22"/>
          <p:cNvSpPr/>
          <p:nvPr/>
        </p:nvSpPr>
        <p:spPr>
          <a:xfrm>
            <a:off x="6885432" y="3730752"/>
            <a:ext cx="2084832" cy="521208"/>
          </a:xfrm>
          <a:prstGeom prst="roundRect">
            <a:avLst/>
          </a:prstGeom>
          <a:solidFill>
            <a:schemeClr val="tx1">
              <a:lumMod val="50000"/>
              <a:lumOff val="50000"/>
            </a:schemeClr>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4" name="TextBox 23"/>
          <p:cNvSpPr txBox="1"/>
          <p:nvPr/>
        </p:nvSpPr>
        <p:spPr>
          <a:xfrm>
            <a:off x="7255228" y="3881628"/>
            <a:ext cx="1345240" cy="258532"/>
          </a:xfrm>
          <a:prstGeom prst="rect">
            <a:avLst/>
          </a:prstGeom>
          <a:noFill/>
        </p:spPr>
        <p:txBody>
          <a:bodyPr wrap="none">
            <a:spAutoFit/>
          </a:bodyPr>
          <a:lstStyle/>
          <a:p>
            <a:pPr algn="ctr"/>
            <a:r>
              <a:rPr sz="1080">
                <a:solidFill>
                  <a:srgbClr val="F0F5F8"/>
                </a:solidFill>
                <a:latin typeface="Aptos"/>
              </a:rPr>
              <a:t>Athlete information</a:t>
            </a:r>
          </a:p>
        </p:txBody>
      </p:sp>
      <p:sp>
        <p:nvSpPr>
          <p:cNvPr id="25" name="Rounded Rectangle 24"/>
          <p:cNvSpPr/>
          <p:nvPr/>
        </p:nvSpPr>
        <p:spPr>
          <a:xfrm>
            <a:off x="9176004" y="3730752"/>
            <a:ext cx="2084832" cy="521208"/>
          </a:xfrm>
          <a:prstGeom prst="roundRect">
            <a:avLst/>
          </a:prstGeom>
          <a:solidFill>
            <a:schemeClr val="tx1">
              <a:lumMod val="50000"/>
              <a:lumOff val="50000"/>
            </a:schemeClr>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9180316" y="3881628"/>
            <a:ext cx="2076209" cy="258532"/>
          </a:xfrm>
          <a:prstGeom prst="rect">
            <a:avLst/>
          </a:prstGeom>
          <a:noFill/>
        </p:spPr>
        <p:txBody>
          <a:bodyPr wrap="none">
            <a:spAutoFit/>
          </a:bodyPr>
          <a:lstStyle/>
          <a:p>
            <a:pPr algn="ctr"/>
            <a:r>
              <a:rPr sz="1080">
                <a:solidFill>
                  <a:srgbClr val="F0F5F8"/>
                </a:solidFill>
                <a:latin typeface="Aptos"/>
              </a:rPr>
              <a:t>Video name &amp; assessment date</a:t>
            </a:r>
          </a:p>
        </p:txBody>
      </p:sp>
      <p:sp>
        <p:nvSpPr>
          <p:cNvPr id="27" name="Rounded Rectangle 26"/>
          <p:cNvSpPr/>
          <p:nvPr/>
        </p:nvSpPr>
        <p:spPr>
          <a:xfrm>
            <a:off x="6885432" y="4485132"/>
            <a:ext cx="2084832" cy="521208"/>
          </a:xfrm>
          <a:prstGeom prst="roundRect">
            <a:avLst/>
          </a:prstGeom>
          <a:solidFill>
            <a:schemeClr val="tx1">
              <a:lumMod val="50000"/>
              <a:lumOff val="50000"/>
            </a:schemeClr>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8" name="TextBox 27"/>
          <p:cNvSpPr txBox="1"/>
          <p:nvPr/>
        </p:nvSpPr>
        <p:spPr>
          <a:xfrm>
            <a:off x="7191110" y="4636008"/>
            <a:ext cx="1473480" cy="258532"/>
          </a:xfrm>
          <a:prstGeom prst="rect">
            <a:avLst/>
          </a:prstGeom>
          <a:noFill/>
        </p:spPr>
        <p:txBody>
          <a:bodyPr wrap="none">
            <a:spAutoFit/>
          </a:bodyPr>
          <a:lstStyle/>
          <a:p>
            <a:pPr algn="ctr"/>
            <a:r>
              <a:rPr sz="1080">
                <a:solidFill>
                  <a:srgbClr val="F0F5F8"/>
                </a:solidFill>
                <a:latin typeface="Aptos"/>
              </a:rPr>
              <a:t>Risk score &amp; risk level</a:t>
            </a:r>
          </a:p>
        </p:txBody>
      </p:sp>
      <p:sp>
        <p:nvSpPr>
          <p:cNvPr id="29" name="Rounded Rectangle 28"/>
          <p:cNvSpPr/>
          <p:nvPr/>
        </p:nvSpPr>
        <p:spPr>
          <a:xfrm>
            <a:off x="9176004" y="4485132"/>
            <a:ext cx="2084832" cy="521208"/>
          </a:xfrm>
          <a:prstGeom prst="roundRect">
            <a:avLst/>
          </a:prstGeom>
          <a:solidFill>
            <a:schemeClr val="tx1">
              <a:lumMod val="50000"/>
              <a:lumOff val="50000"/>
            </a:schemeClr>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TextBox 29"/>
          <p:cNvSpPr txBox="1"/>
          <p:nvPr/>
        </p:nvSpPr>
        <p:spPr>
          <a:xfrm>
            <a:off x="9062496" y="4636008"/>
            <a:ext cx="2311850" cy="258532"/>
          </a:xfrm>
          <a:prstGeom prst="rect">
            <a:avLst/>
          </a:prstGeom>
          <a:noFill/>
        </p:spPr>
        <p:txBody>
          <a:bodyPr wrap="none">
            <a:spAutoFit/>
          </a:bodyPr>
          <a:lstStyle/>
          <a:p>
            <a:pPr algn="ctr"/>
            <a:r>
              <a:rPr sz="1080">
                <a:solidFill>
                  <a:srgbClr val="F0F5F8"/>
                </a:solidFill>
                <a:latin typeface="Aptos"/>
              </a:rPr>
              <a:t>Contributing biomechanical factors</a:t>
            </a:r>
          </a:p>
        </p:txBody>
      </p:sp>
      <p:sp>
        <p:nvSpPr>
          <p:cNvPr id="31" name="Rounded Rectangle 30"/>
          <p:cNvSpPr/>
          <p:nvPr/>
        </p:nvSpPr>
        <p:spPr>
          <a:xfrm>
            <a:off x="6885432" y="5239512"/>
            <a:ext cx="2084832" cy="521208"/>
          </a:xfrm>
          <a:prstGeom prst="roundRect">
            <a:avLst/>
          </a:prstGeom>
          <a:solidFill>
            <a:schemeClr val="tx1">
              <a:lumMod val="50000"/>
              <a:lumOff val="50000"/>
            </a:schemeClr>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TextBox 31"/>
          <p:cNvSpPr txBox="1"/>
          <p:nvPr/>
        </p:nvSpPr>
        <p:spPr>
          <a:xfrm>
            <a:off x="7263243" y="5390388"/>
            <a:ext cx="1329210" cy="258532"/>
          </a:xfrm>
          <a:prstGeom prst="rect">
            <a:avLst/>
          </a:prstGeom>
          <a:noFill/>
        </p:spPr>
        <p:txBody>
          <a:bodyPr wrap="none">
            <a:spAutoFit/>
          </a:bodyPr>
          <a:lstStyle/>
          <a:p>
            <a:pPr algn="ctr"/>
            <a:r>
              <a:rPr sz="1080">
                <a:solidFill>
                  <a:srgbClr val="F0F5F8"/>
                </a:solidFill>
                <a:latin typeface="Aptos"/>
              </a:rPr>
              <a:t>Recommendations</a:t>
            </a:r>
          </a:p>
        </p:txBody>
      </p:sp>
      <p:sp>
        <p:nvSpPr>
          <p:cNvPr id="33" name="Rounded Rectangle 32"/>
          <p:cNvSpPr/>
          <p:nvPr/>
        </p:nvSpPr>
        <p:spPr>
          <a:xfrm>
            <a:off x="9176004" y="5239512"/>
            <a:ext cx="2084832" cy="521208"/>
          </a:xfrm>
          <a:prstGeom prst="roundRect">
            <a:avLst/>
          </a:prstGeom>
          <a:solidFill>
            <a:schemeClr val="tx1">
              <a:lumMod val="50000"/>
              <a:lumOff val="50000"/>
            </a:schemeClr>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9608317" y="5390388"/>
            <a:ext cx="1220206" cy="258532"/>
          </a:xfrm>
          <a:prstGeom prst="rect">
            <a:avLst/>
          </a:prstGeom>
          <a:noFill/>
        </p:spPr>
        <p:txBody>
          <a:bodyPr wrap="none">
            <a:spAutoFit/>
          </a:bodyPr>
          <a:lstStyle/>
          <a:p>
            <a:pPr algn="ctr"/>
            <a:r>
              <a:rPr sz="1080">
                <a:solidFill>
                  <a:srgbClr val="F0F5F8"/>
                </a:solidFill>
                <a:latin typeface="Aptos"/>
              </a:rPr>
              <a:t>Safety disclaimer</a:t>
            </a:r>
          </a:p>
        </p:txBody>
      </p:sp>
      <p:sp>
        <p:nvSpPr>
          <p:cNvPr id="35" name="Rounded Rectangle 34"/>
          <p:cNvSpPr/>
          <p:nvPr/>
        </p:nvSpPr>
        <p:spPr>
          <a:xfrm>
            <a:off x="6556248" y="6556248"/>
            <a:ext cx="4869180" cy="932688"/>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36" name="TextBox 35"/>
          <p:cNvSpPr txBox="1"/>
          <p:nvPr/>
        </p:nvSpPr>
        <p:spPr>
          <a:xfrm>
            <a:off x="7678078" y="6816852"/>
            <a:ext cx="2611804" cy="300082"/>
          </a:xfrm>
          <a:prstGeom prst="rect">
            <a:avLst/>
          </a:prstGeom>
          <a:noFill/>
        </p:spPr>
        <p:txBody>
          <a:bodyPr wrap="none">
            <a:spAutoFit/>
          </a:bodyPr>
          <a:lstStyle/>
          <a:p>
            <a:pPr algn="ctr"/>
            <a:r>
              <a:rPr sz="1350" b="1">
                <a:solidFill>
                  <a:schemeClr val="bg1"/>
                </a:solidFill>
                <a:latin typeface="Aptos"/>
              </a:rPr>
              <a:t>Analysis → Risk Result → Report</a:t>
            </a:r>
          </a:p>
        </p:txBody>
      </p:sp>
      <p:sp>
        <p:nvSpPr>
          <p:cNvPr id="37" name="TextBox 36"/>
          <p:cNvSpPr txBox="1"/>
          <p:nvPr/>
        </p:nvSpPr>
        <p:spPr>
          <a:xfrm>
            <a:off x="11823191" y="2221992"/>
            <a:ext cx="2567498" cy="357790"/>
          </a:xfrm>
          <a:prstGeom prst="rect">
            <a:avLst/>
          </a:prstGeom>
          <a:noFill/>
        </p:spPr>
        <p:txBody>
          <a:bodyPr wrap="none">
            <a:spAutoFit/>
          </a:bodyPr>
          <a:lstStyle/>
          <a:p>
            <a:pPr algn="l"/>
            <a:r>
              <a:rPr sz="1725" b="1">
                <a:solidFill>
                  <a:schemeClr val="accent4">
                    <a:lumMod val="75000"/>
                  </a:schemeClr>
                </a:solidFill>
                <a:latin typeface="Aptos"/>
              </a:rPr>
              <a:t>03 · DEPLOYMENT PLAN</a:t>
            </a:r>
          </a:p>
        </p:txBody>
      </p:sp>
      <p:sp>
        <p:nvSpPr>
          <p:cNvPr id="40" name="Rounded Rectangle 39"/>
          <p:cNvSpPr/>
          <p:nvPr/>
        </p:nvSpPr>
        <p:spPr>
          <a:xfrm>
            <a:off x="11823191" y="2743200"/>
            <a:ext cx="555498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41" name="TextBox 40"/>
          <p:cNvSpPr txBox="1"/>
          <p:nvPr/>
        </p:nvSpPr>
        <p:spPr>
          <a:xfrm>
            <a:off x="12070080" y="2880361"/>
            <a:ext cx="777072" cy="309315"/>
          </a:xfrm>
          <a:prstGeom prst="rect">
            <a:avLst/>
          </a:prstGeom>
          <a:noFill/>
        </p:spPr>
        <p:txBody>
          <a:bodyPr wrap="none">
            <a:spAutoFit/>
          </a:bodyPr>
          <a:lstStyle/>
          <a:p>
            <a:pPr algn="l"/>
            <a:r>
              <a:rPr sz="1410" b="1">
                <a:solidFill>
                  <a:srgbClr val="F0F5F8"/>
                </a:solidFill>
                <a:latin typeface="Aptos"/>
              </a:rPr>
              <a:t>Docker</a:t>
            </a:r>
          </a:p>
        </p:txBody>
      </p:sp>
      <p:sp>
        <p:nvSpPr>
          <p:cNvPr id="42" name="TextBox 41"/>
          <p:cNvSpPr txBox="1"/>
          <p:nvPr/>
        </p:nvSpPr>
        <p:spPr>
          <a:xfrm>
            <a:off x="12070081" y="3168396"/>
            <a:ext cx="2034531" cy="270074"/>
          </a:xfrm>
          <a:prstGeom prst="rect">
            <a:avLst/>
          </a:prstGeom>
          <a:noFill/>
        </p:spPr>
        <p:txBody>
          <a:bodyPr wrap="none">
            <a:spAutoFit/>
          </a:bodyPr>
          <a:lstStyle/>
          <a:p>
            <a:pPr algn="l"/>
            <a:r>
              <a:rPr sz="1155">
                <a:solidFill>
                  <a:schemeClr val="bg1"/>
                </a:solidFill>
                <a:latin typeface="Aptos"/>
              </a:rPr>
              <a:t>Containerize the application.</a:t>
            </a:r>
          </a:p>
        </p:txBody>
      </p:sp>
      <p:sp>
        <p:nvSpPr>
          <p:cNvPr id="43" name="Rounded Rectangle 42"/>
          <p:cNvSpPr/>
          <p:nvPr/>
        </p:nvSpPr>
        <p:spPr>
          <a:xfrm>
            <a:off x="11823191" y="3813048"/>
            <a:ext cx="555498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44" name="TextBox 43"/>
          <p:cNvSpPr txBox="1"/>
          <p:nvPr/>
        </p:nvSpPr>
        <p:spPr>
          <a:xfrm>
            <a:off x="12070081" y="3950209"/>
            <a:ext cx="1434047" cy="309315"/>
          </a:xfrm>
          <a:prstGeom prst="rect">
            <a:avLst/>
          </a:prstGeom>
          <a:noFill/>
        </p:spPr>
        <p:txBody>
          <a:bodyPr wrap="none">
            <a:spAutoFit/>
          </a:bodyPr>
          <a:lstStyle/>
          <a:p>
            <a:pPr algn="l"/>
            <a:r>
              <a:rPr sz="1410" b="1">
                <a:solidFill>
                  <a:srgbClr val="F0F5F8"/>
                </a:solidFill>
                <a:latin typeface="Aptos"/>
              </a:rPr>
              <a:t>Cloud Platform</a:t>
            </a:r>
          </a:p>
        </p:txBody>
      </p:sp>
      <p:sp>
        <p:nvSpPr>
          <p:cNvPr id="45" name="TextBox 44"/>
          <p:cNvSpPr txBox="1"/>
          <p:nvPr/>
        </p:nvSpPr>
        <p:spPr>
          <a:xfrm>
            <a:off x="12070081" y="4238244"/>
            <a:ext cx="4203395" cy="270074"/>
          </a:xfrm>
          <a:prstGeom prst="rect">
            <a:avLst/>
          </a:prstGeom>
          <a:noFill/>
        </p:spPr>
        <p:txBody>
          <a:bodyPr wrap="none">
            <a:spAutoFit/>
          </a:bodyPr>
          <a:lstStyle/>
          <a:p>
            <a:pPr algn="l"/>
            <a:r>
              <a:rPr sz="1155">
                <a:solidFill>
                  <a:schemeClr val="bg1"/>
                </a:solidFill>
                <a:latin typeface="Aptos"/>
              </a:rPr>
              <a:t>Deploy frontend and backend using a platform such as Render.</a:t>
            </a:r>
          </a:p>
        </p:txBody>
      </p:sp>
      <p:sp>
        <p:nvSpPr>
          <p:cNvPr id="46" name="Rounded Rectangle 45"/>
          <p:cNvSpPr/>
          <p:nvPr/>
        </p:nvSpPr>
        <p:spPr>
          <a:xfrm>
            <a:off x="11823191" y="4882896"/>
            <a:ext cx="555498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47" name="TextBox 46"/>
          <p:cNvSpPr txBox="1"/>
          <p:nvPr/>
        </p:nvSpPr>
        <p:spPr>
          <a:xfrm>
            <a:off x="12070080" y="5020057"/>
            <a:ext cx="1309846" cy="309315"/>
          </a:xfrm>
          <a:prstGeom prst="rect">
            <a:avLst/>
          </a:prstGeom>
          <a:noFill/>
        </p:spPr>
        <p:txBody>
          <a:bodyPr wrap="none">
            <a:spAutoFit/>
          </a:bodyPr>
          <a:lstStyle/>
          <a:p>
            <a:pPr algn="l"/>
            <a:r>
              <a:rPr sz="1410" b="1">
                <a:solidFill>
                  <a:srgbClr val="F0F5F8"/>
                </a:solidFill>
                <a:latin typeface="Aptos"/>
              </a:rPr>
              <a:t>Configuration</a:t>
            </a:r>
          </a:p>
        </p:txBody>
      </p:sp>
      <p:sp>
        <p:nvSpPr>
          <p:cNvPr id="48" name="TextBox 47"/>
          <p:cNvSpPr txBox="1"/>
          <p:nvPr/>
        </p:nvSpPr>
        <p:spPr>
          <a:xfrm>
            <a:off x="12070080" y="5308092"/>
            <a:ext cx="3554178" cy="270074"/>
          </a:xfrm>
          <a:prstGeom prst="rect">
            <a:avLst/>
          </a:prstGeom>
          <a:noFill/>
        </p:spPr>
        <p:txBody>
          <a:bodyPr wrap="none">
            <a:spAutoFit/>
          </a:bodyPr>
          <a:lstStyle/>
          <a:p>
            <a:pPr algn="l"/>
            <a:r>
              <a:rPr sz="1155">
                <a:solidFill>
                  <a:schemeClr val="bg1"/>
                </a:solidFill>
                <a:latin typeface="Aptos"/>
              </a:rPr>
              <a:t>Set environment variables and database connection.</a:t>
            </a:r>
          </a:p>
        </p:txBody>
      </p:sp>
      <p:sp>
        <p:nvSpPr>
          <p:cNvPr id="49" name="Rounded Rectangle 48"/>
          <p:cNvSpPr/>
          <p:nvPr/>
        </p:nvSpPr>
        <p:spPr>
          <a:xfrm>
            <a:off x="11823191" y="5952744"/>
            <a:ext cx="555498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50" name="TextBox 49"/>
          <p:cNvSpPr txBox="1"/>
          <p:nvPr/>
        </p:nvSpPr>
        <p:spPr>
          <a:xfrm>
            <a:off x="12070080" y="6089903"/>
            <a:ext cx="2233304" cy="309315"/>
          </a:xfrm>
          <a:prstGeom prst="rect">
            <a:avLst/>
          </a:prstGeom>
          <a:noFill/>
        </p:spPr>
        <p:txBody>
          <a:bodyPr wrap="none">
            <a:spAutoFit/>
          </a:bodyPr>
          <a:lstStyle/>
          <a:p>
            <a:pPr algn="l"/>
            <a:r>
              <a:rPr sz="1410" b="1">
                <a:solidFill>
                  <a:srgbClr val="F0F5F8"/>
                </a:solidFill>
                <a:latin typeface="Aptos"/>
              </a:rPr>
              <a:t>Post-Deployment Testing</a:t>
            </a:r>
          </a:p>
        </p:txBody>
      </p:sp>
      <p:sp>
        <p:nvSpPr>
          <p:cNvPr id="51" name="TextBox 50"/>
          <p:cNvSpPr txBox="1"/>
          <p:nvPr/>
        </p:nvSpPr>
        <p:spPr>
          <a:xfrm>
            <a:off x="12070080" y="6377939"/>
            <a:ext cx="3518912" cy="270074"/>
          </a:xfrm>
          <a:prstGeom prst="rect">
            <a:avLst/>
          </a:prstGeom>
          <a:noFill/>
        </p:spPr>
        <p:txBody>
          <a:bodyPr wrap="none">
            <a:spAutoFit/>
          </a:bodyPr>
          <a:lstStyle/>
          <a:p>
            <a:pPr algn="l"/>
            <a:r>
              <a:rPr sz="1155">
                <a:solidFill>
                  <a:schemeClr val="bg1"/>
                </a:solidFill>
                <a:latin typeface="Aptos"/>
              </a:rPr>
              <a:t>Validate the complete application after deployment.</a:t>
            </a:r>
          </a:p>
        </p:txBody>
      </p:sp>
      <p:sp>
        <p:nvSpPr>
          <p:cNvPr id="52" name="TextBox 51"/>
          <p:cNvSpPr txBox="1"/>
          <p:nvPr/>
        </p:nvSpPr>
        <p:spPr>
          <a:xfrm>
            <a:off x="754381" y="8339329"/>
            <a:ext cx="2381421" cy="288541"/>
          </a:xfrm>
          <a:prstGeom prst="rect">
            <a:avLst/>
          </a:prstGeom>
          <a:noFill/>
        </p:spPr>
        <p:txBody>
          <a:bodyPr wrap="none">
            <a:spAutoFit/>
          </a:bodyPr>
          <a:lstStyle/>
          <a:p>
            <a:pPr algn="l"/>
            <a:r>
              <a:rPr sz="1275" b="1">
                <a:solidFill>
                  <a:schemeClr val="accent4">
                    <a:lumMod val="75000"/>
                  </a:schemeClr>
                </a:solidFill>
                <a:latin typeface="Aptos"/>
              </a:rPr>
              <a:t>END-TO-END DELIVERY FLOW</a:t>
            </a:r>
          </a:p>
        </p:txBody>
      </p:sp>
      <p:sp>
        <p:nvSpPr>
          <p:cNvPr id="53" name="Rounded Rectangle 52"/>
          <p:cNvSpPr/>
          <p:nvPr/>
        </p:nvSpPr>
        <p:spPr>
          <a:xfrm>
            <a:off x="754380" y="8723376"/>
            <a:ext cx="1577340" cy="548640"/>
          </a:xfrm>
          <a:prstGeom prst="roundRect">
            <a:avLst/>
          </a:prstGeom>
          <a:solidFill>
            <a:schemeClr val="accent5">
              <a:lumMod val="40000"/>
              <a:lumOff val="60000"/>
            </a:schemeClr>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54" name="TextBox 53"/>
          <p:cNvSpPr txBox="1"/>
          <p:nvPr/>
        </p:nvSpPr>
        <p:spPr>
          <a:xfrm>
            <a:off x="1154803" y="8887969"/>
            <a:ext cx="776495" cy="276999"/>
          </a:xfrm>
          <a:prstGeom prst="rect">
            <a:avLst/>
          </a:prstGeom>
          <a:noFill/>
        </p:spPr>
        <p:txBody>
          <a:bodyPr wrap="none">
            <a:spAutoFit/>
          </a:bodyPr>
          <a:lstStyle/>
          <a:p>
            <a:pPr algn="ctr"/>
            <a:r>
              <a:rPr sz="1200" b="1">
                <a:latin typeface="Aptos"/>
              </a:rPr>
              <a:t>Analysis</a:t>
            </a:r>
          </a:p>
        </p:txBody>
      </p:sp>
      <p:sp>
        <p:nvSpPr>
          <p:cNvPr id="55" name="TextBox 54"/>
          <p:cNvSpPr txBox="1"/>
          <p:nvPr/>
        </p:nvSpPr>
        <p:spPr>
          <a:xfrm>
            <a:off x="2347518" y="887425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56" name="Rounded Rectangle 55"/>
          <p:cNvSpPr/>
          <p:nvPr/>
        </p:nvSpPr>
        <p:spPr>
          <a:xfrm>
            <a:off x="2674620" y="8723376"/>
            <a:ext cx="1714500" cy="548640"/>
          </a:xfrm>
          <a:prstGeom prst="roundRect">
            <a:avLst/>
          </a:prstGeom>
          <a:solidFill>
            <a:schemeClr val="accent5">
              <a:lumMod val="40000"/>
              <a:lumOff val="60000"/>
            </a:schemeClr>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57" name="TextBox 56"/>
          <p:cNvSpPr txBox="1"/>
          <p:nvPr/>
        </p:nvSpPr>
        <p:spPr>
          <a:xfrm>
            <a:off x="3046801" y="8887969"/>
            <a:ext cx="970137" cy="276999"/>
          </a:xfrm>
          <a:prstGeom prst="rect">
            <a:avLst/>
          </a:prstGeom>
          <a:noFill/>
        </p:spPr>
        <p:txBody>
          <a:bodyPr wrap="none">
            <a:spAutoFit/>
          </a:bodyPr>
          <a:lstStyle/>
          <a:p>
            <a:pPr algn="ctr"/>
            <a:r>
              <a:rPr sz="1200" b="1">
                <a:latin typeface="Aptos"/>
              </a:rPr>
              <a:t>Risk Result</a:t>
            </a:r>
          </a:p>
        </p:txBody>
      </p:sp>
      <p:sp>
        <p:nvSpPr>
          <p:cNvPr id="58" name="TextBox 57"/>
          <p:cNvSpPr txBox="1"/>
          <p:nvPr/>
        </p:nvSpPr>
        <p:spPr>
          <a:xfrm>
            <a:off x="4404918" y="887425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59" name="Rounded Rectangle 58"/>
          <p:cNvSpPr/>
          <p:nvPr/>
        </p:nvSpPr>
        <p:spPr>
          <a:xfrm>
            <a:off x="4732020" y="8723376"/>
            <a:ext cx="1577340" cy="548640"/>
          </a:xfrm>
          <a:prstGeom prst="roundRect">
            <a:avLst/>
          </a:prstGeom>
          <a:solidFill>
            <a:schemeClr val="accent5">
              <a:lumMod val="40000"/>
              <a:lumOff val="60000"/>
            </a:schemeClr>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60" name="TextBox 59"/>
          <p:cNvSpPr txBox="1"/>
          <p:nvPr/>
        </p:nvSpPr>
        <p:spPr>
          <a:xfrm>
            <a:off x="5152767" y="8887969"/>
            <a:ext cx="735842" cy="276999"/>
          </a:xfrm>
          <a:prstGeom prst="rect">
            <a:avLst/>
          </a:prstGeom>
          <a:noFill/>
        </p:spPr>
        <p:txBody>
          <a:bodyPr wrap="none">
            <a:spAutoFit/>
          </a:bodyPr>
          <a:lstStyle/>
          <a:p>
            <a:pPr algn="ctr"/>
            <a:r>
              <a:rPr sz="1200" b="1">
                <a:latin typeface="Aptos"/>
              </a:rPr>
              <a:t>Reports</a:t>
            </a:r>
          </a:p>
        </p:txBody>
      </p:sp>
      <p:sp>
        <p:nvSpPr>
          <p:cNvPr id="61" name="TextBox 60"/>
          <p:cNvSpPr txBox="1"/>
          <p:nvPr/>
        </p:nvSpPr>
        <p:spPr>
          <a:xfrm>
            <a:off x="6325158" y="887425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62" name="Rounded Rectangle 61"/>
          <p:cNvSpPr/>
          <p:nvPr/>
        </p:nvSpPr>
        <p:spPr>
          <a:xfrm>
            <a:off x="6652260" y="8723376"/>
            <a:ext cx="1714500" cy="548640"/>
          </a:xfrm>
          <a:prstGeom prst="roundRect">
            <a:avLst/>
          </a:prstGeom>
          <a:solidFill>
            <a:schemeClr val="accent5">
              <a:lumMod val="40000"/>
              <a:lumOff val="60000"/>
            </a:schemeClr>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63" name="TextBox 62"/>
          <p:cNvSpPr txBox="1"/>
          <p:nvPr/>
        </p:nvSpPr>
        <p:spPr>
          <a:xfrm>
            <a:off x="7065959" y="8887969"/>
            <a:ext cx="887102" cy="276999"/>
          </a:xfrm>
          <a:prstGeom prst="rect">
            <a:avLst/>
          </a:prstGeom>
          <a:noFill/>
        </p:spPr>
        <p:txBody>
          <a:bodyPr wrap="none">
            <a:spAutoFit/>
          </a:bodyPr>
          <a:lstStyle/>
          <a:p>
            <a:pPr algn="ctr"/>
            <a:r>
              <a:rPr sz="1200" b="1">
                <a:latin typeface="Aptos"/>
              </a:rPr>
              <a:t>PDF / CSV</a:t>
            </a:r>
          </a:p>
        </p:txBody>
      </p:sp>
      <p:sp>
        <p:nvSpPr>
          <p:cNvPr id="64" name="TextBox 63"/>
          <p:cNvSpPr txBox="1"/>
          <p:nvPr/>
        </p:nvSpPr>
        <p:spPr>
          <a:xfrm>
            <a:off x="8382558" y="887425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65" name="Rounded Rectangle 64"/>
          <p:cNvSpPr/>
          <p:nvPr/>
        </p:nvSpPr>
        <p:spPr>
          <a:xfrm>
            <a:off x="8709660" y="8723376"/>
            <a:ext cx="1440180" cy="548640"/>
          </a:xfrm>
          <a:prstGeom prst="roundRect">
            <a:avLst/>
          </a:prstGeom>
          <a:solidFill>
            <a:schemeClr val="accent5">
              <a:lumMod val="40000"/>
              <a:lumOff val="60000"/>
            </a:schemeClr>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66" name="TextBox 65"/>
          <p:cNvSpPr txBox="1"/>
          <p:nvPr/>
        </p:nvSpPr>
        <p:spPr>
          <a:xfrm>
            <a:off x="9086612" y="8887969"/>
            <a:ext cx="686277" cy="276999"/>
          </a:xfrm>
          <a:prstGeom prst="rect">
            <a:avLst/>
          </a:prstGeom>
          <a:noFill/>
        </p:spPr>
        <p:txBody>
          <a:bodyPr wrap="none">
            <a:spAutoFit/>
          </a:bodyPr>
          <a:lstStyle/>
          <a:p>
            <a:pPr algn="ctr"/>
            <a:r>
              <a:rPr sz="1200" b="1">
                <a:latin typeface="Aptos"/>
              </a:rPr>
              <a:t>Docker</a:t>
            </a:r>
          </a:p>
        </p:txBody>
      </p:sp>
      <p:sp>
        <p:nvSpPr>
          <p:cNvPr id="67" name="TextBox 66"/>
          <p:cNvSpPr txBox="1"/>
          <p:nvPr/>
        </p:nvSpPr>
        <p:spPr>
          <a:xfrm>
            <a:off x="10165637" y="887425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68" name="Rounded Rectangle 67"/>
          <p:cNvSpPr/>
          <p:nvPr/>
        </p:nvSpPr>
        <p:spPr>
          <a:xfrm>
            <a:off x="10492739" y="8723376"/>
            <a:ext cx="2263140" cy="548640"/>
          </a:xfrm>
          <a:prstGeom prst="roundRect">
            <a:avLst/>
          </a:prstGeom>
          <a:solidFill>
            <a:schemeClr val="accent5">
              <a:lumMod val="40000"/>
              <a:lumOff val="60000"/>
            </a:schemeClr>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69" name="TextBox 68"/>
          <p:cNvSpPr txBox="1"/>
          <p:nvPr/>
        </p:nvSpPr>
        <p:spPr>
          <a:xfrm>
            <a:off x="10877086" y="8887969"/>
            <a:ext cx="1494448" cy="276999"/>
          </a:xfrm>
          <a:prstGeom prst="rect">
            <a:avLst/>
          </a:prstGeom>
          <a:noFill/>
        </p:spPr>
        <p:txBody>
          <a:bodyPr wrap="none">
            <a:spAutoFit/>
          </a:bodyPr>
          <a:lstStyle/>
          <a:p>
            <a:pPr algn="ctr"/>
            <a:r>
              <a:rPr sz="1200" b="1">
                <a:latin typeface="Aptos"/>
              </a:rPr>
              <a:t>Cloud Deployment</a:t>
            </a:r>
          </a:p>
        </p:txBody>
      </p:sp>
      <p:sp>
        <p:nvSpPr>
          <p:cNvPr id="72" name="TextBox 71">
            <a:extLst>
              <a:ext uri="{FF2B5EF4-FFF2-40B4-BE49-F238E27FC236}">
                <a16:creationId xmlns:a16="http://schemas.microsoft.com/office/drawing/2014/main" id="{69D8E582-D6B1-42C0-7D55-62CA710E96CD}"/>
              </a:ext>
            </a:extLst>
          </p:cNvPr>
          <p:cNvSpPr txBox="1"/>
          <p:nvPr/>
        </p:nvSpPr>
        <p:spPr>
          <a:xfrm>
            <a:off x="2212848" y="-987552"/>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7110219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6E0ED"/>
        </a:solidFill>
        <a:effectLst/>
      </p:bgPr>
    </p:bg>
    <p:spTree>
      <p:nvGrpSpPr>
        <p:cNvPr id="1" name=""/>
        <p:cNvGrpSpPr/>
        <p:nvPr/>
      </p:nvGrpSpPr>
      <p:grpSpPr>
        <a:xfrm>
          <a:off x="0" y="0"/>
          <a:ext cx="0" cy="0"/>
          <a:chOff x="0" y="0"/>
          <a:chExt cx="0" cy="0"/>
        </a:xfrm>
      </p:grpSpPr>
      <p:sp>
        <p:nvSpPr>
          <p:cNvPr id="3" name="TextBox 2"/>
          <p:cNvSpPr txBox="1"/>
          <p:nvPr/>
        </p:nvSpPr>
        <p:spPr>
          <a:xfrm>
            <a:off x="617220" y="822960"/>
            <a:ext cx="7972054" cy="669414"/>
          </a:xfrm>
          <a:prstGeom prst="rect">
            <a:avLst/>
          </a:prstGeom>
          <a:noFill/>
        </p:spPr>
        <p:txBody>
          <a:bodyPr wrap="none">
            <a:spAutoFit/>
          </a:bodyPr>
          <a:lstStyle/>
          <a:p>
            <a:pPr algn="l"/>
            <a:r>
              <a:rPr sz="3750" b="1">
                <a:solidFill>
                  <a:schemeClr val="accent4">
                    <a:lumMod val="75000"/>
                  </a:schemeClr>
                </a:solidFill>
                <a:latin typeface="Aptos"/>
              </a:rPr>
              <a:t>Results, Limitations &amp; Future Scope</a:t>
            </a:r>
          </a:p>
        </p:txBody>
      </p:sp>
      <p:sp>
        <p:nvSpPr>
          <p:cNvPr id="5" name="TextBox 4"/>
          <p:cNvSpPr txBox="1"/>
          <p:nvPr/>
        </p:nvSpPr>
        <p:spPr>
          <a:xfrm>
            <a:off x="754380" y="2235708"/>
            <a:ext cx="2197268" cy="369332"/>
          </a:xfrm>
          <a:prstGeom prst="rect">
            <a:avLst/>
          </a:prstGeom>
          <a:noFill/>
        </p:spPr>
        <p:txBody>
          <a:bodyPr wrap="none">
            <a:spAutoFit/>
          </a:bodyPr>
          <a:lstStyle/>
          <a:p>
            <a:pPr algn="l"/>
            <a:r>
              <a:rPr b="1">
                <a:solidFill>
                  <a:schemeClr val="accent4">
                    <a:lumMod val="75000"/>
                  </a:schemeClr>
                </a:solidFill>
                <a:latin typeface="Aptos"/>
              </a:rPr>
              <a:t>CURRENT RESULTS</a:t>
            </a:r>
          </a:p>
        </p:txBody>
      </p:sp>
      <p:sp>
        <p:nvSpPr>
          <p:cNvPr id="6" name="TextBox 5"/>
          <p:cNvSpPr txBox="1"/>
          <p:nvPr/>
        </p:nvSpPr>
        <p:spPr>
          <a:xfrm>
            <a:off x="6419088" y="2235708"/>
            <a:ext cx="1523302" cy="369332"/>
          </a:xfrm>
          <a:prstGeom prst="rect">
            <a:avLst/>
          </a:prstGeom>
          <a:noFill/>
        </p:spPr>
        <p:txBody>
          <a:bodyPr wrap="none">
            <a:spAutoFit/>
          </a:bodyPr>
          <a:lstStyle/>
          <a:p>
            <a:pPr algn="l"/>
            <a:r>
              <a:rPr b="1">
                <a:solidFill>
                  <a:schemeClr val="accent4">
                    <a:lumMod val="75000"/>
                  </a:schemeClr>
                </a:solidFill>
                <a:latin typeface="Aptos"/>
              </a:rPr>
              <a:t>LIMITATIONS</a:t>
            </a:r>
          </a:p>
        </p:txBody>
      </p:sp>
      <p:sp>
        <p:nvSpPr>
          <p:cNvPr id="7" name="TextBox 6"/>
          <p:cNvSpPr txBox="1"/>
          <p:nvPr/>
        </p:nvSpPr>
        <p:spPr>
          <a:xfrm>
            <a:off x="12083796" y="2235708"/>
            <a:ext cx="1813766" cy="369332"/>
          </a:xfrm>
          <a:prstGeom prst="rect">
            <a:avLst/>
          </a:prstGeom>
          <a:noFill/>
        </p:spPr>
        <p:txBody>
          <a:bodyPr wrap="none">
            <a:spAutoFit/>
          </a:bodyPr>
          <a:lstStyle/>
          <a:p>
            <a:pPr algn="l"/>
            <a:r>
              <a:rPr b="1">
                <a:solidFill>
                  <a:schemeClr val="accent4">
                    <a:lumMod val="75000"/>
                  </a:schemeClr>
                </a:solidFill>
                <a:latin typeface="Aptos"/>
              </a:rPr>
              <a:t>FUTURE SCOPE</a:t>
            </a:r>
          </a:p>
        </p:txBody>
      </p:sp>
      <p:sp>
        <p:nvSpPr>
          <p:cNvPr id="8" name="Rounded Rectangle 7"/>
          <p:cNvSpPr/>
          <p:nvPr/>
        </p:nvSpPr>
        <p:spPr>
          <a:xfrm>
            <a:off x="754380" y="279806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Rounded Rectangle 8"/>
          <p:cNvSpPr/>
          <p:nvPr/>
        </p:nvSpPr>
        <p:spPr>
          <a:xfrm>
            <a:off x="987552" y="290779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1015819" y="299008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11" name="TextBox 10"/>
          <p:cNvSpPr txBox="1"/>
          <p:nvPr/>
        </p:nvSpPr>
        <p:spPr>
          <a:xfrm>
            <a:off x="1508761" y="2948940"/>
            <a:ext cx="2150269" cy="302390"/>
          </a:xfrm>
          <a:prstGeom prst="rect">
            <a:avLst/>
          </a:prstGeom>
          <a:noFill/>
        </p:spPr>
        <p:txBody>
          <a:bodyPr wrap="none">
            <a:spAutoFit/>
          </a:bodyPr>
          <a:lstStyle/>
          <a:p>
            <a:pPr algn="l"/>
            <a:r>
              <a:rPr sz="1365">
                <a:solidFill>
                  <a:srgbClr val="F0F5F8"/>
                </a:solidFill>
                <a:latin typeface="Aptos"/>
              </a:rPr>
              <a:t>Role-Based Access Control (RBAC)</a:t>
            </a:r>
          </a:p>
        </p:txBody>
      </p:sp>
      <p:sp>
        <p:nvSpPr>
          <p:cNvPr id="12" name="Rounded Rectangle 11"/>
          <p:cNvSpPr/>
          <p:nvPr/>
        </p:nvSpPr>
        <p:spPr>
          <a:xfrm>
            <a:off x="754380" y="355244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Rounded Rectangle 12"/>
          <p:cNvSpPr/>
          <p:nvPr/>
        </p:nvSpPr>
        <p:spPr>
          <a:xfrm>
            <a:off x="987552" y="366217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4" name="TextBox 13"/>
          <p:cNvSpPr txBox="1"/>
          <p:nvPr/>
        </p:nvSpPr>
        <p:spPr>
          <a:xfrm>
            <a:off x="1015819" y="374446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15" name="TextBox 14"/>
          <p:cNvSpPr txBox="1"/>
          <p:nvPr/>
        </p:nvSpPr>
        <p:spPr>
          <a:xfrm>
            <a:off x="1508760" y="3703319"/>
            <a:ext cx="2281522" cy="302390"/>
          </a:xfrm>
          <a:prstGeom prst="rect">
            <a:avLst/>
          </a:prstGeom>
          <a:noFill/>
        </p:spPr>
        <p:txBody>
          <a:bodyPr wrap="none">
            <a:spAutoFit/>
          </a:bodyPr>
          <a:lstStyle/>
          <a:p>
            <a:pPr algn="l"/>
            <a:r>
              <a:rPr sz="1365">
                <a:solidFill>
                  <a:srgbClr val="F0F5F8"/>
                </a:solidFill>
                <a:latin typeface="Aptos"/>
              </a:rPr>
              <a:t>Athlete profile management</a:t>
            </a:r>
          </a:p>
        </p:txBody>
      </p:sp>
      <p:sp>
        <p:nvSpPr>
          <p:cNvPr id="16" name="Rounded Rectangle 15"/>
          <p:cNvSpPr/>
          <p:nvPr/>
        </p:nvSpPr>
        <p:spPr>
          <a:xfrm>
            <a:off x="754380" y="430682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7" name="Rounded Rectangle 16"/>
          <p:cNvSpPr/>
          <p:nvPr/>
        </p:nvSpPr>
        <p:spPr>
          <a:xfrm>
            <a:off x="987552" y="441655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1015819" y="449884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19" name="TextBox 18"/>
          <p:cNvSpPr txBox="1"/>
          <p:nvPr/>
        </p:nvSpPr>
        <p:spPr>
          <a:xfrm>
            <a:off x="1508760" y="4457700"/>
            <a:ext cx="2666436" cy="302390"/>
          </a:xfrm>
          <a:prstGeom prst="rect">
            <a:avLst/>
          </a:prstGeom>
          <a:noFill/>
        </p:spPr>
        <p:txBody>
          <a:bodyPr wrap="none">
            <a:spAutoFit/>
          </a:bodyPr>
          <a:lstStyle/>
          <a:p>
            <a:pPr algn="l"/>
            <a:r>
              <a:rPr sz="1365">
                <a:solidFill>
                  <a:srgbClr val="F0F5F8"/>
                </a:solidFill>
                <a:latin typeface="Aptos"/>
              </a:rPr>
              <a:t>Video upload &amp; async processing</a:t>
            </a:r>
          </a:p>
        </p:txBody>
      </p:sp>
      <p:sp>
        <p:nvSpPr>
          <p:cNvPr id="20" name="Rounded Rectangle 19"/>
          <p:cNvSpPr/>
          <p:nvPr/>
        </p:nvSpPr>
        <p:spPr>
          <a:xfrm>
            <a:off x="754380" y="506120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Rounded Rectangle 20"/>
          <p:cNvSpPr/>
          <p:nvPr/>
        </p:nvSpPr>
        <p:spPr>
          <a:xfrm>
            <a:off x="987552" y="517093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TextBox 21"/>
          <p:cNvSpPr txBox="1"/>
          <p:nvPr/>
        </p:nvSpPr>
        <p:spPr>
          <a:xfrm>
            <a:off x="1015819" y="525322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23" name="TextBox 22"/>
          <p:cNvSpPr txBox="1"/>
          <p:nvPr/>
        </p:nvSpPr>
        <p:spPr>
          <a:xfrm>
            <a:off x="1508761" y="5212080"/>
            <a:ext cx="2511585" cy="302390"/>
          </a:xfrm>
          <a:prstGeom prst="rect">
            <a:avLst/>
          </a:prstGeom>
          <a:noFill/>
        </p:spPr>
        <p:txBody>
          <a:bodyPr wrap="none">
            <a:spAutoFit/>
          </a:bodyPr>
          <a:lstStyle/>
          <a:p>
            <a:pPr algn="l"/>
            <a:r>
              <a:rPr sz="1365">
                <a:solidFill>
                  <a:srgbClr val="F0F5F8"/>
                </a:solidFill>
                <a:latin typeface="Aptos"/>
              </a:rPr>
              <a:t>Pose &amp; biomechanical analysis</a:t>
            </a:r>
          </a:p>
        </p:txBody>
      </p:sp>
      <p:sp>
        <p:nvSpPr>
          <p:cNvPr id="24" name="Rounded Rectangle 23"/>
          <p:cNvSpPr/>
          <p:nvPr/>
        </p:nvSpPr>
        <p:spPr>
          <a:xfrm>
            <a:off x="754380" y="581558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Rounded Rectangle 24"/>
          <p:cNvSpPr/>
          <p:nvPr/>
        </p:nvSpPr>
        <p:spPr>
          <a:xfrm>
            <a:off x="987552" y="592531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1015819" y="600760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27" name="TextBox 26"/>
          <p:cNvSpPr txBox="1"/>
          <p:nvPr/>
        </p:nvSpPr>
        <p:spPr>
          <a:xfrm>
            <a:off x="1508760" y="5966460"/>
            <a:ext cx="2206310" cy="302390"/>
          </a:xfrm>
          <a:prstGeom prst="rect">
            <a:avLst/>
          </a:prstGeom>
          <a:noFill/>
        </p:spPr>
        <p:txBody>
          <a:bodyPr wrap="none">
            <a:spAutoFit/>
          </a:bodyPr>
          <a:lstStyle/>
          <a:p>
            <a:pPr algn="l"/>
            <a:r>
              <a:rPr sz="1365">
                <a:solidFill>
                  <a:srgbClr val="F0F5F8"/>
                </a:solidFill>
                <a:latin typeface="Aptos"/>
              </a:rPr>
              <a:t>XGBoost ML injury risk prediction (0–100)</a:t>
            </a:r>
          </a:p>
        </p:txBody>
      </p:sp>
      <p:sp>
        <p:nvSpPr>
          <p:cNvPr id="28" name="Rounded Rectangle 27"/>
          <p:cNvSpPr/>
          <p:nvPr/>
        </p:nvSpPr>
        <p:spPr>
          <a:xfrm>
            <a:off x="754380" y="656996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9" name="Rounded Rectangle 28"/>
          <p:cNvSpPr/>
          <p:nvPr/>
        </p:nvSpPr>
        <p:spPr>
          <a:xfrm>
            <a:off x="987552" y="667969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TextBox 29"/>
          <p:cNvSpPr txBox="1"/>
          <p:nvPr/>
        </p:nvSpPr>
        <p:spPr>
          <a:xfrm>
            <a:off x="1015819" y="676198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31" name="TextBox 30"/>
          <p:cNvSpPr txBox="1"/>
          <p:nvPr/>
        </p:nvSpPr>
        <p:spPr>
          <a:xfrm>
            <a:off x="1508760" y="6720840"/>
            <a:ext cx="2575898" cy="302390"/>
          </a:xfrm>
          <a:prstGeom prst="rect">
            <a:avLst/>
          </a:prstGeom>
          <a:noFill/>
        </p:spPr>
        <p:txBody>
          <a:bodyPr wrap="none">
            <a:spAutoFit/>
          </a:bodyPr>
          <a:lstStyle/>
          <a:p>
            <a:pPr algn="l"/>
            <a:r>
              <a:rPr sz="1365">
                <a:solidFill>
                  <a:srgbClr val="F0F5F8"/>
                </a:solidFill>
                <a:latin typeface="Aptos"/>
              </a:rPr>
              <a:t>Personalized recommendations</a:t>
            </a:r>
          </a:p>
        </p:txBody>
      </p:sp>
      <p:sp>
        <p:nvSpPr>
          <p:cNvPr id="32" name="Rounded Rectangle 31"/>
          <p:cNvSpPr/>
          <p:nvPr/>
        </p:nvSpPr>
        <p:spPr>
          <a:xfrm>
            <a:off x="754380" y="732434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Rounded Rectangle 32"/>
          <p:cNvSpPr/>
          <p:nvPr/>
        </p:nvSpPr>
        <p:spPr>
          <a:xfrm>
            <a:off x="987552" y="743407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1015819" y="751636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35" name="TextBox 34"/>
          <p:cNvSpPr txBox="1"/>
          <p:nvPr/>
        </p:nvSpPr>
        <p:spPr>
          <a:xfrm>
            <a:off x="1508761" y="7475220"/>
            <a:ext cx="1436483" cy="302390"/>
          </a:xfrm>
          <a:prstGeom prst="rect">
            <a:avLst/>
          </a:prstGeom>
          <a:noFill/>
        </p:spPr>
        <p:txBody>
          <a:bodyPr wrap="none">
            <a:spAutoFit/>
          </a:bodyPr>
          <a:lstStyle/>
          <a:p>
            <a:pPr algn="l"/>
            <a:r>
              <a:rPr sz="1365">
                <a:solidFill>
                  <a:srgbClr val="F0F5F8"/>
                </a:solidFill>
                <a:latin typeface="Aptos"/>
              </a:rPr>
              <a:t>Reports &amp; export</a:t>
            </a:r>
          </a:p>
        </p:txBody>
      </p:sp>
      <p:sp>
        <p:nvSpPr>
          <p:cNvPr id="36" name="Rounded Rectangle 35"/>
          <p:cNvSpPr/>
          <p:nvPr/>
        </p:nvSpPr>
        <p:spPr>
          <a:xfrm>
            <a:off x="6419088" y="2798064"/>
            <a:ext cx="5006340" cy="108356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7" name="TextBox 36"/>
          <p:cNvSpPr txBox="1"/>
          <p:nvPr/>
        </p:nvSpPr>
        <p:spPr>
          <a:xfrm>
            <a:off x="6693409" y="2976372"/>
            <a:ext cx="1915461" cy="313932"/>
          </a:xfrm>
          <a:prstGeom prst="rect">
            <a:avLst/>
          </a:prstGeom>
          <a:noFill/>
        </p:spPr>
        <p:txBody>
          <a:bodyPr wrap="none">
            <a:spAutoFit/>
          </a:bodyPr>
          <a:lstStyle/>
          <a:p>
            <a:pPr algn="l"/>
            <a:r>
              <a:rPr sz="1440" b="1">
                <a:solidFill>
                  <a:srgbClr val="F0F5F8"/>
                </a:solidFill>
                <a:latin typeface="Aptos"/>
              </a:rPr>
              <a:t>Single-athlete scope</a:t>
            </a:r>
          </a:p>
        </p:txBody>
      </p:sp>
      <p:sp>
        <p:nvSpPr>
          <p:cNvPr id="38" name="TextBox 37"/>
          <p:cNvSpPr txBox="1"/>
          <p:nvPr/>
        </p:nvSpPr>
        <p:spPr>
          <a:xfrm>
            <a:off x="6693409" y="3305556"/>
            <a:ext cx="4156907" cy="272382"/>
          </a:xfrm>
          <a:prstGeom prst="rect">
            <a:avLst/>
          </a:prstGeom>
          <a:noFill/>
        </p:spPr>
        <p:txBody>
          <a:bodyPr wrap="none">
            <a:spAutoFit/>
          </a:bodyPr>
          <a:lstStyle/>
          <a:p>
            <a:pPr algn="l"/>
            <a:r>
              <a:rPr sz="1170">
                <a:solidFill>
                  <a:schemeClr val="bg1"/>
                </a:solidFill>
                <a:latin typeface="Aptos"/>
              </a:rPr>
              <a:t>Current workflow is designed around one athlete per analysis.</a:t>
            </a:r>
          </a:p>
        </p:txBody>
      </p:sp>
      <p:sp>
        <p:nvSpPr>
          <p:cNvPr id="39" name="Rounded Rectangle 38"/>
          <p:cNvSpPr/>
          <p:nvPr/>
        </p:nvSpPr>
        <p:spPr>
          <a:xfrm>
            <a:off x="6419088" y="4087368"/>
            <a:ext cx="5006340" cy="108356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TextBox 39"/>
          <p:cNvSpPr txBox="1"/>
          <p:nvPr/>
        </p:nvSpPr>
        <p:spPr>
          <a:xfrm>
            <a:off x="6693409" y="4265676"/>
            <a:ext cx="1967975" cy="313932"/>
          </a:xfrm>
          <a:prstGeom prst="rect">
            <a:avLst/>
          </a:prstGeom>
          <a:noFill/>
        </p:spPr>
        <p:txBody>
          <a:bodyPr wrap="none">
            <a:spAutoFit/>
          </a:bodyPr>
          <a:lstStyle/>
          <a:p>
            <a:pPr algn="l"/>
            <a:r>
              <a:rPr sz="1440" b="1">
                <a:solidFill>
                  <a:srgbClr val="F0F5F8"/>
                </a:solidFill>
                <a:latin typeface="Aptos"/>
              </a:rPr>
              <a:t>2D knee-valgus proxy</a:t>
            </a:r>
          </a:p>
        </p:txBody>
      </p:sp>
      <p:sp>
        <p:nvSpPr>
          <p:cNvPr id="41" name="TextBox 40"/>
          <p:cNvSpPr txBox="1"/>
          <p:nvPr/>
        </p:nvSpPr>
        <p:spPr>
          <a:xfrm>
            <a:off x="6693408" y="4594860"/>
            <a:ext cx="4557408" cy="452432"/>
          </a:xfrm>
          <a:prstGeom prst="rect">
            <a:avLst/>
          </a:prstGeom>
          <a:noFill/>
        </p:spPr>
        <p:txBody>
          <a:bodyPr wrap="square">
            <a:spAutoFit/>
          </a:bodyPr>
          <a:lstStyle/>
          <a:p>
            <a:pPr algn="l"/>
            <a:r>
              <a:rPr sz="1170">
                <a:solidFill>
                  <a:schemeClr val="bg1"/>
                </a:solidFill>
                <a:latin typeface="Aptos"/>
              </a:rPr>
              <a:t>Accuracy depends on camera angle and is less reliable for side-on running footage.</a:t>
            </a:r>
          </a:p>
        </p:txBody>
      </p:sp>
      <p:sp>
        <p:nvSpPr>
          <p:cNvPr id="42" name="Rounded Rectangle 41"/>
          <p:cNvSpPr/>
          <p:nvPr/>
        </p:nvSpPr>
        <p:spPr>
          <a:xfrm>
            <a:off x="6419088" y="5376672"/>
            <a:ext cx="5006340" cy="108356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TextBox 42"/>
          <p:cNvSpPr txBox="1"/>
          <p:nvPr/>
        </p:nvSpPr>
        <p:spPr>
          <a:xfrm>
            <a:off x="6693408" y="5554980"/>
            <a:ext cx="2097690" cy="313932"/>
          </a:xfrm>
          <a:prstGeom prst="rect">
            <a:avLst/>
          </a:prstGeom>
          <a:noFill/>
        </p:spPr>
        <p:txBody>
          <a:bodyPr wrap="none">
            <a:spAutoFit/>
          </a:bodyPr>
          <a:lstStyle/>
          <a:p>
            <a:pPr algn="l"/>
            <a:r>
              <a:rPr sz="1440" b="1">
                <a:solidFill>
                  <a:srgbClr val="F0F5F8"/>
                </a:solidFill>
                <a:latin typeface="Aptos"/>
              </a:rPr>
              <a:t>Synthetic training baseline</a:t>
            </a:r>
          </a:p>
        </p:txBody>
      </p:sp>
      <p:sp>
        <p:nvSpPr>
          <p:cNvPr id="44" name="TextBox 43"/>
          <p:cNvSpPr txBox="1"/>
          <p:nvPr/>
        </p:nvSpPr>
        <p:spPr>
          <a:xfrm>
            <a:off x="6693408" y="5884164"/>
            <a:ext cx="4753224" cy="272382"/>
          </a:xfrm>
          <a:prstGeom prst="rect">
            <a:avLst/>
          </a:prstGeom>
          <a:noFill/>
        </p:spPr>
        <p:txBody>
          <a:bodyPr wrap="none">
            <a:spAutoFit/>
          </a:bodyPr>
          <a:lstStyle/>
          <a:p>
            <a:pPr algn="l"/>
            <a:r>
              <a:rPr sz="1170">
                <a:latin typeface="Aptos"/>
              </a:rPr>
              <a:t>Trained on synthetic biomechanical data; real-world clinical validation is ongoing.</a:t>
            </a:r>
          </a:p>
        </p:txBody>
      </p:sp>
      <p:sp>
        <p:nvSpPr>
          <p:cNvPr id="45" name="Rounded Rectangle 44"/>
          <p:cNvSpPr/>
          <p:nvPr/>
        </p:nvSpPr>
        <p:spPr>
          <a:xfrm>
            <a:off x="6419088" y="6665975"/>
            <a:ext cx="5006340" cy="108356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6693409" y="6844283"/>
            <a:ext cx="2129173" cy="313932"/>
          </a:xfrm>
          <a:prstGeom prst="rect">
            <a:avLst/>
          </a:prstGeom>
          <a:noFill/>
        </p:spPr>
        <p:txBody>
          <a:bodyPr wrap="none">
            <a:spAutoFit/>
          </a:bodyPr>
          <a:lstStyle/>
          <a:p>
            <a:pPr algn="l"/>
            <a:r>
              <a:rPr sz="1440" b="1">
                <a:solidFill>
                  <a:srgbClr val="F0F5F8"/>
                </a:solidFill>
                <a:latin typeface="Aptos"/>
              </a:rPr>
              <a:t>Not a clinical diagnosis</a:t>
            </a:r>
          </a:p>
        </p:txBody>
      </p:sp>
      <p:sp>
        <p:nvSpPr>
          <p:cNvPr id="47" name="TextBox 46"/>
          <p:cNvSpPr txBox="1"/>
          <p:nvPr/>
        </p:nvSpPr>
        <p:spPr>
          <a:xfrm>
            <a:off x="6693408" y="7173468"/>
            <a:ext cx="4358886" cy="272382"/>
          </a:xfrm>
          <a:prstGeom prst="rect">
            <a:avLst/>
          </a:prstGeom>
          <a:noFill/>
        </p:spPr>
        <p:txBody>
          <a:bodyPr wrap="none">
            <a:spAutoFit/>
          </a:bodyPr>
          <a:lstStyle/>
          <a:p>
            <a:pPr algn="l"/>
            <a:r>
              <a:rPr sz="1170">
                <a:solidFill>
                  <a:schemeClr val="bg1"/>
                </a:solidFill>
                <a:latin typeface="Aptos"/>
              </a:rPr>
              <a:t>Results are intended as automated screening and risk indication.</a:t>
            </a:r>
          </a:p>
        </p:txBody>
      </p:sp>
      <p:sp>
        <p:nvSpPr>
          <p:cNvPr id="48" name="Rounded Rectangle 47"/>
          <p:cNvSpPr/>
          <p:nvPr/>
        </p:nvSpPr>
        <p:spPr>
          <a:xfrm>
            <a:off x="12083796" y="2798064"/>
            <a:ext cx="5417820" cy="658368"/>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TextBox 48"/>
          <p:cNvSpPr txBox="1"/>
          <p:nvPr/>
        </p:nvSpPr>
        <p:spPr>
          <a:xfrm>
            <a:off x="12372667" y="3003805"/>
            <a:ext cx="300082" cy="323165"/>
          </a:xfrm>
          <a:prstGeom prst="rect">
            <a:avLst/>
          </a:prstGeom>
          <a:noFill/>
        </p:spPr>
        <p:txBody>
          <a:bodyPr wrap="none">
            <a:spAutoFit/>
          </a:bodyPr>
          <a:lstStyle/>
          <a:p>
            <a:pPr algn="ctr"/>
            <a:r>
              <a:rPr sz="1500" b="1">
                <a:solidFill>
                  <a:srgbClr val="37DCDC"/>
                </a:solidFill>
                <a:latin typeface="Aptos"/>
              </a:rPr>
              <a:t>→</a:t>
            </a:r>
          </a:p>
        </p:txBody>
      </p:sp>
      <p:sp>
        <p:nvSpPr>
          <p:cNvPr id="50" name="TextBox 49"/>
          <p:cNvSpPr txBox="1"/>
          <p:nvPr/>
        </p:nvSpPr>
        <p:spPr>
          <a:xfrm>
            <a:off x="12783312" y="2976372"/>
            <a:ext cx="2161554" cy="300082"/>
          </a:xfrm>
          <a:prstGeom prst="rect">
            <a:avLst/>
          </a:prstGeom>
          <a:noFill/>
        </p:spPr>
        <p:txBody>
          <a:bodyPr wrap="none">
            <a:spAutoFit/>
          </a:bodyPr>
          <a:lstStyle/>
          <a:p>
            <a:pPr algn="l"/>
            <a:r>
              <a:rPr sz="1350">
                <a:solidFill>
                  <a:srgbClr val="F0F5F8"/>
                </a:solidFill>
                <a:latin typeface="Aptos"/>
              </a:rPr>
              <a:t>Real-world clinical dataset validation</a:t>
            </a:r>
          </a:p>
        </p:txBody>
      </p:sp>
      <p:sp>
        <p:nvSpPr>
          <p:cNvPr id="51" name="Rounded Rectangle 50"/>
          <p:cNvSpPr/>
          <p:nvPr/>
        </p:nvSpPr>
        <p:spPr>
          <a:xfrm>
            <a:off x="12083796" y="3717036"/>
            <a:ext cx="5417820" cy="658368"/>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12372667" y="3922777"/>
            <a:ext cx="300082" cy="323165"/>
          </a:xfrm>
          <a:prstGeom prst="rect">
            <a:avLst/>
          </a:prstGeom>
          <a:noFill/>
        </p:spPr>
        <p:txBody>
          <a:bodyPr wrap="none">
            <a:spAutoFit/>
          </a:bodyPr>
          <a:lstStyle/>
          <a:p>
            <a:pPr algn="ctr"/>
            <a:r>
              <a:rPr sz="1500" b="1">
                <a:solidFill>
                  <a:srgbClr val="37DCDC"/>
                </a:solidFill>
                <a:latin typeface="Aptos"/>
              </a:rPr>
              <a:t>→</a:t>
            </a:r>
          </a:p>
        </p:txBody>
      </p:sp>
      <p:sp>
        <p:nvSpPr>
          <p:cNvPr id="53" name="TextBox 52"/>
          <p:cNvSpPr txBox="1"/>
          <p:nvPr/>
        </p:nvSpPr>
        <p:spPr>
          <a:xfrm>
            <a:off x="12783312" y="3895344"/>
            <a:ext cx="1805238" cy="300082"/>
          </a:xfrm>
          <a:prstGeom prst="rect">
            <a:avLst/>
          </a:prstGeom>
          <a:noFill/>
        </p:spPr>
        <p:txBody>
          <a:bodyPr wrap="none">
            <a:spAutoFit/>
          </a:bodyPr>
          <a:lstStyle/>
          <a:p>
            <a:pPr algn="l"/>
            <a:r>
              <a:rPr sz="1350">
                <a:solidFill>
                  <a:srgbClr val="F0F5F8"/>
                </a:solidFill>
                <a:latin typeface="Aptos"/>
              </a:rPr>
              <a:t>Deep Learning &amp; Real-time Edge Processing</a:t>
            </a:r>
          </a:p>
        </p:txBody>
      </p:sp>
      <p:sp>
        <p:nvSpPr>
          <p:cNvPr id="54" name="Rounded Rectangle 53"/>
          <p:cNvSpPr/>
          <p:nvPr/>
        </p:nvSpPr>
        <p:spPr>
          <a:xfrm>
            <a:off x="12083796" y="4636008"/>
            <a:ext cx="5417820" cy="658368"/>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12372667" y="4841749"/>
            <a:ext cx="300082" cy="323165"/>
          </a:xfrm>
          <a:prstGeom prst="rect">
            <a:avLst/>
          </a:prstGeom>
          <a:noFill/>
        </p:spPr>
        <p:txBody>
          <a:bodyPr wrap="none">
            <a:spAutoFit/>
          </a:bodyPr>
          <a:lstStyle/>
          <a:p>
            <a:pPr algn="ctr"/>
            <a:r>
              <a:rPr sz="1500" b="1">
                <a:solidFill>
                  <a:srgbClr val="37DCDC"/>
                </a:solidFill>
                <a:latin typeface="Aptos"/>
              </a:rPr>
              <a:t>→</a:t>
            </a:r>
          </a:p>
        </p:txBody>
      </p:sp>
      <p:sp>
        <p:nvSpPr>
          <p:cNvPr id="56" name="TextBox 55"/>
          <p:cNvSpPr txBox="1"/>
          <p:nvPr/>
        </p:nvSpPr>
        <p:spPr>
          <a:xfrm>
            <a:off x="12783312" y="4814316"/>
            <a:ext cx="2784032" cy="300082"/>
          </a:xfrm>
          <a:prstGeom prst="rect">
            <a:avLst/>
          </a:prstGeom>
          <a:noFill/>
        </p:spPr>
        <p:txBody>
          <a:bodyPr wrap="none">
            <a:spAutoFit/>
          </a:bodyPr>
          <a:lstStyle/>
          <a:p>
            <a:pPr algn="l"/>
            <a:r>
              <a:rPr sz="1350">
                <a:solidFill>
                  <a:srgbClr val="F0F5F8"/>
                </a:solidFill>
                <a:latin typeface="Aptos"/>
              </a:rPr>
              <a:t>Support more sports &amp; movements</a:t>
            </a:r>
          </a:p>
        </p:txBody>
      </p:sp>
      <p:sp>
        <p:nvSpPr>
          <p:cNvPr id="57" name="Rounded Rectangle 56"/>
          <p:cNvSpPr/>
          <p:nvPr/>
        </p:nvSpPr>
        <p:spPr>
          <a:xfrm>
            <a:off x="12083796" y="5554980"/>
            <a:ext cx="5417820" cy="658368"/>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2372667" y="5760721"/>
            <a:ext cx="300082" cy="323165"/>
          </a:xfrm>
          <a:prstGeom prst="rect">
            <a:avLst/>
          </a:prstGeom>
          <a:noFill/>
        </p:spPr>
        <p:txBody>
          <a:bodyPr wrap="none">
            <a:spAutoFit/>
          </a:bodyPr>
          <a:lstStyle/>
          <a:p>
            <a:pPr algn="ctr"/>
            <a:r>
              <a:rPr sz="1500" b="1">
                <a:solidFill>
                  <a:srgbClr val="37DCDC"/>
                </a:solidFill>
                <a:latin typeface="Aptos"/>
              </a:rPr>
              <a:t>→</a:t>
            </a:r>
          </a:p>
        </p:txBody>
      </p:sp>
      <p:sp>
        <p:nvSpPr>
          <p:cNvPr id="59" name="TextBox 58"/>
          <p:cNvSpPr txBox="1"/>
          <p:nvPr/>
        </p:nvSpPr>
        <p:spPr>
          <a:xfrm>
            <a:off x="12783313" y="5733288"/>
            <a:ext cx="2389821" cy="300082"/>
          </a:xfrm>
          <a:prstGeom prst="rect">
            <a:avLst/>
          </a:prstGeom>
          <a:noFill/>
        </p:spPr>
        <p:txBody>
          <a:bodyPr wrap="none">
            <a:spAutoFit/>
          </a:bodyPr>
          <a:lstStyle/>
          <a:p>
            <a:pPr algn="l"/>
            <a:r>
              <a:rPr sz="1350">
                <a:solidFill>
                  <a:srgbClr val="F0F5F8"/>
                </a:solidFill>
                <a:latin typeface="Aptos"/>
              </a:rPr>
              <a:t>Better camera-angle handling</a:t>
            </a:r>
          </a:p>
        </p:txBody>
      </p:sp>
      <p:sp>
        <p:nvSpPr>
          <p:cNvPr id="60" name="Rounded Rectangle 59"/>
          <p:cNvSpPr/>
          <p:nvPr/>
        </p:nvSpPr>
        <p:spPr>
          <a:xfrm>
            <a:off x="12083796" y="6473952"/>
            <a:ext cx="5417820" cy="658368"/>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TextBox 60"/>
          <p:cNvSpPr txBox="1"/>
          <p:nvPr/>
        </p:nvSpPr>
        <p:spPr>
          <a:xfrm>
            <a:off x="12372667" y="6679693"/>
            <a:ext cx="300082" cy="323165"/>
          </a:xfrm>
          <a:prstGeom prst="rect">
            <a:avLst/>
          </a:prstGeom>
          <a:noFill/>
        </p:spPr>
        <p:txBody>
          <a:bodyPr wrap="none">
            <a:spAutoFit/>
          </a:bodyPr>
          <a:lstStyle/>
          <a:p>
            <a:pPr algn="ctr"/>
            <a:r>
              <a:rPr sz="1500" b="1">
                <a:solidFill>
                  <a:srgbClr val="37DCDC"/>
                </a:solidFill>
                <a:latin typeface="Aptos"/>
              </a:rPr>
              <a:t>→</a:t>
            </a:r>
          </a:p>
        </p:txBody>
      </p:sp>
      <p:sp>
        <p:nvSpPr>
          <p:cNvPr id="62" name="TextBox 61"/>
          <p:cNvSpPr txBox="1"/>
          <p:nvPr/>
        </p:nvSpPr>
        <p:spPr>
          <a:xfrm>
            <a:off x="12783313" y="6652260"/>
            <a:ext cx="3101939" cy="300082"/>
          </a:xfrm>
          <a:prstGeom prst="rect">
            <a:avLst/>
          </a:prstGeom>
          <a:noFill/>
        </p:spPr>
        <p:txBody>
          <a:bodyPr wrap="none">
            <a:spAutoFit/>
          </a:bodyPr>
          <a:lstStyle/>
          <a:p>
            <a:pPr algn="l"/>
            <a:r>
              <a:rPr sz="1350">
                <a:solidFill>
                  <a:srgbClr val="F0F5F8"/>
                </a:solidFill>
                <a:latin typeface="Aptos"/>
              </a:rPr>
              <a:t>Docker + cloud production deployment</a:t>
            </a:r>
          </a:p>
        </p:txBody>
      </p:sp>
      <p:sp>
        <p:nvSpPr>
          <p:cNvPr id="63" name="Rounded Rectangle 62"/>
          <p:cNvSpPr/>
          <p:nvPr/>
        </p:nvSpPr>
        <p:spPr>
          <a:xfrm>
            <a:off x="754380" y="8435340"/>
            <a:ext cx="16623792" cy="1508760"/>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8264390" y="8641081"/>
            <a:ext cx="1603772" cy="276999"/>
          </a:xfrm>
          <a:prstGeom prst="rect">
            <a:avLst/>
          </a:prstGeom>
          <a:noFill/>
        </p:spPr>
        <p:txBody>
          <a:bodyPr wrap="none">
            <a:spAutoFit/>
          </a:bodyPr>
          <a:lstStyle/>
          <a:p>
            <a:pPr algn="ctr"/>
            <a:r>
              <a:rPr sz="1200" b="1">
                <a:solidFill>
                  <a:schemeClr val="bg1"/>
                </a:solidFill>
                <a:latin typeface="Aptos"/>
              </a:rPr>
              <a:t>PROJECT TAKEAWAY</a:t>
            </a:r>
          </a:p>
        </p:txBody>
      </p:sp>
      <p:sp>
        <p:nvSpPr>
          <p:cNvPr id="65" name="TextBox 64"/>
          <p:cNvSpPr txBox="1"/>
          <p:nvPr/>
        </p:nvSpPr>
        <p:spPr>
          <a:xfrm>
            <a:off x="5395047" y="8942833"/>
            <a:ext cx="7342458" cy="461665"/>
          </a:xfrm>
          <a:prstGeom prst="rect">
            <a:avLst/>
          </a:prstGeom>
          <a:noFill/>
        </p:spPr>
        <p:txBody>
          <a:bodyPr wrap="none">
            <a:spAutoFit/>
          </a:bodyPr>
          <a:lstStyle/>
          <a:p>
            <a:pPr algn="ctr"/>
            <a:r>
              <a:rPr sz="2400" b="1">
                <a:solidFill>
                  <a:srgbClr val="F0F5F8"/>
                </a:solidFill>
                <a:latin typeface="Aptos"/>
              </a:rPr>
              <a:t>From athlete video to actionable injury-risk insights</a:t>
            </a:r>
          </a:p>
        </p:txBody>
      </p:sp>
      <p:sp>
        <p:nvSpPr>
          <p:cNvPr id="66" name="TextBox 65"/>
          <p:cNvSpPr txBox="1"/>
          <p:nvPr/>
        </p:nvSpPr>
        <p:spPr>
          <a:xfrm>
            <a:off x="6881736" y="9326880"/>
            <a:ext cx="4369080" cy="283924"/>
          </a:xfrm>
          <a:prstGeom prst="rect">
            <a:avLst/>
          </a:prstGeom>
          <a:noFill/>
        </p:spPr>
        <p:txBody>
          <a:bodyPr wrap="none">
            <a:spAutoFit/>
          </a:bodyPr>
          <a:lstStyle/>
          <a:p>
            <a:pPr algn="ctr"/>
            <a:r>
              <a:rPr sz="1245" b="1">
                <a:solidFill>
                  <a:srgbClr val="37DCDC"/>
                </a:solidFill>
                <a:latin typeface="Aptos"/>
              </a:rPr>
              <a:t>Video  →  Analysis  →  XGBoost ML Risk (0–100)  →  Recommendations  →  Reports</a:t>
            </a:r>
          </a:p>
        </p:txBody>
      </p:sp>
    </p:spTree>
    <p:extLst>
      <p:ext uri="{BB962C8B-B14F-4D97-AF65-F5344CB8AC3E}">
        <p14:creationId xmlns:p14="http://schemas.microsoft.com/office/powerpoint/2010/main" val="17054685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4" name="TextBox 4"/>
          <p:cNvSpPr txBox="1"/>
          <p:nvPr/>
        </p:nvSpPr>
        <p:spPr>
          <a:xfrm>
            <a:off x="2406116" y="554008"/>
            <a:ext cx="13475767" cy="2437863"/>
          </a:xfrm>
          <a:prstGeom prst="rect">
            <a:avLst/>
          </a:prstGeom>
        </p:spPr>
        <p:txBody>
          <a:bodyPr lIns="0" tIns="0" rIns="0" bIns="0" rtlCol="0" anchor="t">
            <a:spAutoFit/>
          </a:bodyPr>
          <a:lstStyle/>
          <a:p>
            <a:pPr algn="ctr">
              <a:lnSpc>
                <a:spcPts val="9563"/>
              </a:lnSpc>
            </a:pPr>
            <a:r>
              <a:rPr lang="en-US" sz="8173" spc="-89">
                <a:solidFill>
                  <a:srgbClr val="272665"/>
                </a:solidFill>
                <a:latin typeface="Public Sans"/>
                <a:ea typeface="Public Sans"/>
                <a:cs typeface="Public Sans"/>
                <a:sym typeface="Public Sans"/>
              </a:rPr>
              <a:t>Why You’ll Love Using </a:t>
            </a:r>
          </a:p>
          <a:p>
            <a:pPr algn="ctr">
              <a:lnSpc>
                <a:spcPts val="9563"/>
              </a:lnSpc>
            </a:pPr>
            <a:r>
              <a:rPr lang="en-US" sz="8173" spc="-89">
                <a:solidFill>
                  <a:srgbClr val="272665"/>
                </a:solidFill>
                <a:latin typeface="Public Sans"/>
                <a:ea typeface="Public Sans"/>
                <a:cs typeface="Public Sans"/>
                <a:sym typeface="Public Sans"/>
              </a:rPr>
              <a:t>Our Website!</a:t>
            </a:r>
          </a:p>
        </p:txBody>
      </p:sp>
      <p:sp>
        <p:nvSpPr>
          <p:cNvPr id="5" name="TextBox 7">
            <a:extLst>
              <a:ext uri="{FF2B5EF4-FFF2-40B4-BE49-F238E27FC236}">
                <a16:creationId xmlns:a16="http://schemas.microsoft.com/office/drawing/2014/main" id="{1E8BE128-D250-2C8B-E6FC-F2A31E303A67}"/>
              </a:ext>
            </a:extLst>
          </p:cNvPr>
          <p:cNvSpPr txBox="1"/>
          <p:nvPr/>
        </p:nvSpPr>
        <p:spPr>
          <a:xfrm>
            <a:off x="2895600" y="4000500"/>
            <a:ext cx="17858712" cy="4924425"/>
          </a:xfrm>
          <a:prstGeom prst="rect">
            <a:avLst/>
          </a:prstGeom>
        </p:spPr>
        <p:txBody>
          <a:bodyPr lIns="0" tIns="0" rIns="0" bIns="0" rtlCol="0" anchor="t">
            <a:spAutoFit/>
          </a:bodyPr>
          <a:lstStyle/>
          <a:p>
            <a:r>
              <a:rPr sz="3200">
                <a:latin typeface="Aptos"/>
              </a:rPr>
              <a:t>🏃 Role-Based Athlete &amp; Coach Profiling</a:t>
            </a:r>
          </a:p>
          <a:p>
            <a:r>
              <a:rPr sz="3200">
                <a:latin typeface="Aptos"/>
              </a:rPr>
              <a:t> 🎥 Video-Based Movement Analysis</a:t>
            </a:r>
          </a:p>
          <a:p>
            <a:r>
              <a:rPr sz="3200">
                <a:latin typeface="Aptos"/>
              </a:rPr>
              <a:t> 🤖 XGBoost ML-Powered Injury Risk Scoring (0–100)</a:t>
            </a:r>
          </a:p>
          <a:p>
            <a:r>
              <a:rPr sz="3200">
                <a:latin typeface="Aptos"/>
              </a:rPr>
              <a:t> 💡 Personalized Corrective Recommendations</a:t>
            </a:r>
          </a:p>
          <a:p>
            <a:r>
              <a:rPr sz="3200">
                <a:latin typeface="Aptos"/>
              </a:rPr>
              <a:t> 📄 Interactive Reports &amp; History Tracking</a:t>
            </a:r>
          </a:p>
        </p:txBody>
      </p:sp>
      <p:pic>
        <p:nvPicPr>
          <p:cNvPr id="9" name="Picture 8">
            <a:extLst>
              <a:ext uri="{FF2B5EF4-FFF2-40B4-BE49-F238E27FC236}">
                <a16:creationId xmlns:a16="http://schemas.microsoft.com/office/drawing/2014/main" id="{E7C39B88-4C5E-E61B-C8A4-4E0F67F40C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1800" y="4075112"/>
            <a:ext cx="7162800" cy="47752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2" name="Freeform 2"/>
          <p:cNvSpPr/>
          <p:nvPr/>
        </p:nvSpPr>
        <p:spPr>
          <a:xfrm>
            <a:off x="6013507" y="7027530"/>
            <a:ext cx="6260986" cy="3254027"/>
          </a:xfrm>
          <a:custGeom>
            <a:avLst/>
            <a:gdLst/>
            <a:ahLst/>
            <a:cxnLst/>
            <a:rect l="l" t="t" r="r" b="b"/>
            <a:pathLst>
              <a:path w="7187972" h="4114800">
                <a:moveTo>
                  <a:pt x="0" y="0"/>
                </a:moveTo>
                <a:lnTo>
                  <a:pt x="7187972" y="0"/>
                </a:lnTo>
                <a:lnTo>
                  <a:pt x="7187972"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p/>
        </p:txBody>
      </p:sp>
      <p:sp>
        <p:nvSpPr>
          <p:cNvPr id="5" name="TextBox 5"/>
          <p:cNvSpPr txBox="1"/>
          <p:nvPr/>
        </p:nvSpPr>
        <p:spPr>
          <a:xfrm>
            <a:off x="3273152" y="689724"/>
            <a:ext cx="11741696" cy="1232538"/>
          </a:xfrm>
          <a:prstGeom prst="rect">
            <a:avLst/>
          </a:prstGeom>
        </p:spPr>
        <p:txBody>
          <a:bodyPr lIns="0" tIns="0" rIns="0" bIns="0" rtlCol="0" anchor="t">
            <a:spAutoFit/>
          </a:bodyPr>
          <a:lstStyle/>
          <a:p>
            <a:pPr algn="ctr">
              <a:lnSpc>
                <a:spcPts val="9120"/>
              </a:lnSpc>
            </a:pPr>
            <a:r>
              <a:rPr lang="en-US" sz="9500" spc="-779">
                <a:solidFill>
                  <a:srgbClr val="272665"/>
                </a:solidFill>
                <a:latin typeface="Public Sans"/>
                <a:ea typeface="Public Sans"/>
                <a:cs typeface="Public Sans"/>
                <a:sym typeface="Public Sans"/>
              </a:rPr>
              <a:t>Conclusion</a:t>
            </a:r>
          </a:p>
        </p:txBody>
      </p:sp>
      <p:sp>
        <p:nvSpPr>
          <p:cNvPr id="7" name="TextBox 7"/>
          <p:cNvSpPr txBox="1"/>
          <p:nvPr/>
        </p:nvSpPr>
        <p:spPr>
          <a:xfrm>
            <a:off x="214644" y="3088345"/>
            <a:ext cx="17858712" cy="3016210"/>
          </a:xfrm>
          <a:prstGeom prst="rect">
            <a:avLst/>
          </a:prstGeom>
        </p:spPr>
        <p:txBody>
          <a:bodyPr lIns="0" tIns="0" rIns="0" bIns="0" rtlCol="0" anchor="t">
            <a:spAutoFit/>
          </a:bodyPr>
          <a:lstStyle/>
          <a:p>
            <a:pPr algn="ctr">
              <a:lnSpc>
                <a:spcPct val="100000"/>
              </a:lnSpc>
            </a:pPr>
            <a:r>
              <a:rPr sz="2800" b="1">
                <a:latin typeface="PT Sans"/>
              </a:rPr>
              <a:t>Our project provides an AI-powered platform for analyzing athlete movement from video. The system features role-based access for athletes and coaches, performs pose estimation and biomechanical analysis, and predicts injury risk (0–100) using a trained XGBoost machine learning model. It also provides personalized recommendations to help improve movement and reduce potential injury risks. In the future, we plan to validate the model against large-scale clinical cohorts and support multi-camera tracking. Overall, the project demonstrates a complete, reliable end-to-end AI pipeline for video-based sports injury assessment.</a:t>
            </a:r>
            <a:endParaRPr lang="en-US" sz="2800" spc="-27">
              <a:solidFill>
                <a:schemeClr val="accent4">
                  <a:lumMod val="75000"/>
                </a:schemeClr>
              </a:solidFill>
              <a:latin typeface="PT Sans"/>
              <a:ea typeface="Public Sans"/>
              <a:cs typeface="Public Sans"/>
              <a:sym typeface="Public Sans"/>
            </a:endParaRPr>
          </a:p>
        </p:txBody>
      </p:sp>
      <p:pic>
        <p:nvPicPr>
          <p:cNvPr id="9" name="Picture 8">
            <a:extLst>
              <a:ext uri="{FF2B5EF4-FFF2-40B4-BE49-F238E27FC236}">
                <a16:creationId xmlns:a16="http://schemas.microsoft.com/office/drawing/2014/main" id="{06A7D421-F07C-D70E-99D3-8056BF96889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2000" b="95889" l="4000" r="95097">
                        <a14:foregroundMark x1="16387" y1="17444" x2="16387" y2="17444"/>
                        <a14:foregroundMark x1="16645" y1="13889" x2="16645" y2="13889"/>
                        <a14:foregroundMark x1="4645" y1="19222" x2="4645" y2="19222"/>
                        <a14:foregroundMark x1="45548" y1="18889" x2="45548" y2="18889"/>
                        <a14:foregroundMark x1="73032" y1="10778" x2="73032" y2="10778"/>
                        <a14:foregroundMark x1="90581" y1="36333" x2="90581" y2="36333"/>
                        <a14:foregroundMark x1="10452" y1="64000" x2="10452" y2="64000"/>
                        <a14:foregroundMark x1="46065" y1="75889" x2="46065" y2="75889"/>
                        <a14:foregroundMark x1="33161" y1="95889" x2="33161" y2="95889"/>
                        <a14:foregroundMark x1="46581" y1="80222" x2="46581" y2="80222"/>
                        <a14:foregroundMark x1="81032" y1="74111" x2="81032" y2="74111"/>
                        <a14:foregroundMark x1="91484" y1="42556" x2="91484" y2="42556"/>
                        <a14:foregroundMark x1="16129" y1="5222" x2="16129" y2="5222"/>
                        <a14:foregroundMark x1="43226" y1="3222" x2="43226" y2="3222"/>
                        <a14:foregroundMark x1="14710" y1="2000" x2="14710" y2="2000"/>
                        <a14:foregroundMark x1="95097" y1="54889" x2="95097" y2="54889"/>
                        <a14:backgroundMark x1="32903" y1="59111" x2="32903" y2="59111"/>
                        <a14:backgroundMark x1="73419" y1="22000" x2="73419" y2="22000"/>
                        <a14:backgroundMark x1="50065" y1="20889" x2="50065" y2="20889"/>
                        <a14:backgroundMark x1="23742" y1="15333" x2="23742" y2="15333"/>
                        <a14:backgroundMark x1="40516" y1="77222" x2="40516" y2="77222"/>
                        <a14:backgroundMark x1="17161" y1="69222" x2="17161" y2="69222"/>
                        <a14:backgroundMark x1="5806" y1="57889" x2="5806" y2="57889"/>
                        <a14:backgroundMark x1="5935" y1="57778" x2="5935" y2="57778"/>
                        <a14:backgroundMark x1="41806" y1="79889" x2="41806" y2="79889"/>
                        <a14:backgroundMark x1="71871" y1="82889" x2="71871" y2="82889"/>
                        <a14:backgroundMark x1="82968" y1="66667" x2="82968" y2="66667"/>
                        <a14:backgroundMark x1="98323" y1="41222" x2="98323" y2="41222"/>
                      </a14:backgroundRemoval>
                    </a14:imgEffect>
                  </a14:imgLayer>
                </a14:imgProps>
              </a:ext>
              <a:ext uri="{28A0092B-C50C-407E-A947-70E740481C1C}">
                <a14:useLocalDpi xmlns:a14="http://schemas.microsoft.com/office/drawing/2010/main" val="0"/>
              </a:ext>
            </a:extLst>
          </a:blip>
          <a:stretch>
            <a:fillRect/>
          </a:stretch>
        </p:blipFill>
        <p:spPr>
          <a:xfrm>
            <a:off x="14325600" y="7105962"/>
            <a:ext cx="2667000" cy="3097161"/>
          </a:xfrm>
          <a:prstGeom prst="rect">
            <a:avLst/>
          </a:prstGeom>
        </p:spPr>
      </p:pic>
      <p:pic>
        <p:nvPicPr>
          <p:cNvPr id="11" name="Picture 10">
            <a:extLst>
              <a:ext uri="{FF2B5EF4-FFF2-40B4-BE49-F238E27FC236}">
                <a16:creationId xmlns:a16="http://schemas.microsoft.com/office/drawing/2014/main" id="{635D42CE-85BA-267E-91D8-E6522CEAAFD9}"/>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779" b="89872" l="4762" r="94643">
                        <a14:foregroundMark x1="19405" y1="40629" x2="19405" y2="40629"/>
                        <a14:foregroundMark x1="12262" y1="33295" x2="12262" y2="33295"/>
                        <a14:foregroundMark x1="4762" y1="32480" x2="4762" y2="32480"/>
                        <a14:foregroundMark x1="13095" y1="25146" x2="13095" y2="25146"/>
                        <a14:foregroundMark x1="58333" y1="36554" x2="58333" y2="36554"/>
                        <a14:foregroundMark x1="62500" y1="75087" x2="62500" y2="75087"/>
                        <a14:foregroundMark x1="76667" y1="62398" x2="76667" y2="62398"/>
                        <a14:foregroundMark x1="55714" y1="42258" x2="55714" y2="42258"/>
                        <a14:foregroundMark x1="42381" y1="32480" x2="42381" y2="32480"/>
                        <a14:foregroundMark x1="79167" y1="32945" x2="79167" y2="32945"/>
                        <a14:foregroundMark x1="94643" y1="41444" x2="94643" y2="41444"/>
                        <a14:foregroundMark x1="23095" y1="38184" x2="23095" y2="38184"/>
                        <a14:foregroundMark x1="75476" y1="60768" x2="75476" y2="60768"/>
                        <a14:foregroundMark x1="75476" y1="60768" x2="75476" y2="60768"/>
                        <a14:foregroundMark x1="58333" y1="69732" x2="58333" y2="69732"/>
                        <a14:foregroundMark x1="40238" y1="33760" x2="40238" y2="33760"/>
                        <a14:foregroundMark x1="14405" y1="25146" x2="14405" y2="25146"/>
                        <a14:backgroundMark x1="37381" y1="13620" x2="37381" y2="13620"/>
                        <a14:backgroundMark x1="75476" y1="14086" x2="75476" y2="14086"/>
                        <a14:backgroundMark x1="75476" y1="14086" x2="75476" y2="14086"/>
                        <a14:backgroundMark x1="60833" y1="14086" x2="60833" y2="14086"/>
                        <a14:backgroundMark x1="60833" y1="14086" x2="60833" y2="14086"/>
                        <a14:backgroundMark x1="60833" y1="14086" x2="60833" y2="14086"/>
                        <a14:backgroundMark x1="60833" y1="14086" x2="60833" y2="14086"/>
                        <a14:backgroundMark x1="60833" y1="14086" x2="60833" y2="14086"/>
                        <a14:backgroundMark x1="46548" y1="85681" x2="46548" y2="85681"/>
                      </a14:backgroundRemoval>
                    </a14:imgEffect>
                  </a14:imgLayer>
                </a14:imgProps>
              </a:ext>
              <a:ext uri="{28A0092B-C50C-407E-A947-70E740481C1C}">
                <a14:useLocalDpi xmlns:a14="http://schemas.microsoft.com/office/drawing/2010/main" val="0"/>
              </a:ext>
            </a:extLst>
          </a:blip>
          <a:stretch>
            <a:fillRect/>
          </a:stretch>
        </p:blipFill>
        <p:spPr>
          <a:xfrm>
            <a:off x="1171660" y="6705506"/>
            <a:ext cx="3816293" cy="389807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2" name="Freeform 2"/>
          <p:cNvSpPr/>
          <p:nvPr/>
        </p:nvSpPr>
        <p:spPr>
          <a:xfrm>
            <a:off x="10288069" y="1122363"/>
            <a:ext cx="5831883" cy="8042275"/>
          </a:xfrm>
          <a:custGeom>
            <a:avLst/>
            <a:gdLst/>
            <a:ahLst/>
            <a:cxnLst/>
            <a:rect l="l" t="t" r="r" b="b"/>
            <a:pathLst>
              <a:path w="5831883" h="8042275">
                <a:moveTo>
                  <a:pt x="0" y="0"/>
                </a:moveTo>
                <a:lnTo>
                  <a:pt x="5831883" y="0"/>
                </a:lnTo>
                <a:lnTo>
                  <a:pt x="5831883" y="8042274"/>
                </a:lnTo>
                <a:lnTo>
                  <a:pt x="0" y="80422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1028700" y="2593656"/>
            <a:ext cx="7150078" cy="5414014"/>
          </a:xfrm>
          <a:prstGeom prst="rect">
            <a:avLst/>
          </a:prstGeom>
        </p:spPr>
        <p:txBody>
          <a:bodyPr lIns="0" tIns="0" rIns="0" bIns="0" rtlCol="0" anchor="t">
            <a:spAutoFit/>
          </a:bodyPr>
          <a:lstStyle/>
          <a:p>
            <a:pPr algn="l">
              <a:lnSpc>
                <a:spcPts val="13920"/>
              </a:lnSpc>
            </a:pPr>
            <a:r>
              <a:rPr lang="en-US" sz="14500" spc="-536">
                <a:solidFill>
                  <a:srgbClr val="272665"/>
                </a:solidFill>
                <a:latin typeface="Public Sans"/>
                <a:ea typeface="Public Sans"/>
                <a:cs typeface="Public Sans"/>
                <a:sym typeface="Public Sans"/>
              </a:rPr>
              <a:t>Thank you very much!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26</Slides>
  <Notes>7</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Lilac Illustrated Social Psychology Presentation</dc:title>
  <cp:revision>1</cp:revision>
  <dcterms:created xsi:type="dcterms:W3CDTF">2006-08-16T00:00:00Z</dcterms:created>
  <dcterms:modified xsi:type="dcterms:W3CDTF">2026-08-16T09:46:25Z</dcterms:modified>
  <dc:identifier>DAGYiOdpaIg</dc:identifier>
</cp:coreProperties>
</file>