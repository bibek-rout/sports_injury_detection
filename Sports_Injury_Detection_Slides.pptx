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Sports Injury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40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8BFF"/>
                </a:solidFill>
              </a:rPr>
              <a:t>Detection from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BED4"/>
                </a:solidFill>
              </a:rPr>
              <a:t>AI-Powered Biomechanical Analysis &amp; Injury Prevention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77639"/>
            <a:ext cx="502920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Manjeera   ·   Payal   ·   Mithra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560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Bibek   ·   Sumit   ·   Sonika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548640"/>
            <a:ext cx="12700" cy="566928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02368" y="548640"/>
            <a:ext cx="12700" cy="566928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86416" y="548640"/>
            <a:ext cx="12700" cy="566928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70464" y="548640"/>
            <a:ext cx="12700" cy="566928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54512" y="548640"/>
            <a:ext cx="12700" cy="566928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38560" y="548640"/>
            <a:ext cx="12700" cy="566928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18320" y="548640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8320" y="1207008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865376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2523744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3182112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3840479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4498848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5157216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5815584"/>
            <a:ext cx="2286000" cy="1270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1371600" cy="13716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3957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8BFF"/>
                </a:solidFill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3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45720" cy="685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943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Challenge &amp; What We're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524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212080" cy="4846320"/>
          </a:xfrm>
          <a:prstGeom prst="rect">
            <a:avLst/>
          </a:prstGeom>
          <a:solidFill>
            <a:srgbClr val="131C2E"/>
          </a:solidFill>
          <a:ln w="10160">
            <a:solidFill>
              <a:srgbClr val="3A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371600" cy="1905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157983"/>
            <a:ext cx="731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Sports injuries cost athletes seasons — and careers.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596895"/>
            <a:ext cx="731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2374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Traditional assessment relies on manual observation,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9806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which is slow, subjective, and inconsistent.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255263"/>
            <a:ext cx="731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8211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early-warning system exists for movement-based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5643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in real training environments.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13631"/>
            <a:ext cx="731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4047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Coaches and physios lack data-driven tools to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79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before an injury happens.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481328"/>
            <a:ext cx="5925312" cy="4846320"/>
          </a:xfrm>
          <a:prstGeom prst="rect">
            <a:avLst/>
          </a:prstGeom>
          <a:solidFill>
            <a:srgbClr val="131C2E"/>
          </a:solidFill>
          <a:ln w="10160">
            <a:solidFill>
              <a:srgbClr val="3A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600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FF"/>
                </a:solidFill>
              </a:rPr>
              <a:t>PROJECT OBJECTIVES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965960"/>
            <a:ext cx="1371600" cy="1905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2084831"/>
            <a:ext cx="365760" cy="3657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0848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0848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Detect Risk Before It Becomes Injury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04871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Analyse athlete movement videos using pose estimation
and biomechanical analysis to flag patterns that
precede common sports injuries.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438143"/>
            <a:ext cx="365760" cy="3657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43814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3814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Deliver Role-Specific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58183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Provide tailored dashboards for athletes, coaches,
physiotherapists, and sports scientists — each seeing
what is most relevant to their role.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791455"/>
            <a:ext cx="365760" cy="3657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79145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914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Enable Proactive 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11495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Generate personalised corrective exercises, mobility
drills, and recovery plans based on detected
biomechanical deviations.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3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4572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943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the Platform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524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D4"/>
                </a:solidFill>
              </a:rPr>
              <a:t>SportGuard uses computer vision, MediaPipe pose estimation, XGBoost risk prediction, and Groq AI
to turn raw video footage into actionable injury prevention intelligence —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566160" cy="1920240"/>
          </a:xfrm>
          <a:prstGeom prst="rect">
            <a:avLst/>
          </a:prstGeom>
          <a:solidFill>
            <a:srgbClr val="131C2E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356616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</a:rPr>
              <a:t>Video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Upload any sports video.
MediaPipe extracts 33 body
landmarks per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331720"/>
            <a:ext cx="3566160" cy="1920240"/>
          </a:xfrm>
          <a:prstGeom prst="rect">
            <a:avLst/>
          </a:prstGeom>
          <a:solidFill>
            <a:srgbClr val="131C2E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331720"/>
            <a:ext cx="35661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Pose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803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Real-time skeleton tracking.
Joint coordinates captured
with visibility filtering.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331720"/>
            <a:ext cx="3566160" cy="1920240"/>
          </a:xfrm>
          <a:prstGeom prst="rect">
            <a:avLst/>
          </a:prstGeom>
          <a:solidFill>
            <a:srgbClr val="131C2E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331720"/>
            <a:ext cx="356616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</a:rPr>
              <a:t>Biomechanics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803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Calculates knee angles, trunk
lean, symmetry scores, valgus
angles, and balance offsets.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07992"/>
            <a:ext cx="3566160" cy="1920240"/>
          </a:xfrm>
          <a:prstGeom prst="rect">
            <a:avLst/>
          </a:prstGeom>
          <a:solidFill>
            <a:srgbClr val="131C2E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507992"/>
            <a:ext cx="35661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451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Risk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5663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XGBoost model classifies risk
as Low / Moderate / High /
Critical using 12 features.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507992"/>
            <a:ext cx="3566160" cy="1920240"/>
          </a:xfrm>
          <a:prstGeom prst="rect">
            <a:avLst/>
          </a:prstGeom>
          <a:solidFill>
            <a:srgbClr val="131C2E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4507992"/>
            <a:ext cx="356616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6451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</a:rPr>
              <a:t>AI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5663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Llama 3 generates corrective
exercise plans, mobility drills,
and recovery schedules.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507992"/>
            <a:ext cx="3566160" cy="1920240"/>
          </a:xfrm>
          <a:prstGeom prst="rect">
            <a:avLst/>
          </a:prstGeom>
          <a:solidFill>
            <a:srgbClr val="131C2E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507992"/>
            <a:ext cx="35661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6451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Role-Based 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05663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Separate views for Athletes,
Coaches, Physios, Scientists,
and Admins.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3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FF"/>
                </a:solidFill>
              </a:rP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45720" cy="685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943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End-to-End 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5240"/>
          </a:xfrm>
          <a:prstGeom prst="rect">
            <a:avLst/>
          </a:prstGeom>
          <a:solidFill>
            <a:srgbClr val="3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0116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</a:rPr>
              <a:t>Register /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03911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JWT Auth &amp;
Role Assignment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1508760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2032" y="1508760"/>
            <a:ext cx="20116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60020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</a:rPr>
              <a:t>Athlete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03911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Sport type, injury
history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9744" y="1508760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9744" y="1508760"/>
            <a:ext cx="20116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160020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</a:rPr>
              <a:t>Video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03911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MP4 / MOV / AVI
up to 100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1508760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1508760"/>
            <a:ext cx="20116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160020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</a:rPr>
              <a:t>Async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03911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Background task
FFmpeg + frame
extraction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1508760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45168" y="1508760"/>
            <a:ext cx="20116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60020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</a:rPr>
              <a:t>Pose Estimation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03911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MediaPipe
33 landmarks
per frame</a:t>
            </a:r>
          </a:p>
        </p:txBody>
      </p:sp>
      <p:sp>
        <p:nvSpPr>
          <p:cNvPr id="27" name="Can 26"/>
          <p:cNvSpPr/>
          <p:nvPr/>
        </p:nvSpPr>
        <p:spPr>
          <a:xfrm>
            <a:off x="2286000" y="2089404"/>
            <a:ext cx="256032" cy="256032"/>
          </a:xfrm>
          <a:prstGeom prst="can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>
            <a:off x="4553712" y="2089404"/>
            <a:ext cx="256032" cy="256032"/>
          </a:xfrm>
          <a:prstGeom prst="can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6821424" y="2089404"/>
            <a:ext cx="256032" cy="256032"/>
          </a:xfrm>
          <a:prstGeom prst="can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9089136" y="2089404"/>
            <a:ext cx="256032" cy="256032"/>
          </a:xfrm>
          <a:prstGeom prst="can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gular Pentagon 30"/>
          <p:cNvSpPr/>
          <p:nvPr/>
        </p:nvSpPr>
        <p:spPr>
          <a:xfrm>
            <a:off x="10222992" y="2926080"/>
            <a:ext cx="256032" cy="932687"/>
          </a:xfrm>
          <a:prstGeom prst="pentagon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45168" y="3858767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45168" y="3858767"/>
            <a:ext cx="20116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6608" y="3950207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</a:rPr>
              <a:t>Biomechanical
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89119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Knee angles, trunk
lean, symmetry,
valgus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77456" y="3858767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77456" y="3858767"/>
            <a:ext cx="2011680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68896" y="3950207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Risk Scoring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4389119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XGBoost model
Low / Moderate
High / Critical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9744" y="3858767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09744" y="3858767"/>
            <a:ext cx="20116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1184" y="3950207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</a:rPr>
              <a:t>AI Recommendations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2896" y="4389119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Groq Llama 3
corrective plan
per role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42032" y="3858767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42032" y="3858767"/>
            <a:ext cx="20116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3472" y="3950207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</a:rPr>
              <a:t>Annotated Video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15184" y="4389119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Skeleton overlay
+ biomechanics
heatmap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858767"/>
            <a:ext cx="2011680" cy="14173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858767"/>
            <a:ext cx="201168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950207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FF"/>
                </a:solidFill>
              </a:rPr>
              <a:t>Dashboard &amp;
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4389119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</a:rPr>
              <a:t>Role-specific
view + PDF
export</a:t>
            </a:r>
          </a:p>
        </p:txBody>
      </p:sp>
      <p:sp>
        <p:nvSpPr>
          <p:cNvPr id="52" name="Oval 51"/>
          <p:cNvSpPr/>
          <p:nvPr/>
        </p:nvSpPr>
        <p:spPr>
          <a:xfrm>
            <a:off x="9089136" y="4439411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21424" y="4439411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53712" y="4439411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86000" y="4439411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6537960"/>
            <a:ext cx="164592" cy="16459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510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D4"/>
                </a:solidFill>
              </a:rPr>
              <a:t>User &amp; Input Layer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6537960"/>
            <a:ext cx="164592" cy="1645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55264" y="6510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D4"/>
                </a:solidFill>
              </a:rPr>
              <a:t>AI Processing Layer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6537960"/>
            <a:ext cx="164592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32704" y="6510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D4"/>
                </a:solidFill>
              </a:rPr>
              <a:t>Risk Intelligence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3"/>
                </a:solidFill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