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Rectangle 1"/>
          <p:cNvSpPr/>
          <p:nvPr/>
        </p:nvSpPr>
        <p:spPr>
          <a:xfrm>
            <a:off x="9144000" y="0"/>
            <a:ext cx="3044952" cy="27432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10312" cy="68580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12188952" cy="2286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0" y="2286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0" y="4572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320040"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828800"/>
            <a:ext cx="36576" cy="36576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41280" y="365760"/>
            <a:ext cx="1600200" cy="548640"/>
          </a:xfrm>
          <a:prstGeom prst="rect">
            <a:avLst/>
          </a:prstGeom>
          <a:solidFill>
            <a:srgbClr val="0A2045"/>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0" y="365760"/>
            <a:ext cx="1600200" cy="548640"/>
          </a:xfrm>
          <a:prstGeom prst="rect">
            <a:avLst/>
          </a:prstGeom>
          <a:noFill/>
        </p:spPr>
        <p:txBody>
          <a:bodyPr wrap="square">
            <a:spAutoFit/>
          </a:bodyPr>
          <a:lstStyle/>
          <a:p>
            <a:pPr algn="ctr"/>
            <a:r>
              <a:rPr sz="750" b="1" i="0">
                <a:solidFill>
                  <a:srgbClr val="3B82F6"/>
                </a:solidFill>
              </a:rPr>
              <a:t>AI-POWERED PLATFORM</a:t>
            </a:r>
          </a:p>
        </p:txBody>
      </p:sp>
      <p:sp>
        <p:nvSpPr>
          <p:cNvPr id="11" name="Rectangle 10"/>
          <p:cNvSpPr/>
          <p:nvPr/>
        </p:nvSpPr>
        <p:spPr>
          <a:xfrm>
            <a:off x="9601200" y="822960"/>
            <a:ext cx="2286000" cy="76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01200" y="1280160"/>
            <a:ext cx="2286000" cy="76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0" y="1737360"/>
            <a:ext cx="2286000" cy="76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1200" y="2194560"/>
            <a:ext cx="2286000" cy="76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0" y="2651760"/>
            <a:ext cx="2286000" cy="76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0" y="822960"/>
            <a:ext cx="76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95560" y="822960"/>
            <a:ext cx="76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0" y="822960"/>
            <a:ext cx="76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84280" y="822960"/>
            <a:ext cx="762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914400"/>
            <a:ext cx="9601200" cy="1143000"/>
          </a:xfrm>
          <a:prstGeom prst="rect">
            <a:avLst/>
          </a:prstGeom>
          <a:noFill/>
        </p:spPr>
        <p:txBody>
          <a:bodyPr wrap="square">
            <a:spAutoFit/>
          </a:bodyPr>
          <a:lstStyle/>
          <a:p>
            <a:pPr algn="l"/>
            <a:r>
              <a:rPr sz="5600" b="1" i="0">
                <a:solidFill>
                  <a:srgbClr val="FFFFFF"/>
                </a:solidFill>
              </a:rPr>
              <a:t>Sports Injury Risk</a:t>
            </a:r>
          </a:p>
        </p:txBody>
      </p:sp>
      <p:sp>
        <p:nvSpPr>
          <p:cNvPr id="21" name="TextBox 20"/>
          <p:cNvSpPr txBox="1"/>
          <p:nvPr/>
        </p:nvSpPr>
        <p:spPr>
          <a:xfrm>
            <a:off x="548640" y="1920240"/>
            <a:ext cx="9601200" cy="1097280"/>
          </a:xfrm>
          <a:prstGeom prst="rect">
            <a:avLst/>
          </a:prstGeom>
          <a:noFill/>
        </p:spPr>
        <p:txBody>
          <a:bodyPr wrap="square">
            <a:spAutoFit/>
          </a:bodyPr>
          <a:lstStyle/>
          <a:p>
            <a:pPr algn="l"/>
            <a:r>
              <a:rPr sz="5600" b="1" i="0">
                <a:solidFill>
                  <a:srgbClr val="3B82F6"/>
                </a:solidFill>
              </a:rPr>
              <a:t>Detection from Video</a:t>
            </a:r>
          </a:p>
        </p:txBody>
      </p:sp>
      <p:sp>
        <p:nvSpPr>
          <p:cNvPr id="22" name="TextBox 21"/>
          <p:cNvSpPr txBox="1"/>
          <p:nvPr/>
        </p:nvSpPr>
        <p:spPr>
          <a:xfrm>
            <a:off x="548640" y="3108960"/>
            <a:ext cx="9875520" cy="1005840"/>
          </a:xfrm>
          <a:prstGeom prst="rect">
            <a:avLst/>
          </a:prstGeom>
          <a:noFill/>
        </p:spPr>
        <p:txBody>
          <a:bodyPr wrap="square">
            <a:spAutoFit/>
          </a:bodyPr>
          <a:lstStyle/>
          <a:p>
            <a:pPr algn="l"/>
            <a:r>
              <a:rPr sz="1300" b="0" i="1">
                <a:solidFill>
                  <a:srgbClr val="94A3B8"/>
                </a:solidFill>
              </a:rPr>
              <a:t>An AI-powered platform that analyses athlete movement videos to detect biomechanical risk factors, predict injury probability, and deliver personalised corrective recommendations for athletes, coaches, physiotherapists, and sports scientists.</a:t>
            </a:r>
          </a:p>
        </p:txBody>
      </p:sp>
      <p:sp>
        <p:nvSpPr>
          <p:cNvPr id="23" name="Rectangle 22"/>
          <p:cNvSpPr/>
          <p:nvPr/>
        </p:nvSpPr>
        <p:spPr>
          <a:xfrm>
            <a:off x="548640" y="4206240"/>
            <a:ext cx="5486400" cy="1905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343400"/>
            <a:ext cx="4572000" cy="320040"/>
          </a:xfrm>
          <a:prstGeom prst="rect">
            <a:avLst/>
          </a:prstGeom>
          <a:noFill/>
        </p:spPr>
        <p:txBody>
          <a:bodyPr wrap="square">
            <a:spAutoFit/>
          </a:bodyPr>
          <a:lstStyle/>
          <a:p>
            <a:pPr algn="l"/>
            <a:r>
              <a:rPr sz="850" b="1" i="0">
                <a:solidFill>
                  <a:srgbClr val="06B6D4"/>
                </a:solidFill>
              </a:rPr>
              <a:t>TEAM MEMBERS</a:t>
            </a:r>
          </a:p>
        </p:txBody>
      </p:sp>
      <p:sp>
        <p:nvSpPr>
          <p:cNvPr id="25" name="Rounded Rectangle 24"/>
          <p:cNvSpPr/>
          <p:nvPr/>
        </p:nvSpPr>
        <p:spPr>
          <a:xfrm>
            <a:off x="594360" y="47091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709160"/>
            <a:ext cx="1737360" cy="347472"/>
          </a:xfrm>
          <a:prstGeom prst="rect">
            <a:avLst/>
          </a:prstGeom>
          <a:noFill/>
        </p:spPr>
        <p:txBody>
          <a:bodyPr wrap="square">
            <a:spAutoFit/>
          </a:bodyPr>
          <a:lstStyle/>
          <a:p>
            <a:pPr algn="ctr"/>
            <a:r>
              <a:rPr sz="1250" b="1" i="0">
                <a:solidFill>
                  <a:srgbClr val="FFFFFF"/>
                </a:solidFill>
              </a:rPr>
              <a:t>Manjeera</a:t>
            </a:r>
          </a:p>
        </p:txBody>
      </p:sp>
      <p:sp>
        <p:nvSpPr>
          <p:cNvPr id="27" name="Rounded Rectangle 26"/>
          <p:cNvSpPr/>
          <p:nvPr/>
        </p:nvSpPr>
        <p:spPr>
          <a:xfrm>
            <a:off x="2606040" y="47091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40" y="4709160"/>
            <a:ext cx="1737360" cy="347472"/>
          </a:xfrm>
          <a:prstGeom prst="rect">
            <a:avLst/>
          </a:prstGeom>
          <a:noFill/>
        </p:spPr>
        <p:txBody>
          <a:bodyPr wrap="square">
            <a:spAutoFit/>
          </a:bodyPr>
          <a:lstStyle/>
          <a:p>
            <a:pPr algn="ctr"/>
            <a:r>
              <a:rPr sz="1250" b="1" i="0">
                <a:solidFill>
                  <a:srgbClr val="FFFFFF"/>
                </a:solidFill>
              </a:rPr>
              <a:t>Payal</a:t>
            </a:r>
          </a:p>
        </p:txBody>
      </p:sp>
      <p:sp>
        <p:nvSpPr>
          <p:cNvPr id="29" name="Rounded Rectangle 28"/>
          <p:cNvSpPr/>
          <p:nvPr/>
        </p:nvSpPr>
        <p:spPr>
          <a:xfrm>
            <a:off x="4617720" y="47091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17720" y="4709160"/>
            <a:ext cx="1737360" cy="347472"/>
          </a:xfrm>
          <a:prstGeom prst="rect">
            <a:avLst/>
          </a:prstGeom>
          <a:noFill/>
        </p:spPr>
        <p:txBody>
          <a:bodyPr wrap="square">
            <a:spAutoFit/>
          </a:bodyPr>
          <a:lstStyle/>
          <a:p>
            <a:pPr algn="ctr"/>
            <a:r>
              <a:rPr sz="1250" b="1" i="0">
                <a:solidFill>
                  <a:srgbClr val="FFFFFF"/>
                </a:solidFill>
              </a:rPr>
              <a:t>Mithra</a:t>
            </a:r>
          </a:p>
        </p:txBody>
      </p:sp>
      <p:sp>
        <p:nvSpPr>
          <p:cNvPr id="31" name="Rounded Rectangle 30"/>
          <p:cNvSpPr/>
          <p:nvPr/>
        </p:nvSpPr>
        <p:spPr>
          <a:xfrm>
            <a:off x="594360" y="51663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166360"/>
            <a:ext cx="1737360" cy="347472"/>
          </a:xfrm>
          <a:prstGeom prst="rect">
            <a:avLst/>
          </a:prstGeom>
          <a:noFill/>
        </p:spPr>
        <p:txBody>
          <a:bodyPr wrap="square">
            <a:spAutoFit/>
          </a:bodyPr>
          <a:lstStyle/>
          <a:p>
            <a:pPr algn="ctr"/>
            <a:r>
              <a:rPr sz="1250" b="1" i="0">
                <a:solidFill>
                  <a:srgbClr val="FFFFFF"/>
                </a:solidFill>
              </a:rPr>
              <a:t>Bibek</a:t>
            </a:r>
          </a:p>
        </p:txBody>
      </p:sp>
      <p:sp>
        <p:nvSpPr>
          <p:cNvPr id="33" name="Rounded Rectangle 32"/>
          <p:cNvSpPr/>
          <p:nvPr/>
        </p:nvSpPr>
        <p:spPr>
          <a:xfrm>
            <a:off x="2606040" y="51663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06040" y="5166360"/>
            <a:ext cx="1737360" cy="347472"/>
          </a:xfrm>
          <a:prstGeom prst="rect">
            <a:avLst/>
          </a:prstGeom>
          <a:noFill/>
        </p:spPr>
        <p:txBody>
          <a:bodyPr wrap="square">
            <a:spAutoFit/>
          </a:bodyPr>
          <a:lstStyle/>
          <a:p>
            <a:pPr algn="ctr"/>
            <a:r>
              <a:rPr sz="1250" b="1" i="0">
                <a:solidFill>
                  <a:srgbClr val="FFFFFF"/>
                </a:solidFill>
              </a:rPr>
              <a:t>Sumit</a:t>
            </a:r>
          </a:p>
        </p:txBody>
      </p:sp>
      <p:sp>
        <p:nvSpPr>
          <p:cNvPr id="35" name="Rounded Rectangle 34"/>
          <p:cNvSpPr/>
          <p:nvPr/>
        </p:nvSpPr>
        <p:spPr>
          <a:xfrm>
            <a:off x="4617720" y="5166360"/>
            <a:ext cx="1737360" cy="347472"/>
          </a:xfrm>
          <a:prstGeom prst="roundRect">
            <a:avLst/>
          </a:prstGeom>
          <a:solidFill>
            <a:srgbClr val="0D1F3C"/>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5166360"/>
            <a:ext cx="1737360" cy="347472"/>
          </a:xfrm>
          <a:prstGeom prst="rect">
            <a:avLst/>
          </a:prstGeom>
          <a:noFill/>
        </p:spPr>
        <p:txBody>
          <a:bodyPr wrap="square">
            <a:spAutoFit/>
          </a:bodyPr>
          <a:lstStyle/>
          <a:p>
            <a:pPr algn="ctr"/>
            <a:r>
              <a:rPr sz="1250" b="1" i="0">
                <a:solidFill>
                  <a:srgbClr val="FFFFFF"/>
                </a:solidFill>
              </a:rPr>
              <a:t>Sonika</a:t>
            </a:r>
          </a:p>
        </p:txBody>
      </p:sp>
      <p:sp>
        <p:nvSpPr>
          <p:cNvPr id="37" name="Rounded Rectangle 36"/>
          <p:cNvSpPr/>
          <p:nvPr/>
        </p:nvSpPr>
        <p:spPr>
          <a:xfrm>
            <a:off x="54864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6172200"/>
            <a:ext cx="1783080" cy="347472"/>
          </a:xfrm>
          <a:prstGeom prst="rect">
            <a:avLst/>
          </a:prstGeom>
          <a:noFill/>
        </p:spPr>
        <p:txBody>
          <a:bodyPr wrap="square">
            <a:spAutoFit/>
          </a:bodyPr>
          <a:lstStyle/>
          <a:p>
            <a:pPr algn="ctr"/>
            <a:r>
              <a:rPr sz="900" b="0" i="0">
                <a:solidFill>
                  <a:srgbClr val="94A3B8"/>
                </a:solidFill>
              </a:rPr>
              <a:t>Computer Vision</a:t>
            </a:r>
          </a:p>
        </p:txBody>
      </p:sp>
      <p:sp>
        <p:nvSpPr>
          <p:cNvPr id="39" name="Rounded Rectangle 38"/>
          <p:cNvSpPr/>
          <p:nvPr/>
        </p:nvSpPr>
        <p:spPr>
          <a:xfrm>
            <a:off x="246888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468880" y="6172200"/>
            <a:ext cx="1783080" cy="347472"/>
          </a:xfrm>
          <a:prstGeom prst="rect">
            <a:avLst/>
          </a:prstGeom>
          <a:noFill/>
        </p:spPr>
        <p:txBody>
          <a:bodyPr wrap="square">
            <a:spAutoFit/>
          </a:bodyPr>
          <a:lstStyle/>
          <a:p>
            <a:pPr algn="ctr"/>
            <a:r>
              <a:rPr sz="900" b="0" i="0">
                <a:solidFill>
                  <a:srgbClr val="94A3B8"/>
                </a:solidFill>
              </a:rPr>
              <a:t>Pose Estimation</a:t>
            </a:r>
          </a:p>
        </p:txBody>
      </p:sp>
      <p:sp>
        <p:nvSpPr>
          <p:cNvPr id="41" name="Rounded Rectangle 40"/>
          <p:cNvSpPr/>
          <p:nvPr/>
        </p:nvSpPr>
        <p:spPr>
          <a:xfrm>
            <a:off x="438912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0" y="6172200"/>
            <a:ext cx="1783080" cy="347472"/>
          </a:xfrm>
          <a:prstGeom prst="rect">
            <a:avLst/>
          </a:prstGeom>
          <a:noFill/>
        </p:spPr>
        <p:txBody>
          <a:bodyPr wrap="square">
            <a:spAutoFit/>
          </a:bodyPr>
          <a:lstStyle/>
          <a:p>
            <a:pPr algn="ctr"/>
            <a:r>
              <a:rPr sz="900" b="0" i="0">
                <a:solidFill>
                  <a:srgbClr val="94A3B8"/>
                </a:solidFill>
              </a:rPr>
              <a:t>XGBoost</a:t>
            </a:r>
          </a:p>
        </p:txBody>
      </p:sp>
      <p:sp>
        <p:nvSpPr>
          <p:cNvPr id="43" name="Rounded Rectangle 42"/>
          <p:cNvSpPr/>
          <p:nvPr/>
        </p:nvSpPr>
        <p:spPr>
          <a:xfrm>
            <a:off x="630936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6172200"/>
            <a:ext cx="1783080" cy="347472"/>
          </a:xfrm>
          <a:prstGeom prst="rect">
            <a:avLst/>
          </a:prstGeom>
          <a:noFill/>
        </p:spPr>
        <p:txBody>
          <a:bodyPr wrap="square">
            <a:spAutoFit/>
          </a:bodyPr>
          <a:lstStyle/>
          <a:p>
            <a:pPr algn="ctr"/>
            <a:r>
              <a:rPr sz="900" b="0" i="0">
                <a:solidFill>
                  <a:srgbClr val="94A3B8"/>
                </a:solidFill>
              </a:rPr>
              <a:t>FastAPI</a:t>
            </a:r>
          </a:p>
        </p:txBody>
      </p:sp>
      <p:sp>
        <p:nvSpPr>
          <p:cNvPr id="45" name="Rounded Rectangle 44"/>
          <p:cNvSpPr/>
          <p:nvPr/>
        </p:nvSpPr>
        <p:spPr>
          <a:xfrm>
            <a:off x="822960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0" y="6172200"/>
            <a:ext cx="1783080" cy="347472"/>
          </a:xfrm>
          <a:prstGeom prst="rect">
            <a:avLst/>
          </a:prstGeom>
          <a:noFill/>
        </p:spPr>
        <p:txBody>
          <a:bodyPr wrap="square">
            <a:spAutoFit/>
          </a:bodyPr>
          <a:lstStyle/>
          <a:p>
            <a:pPr algn="ctr"/>
            <a:r>
              <a:rPr sz="900" b="0" i="0">
                <a:solidFill>
                  <a:srgbClr val="94A3B8"/>
                </a:solidFill>
              </a:rPr>
              <a:t>Next.js</a:t>
            </a:r>
          </a:p>
        </p:txBody>
      </p:sp>
      <p:sp>
        <p:nvSpPr>
          <p:cNvPr id="47" name="Rounded Rectangle 46"/>
          <p:cNvSpPr/>
          <p:nvPr/>
        </p:nvSpPr>
        <p:spPr>
          <a:xfrm>
            <a:off x="10149840" y="6172200"/>
            <a:ext cx="1783080" cy="347472"/>
          </a:xfrm>
          <a:prstGeom prst="roundRect">
            <a:avLst/>
          </a:prstGeom>
          <a:solidFill>
            <a:srgbClr val="050B1A"/>
          </a:solidFill>
          <a:ln w="1016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49840" y="6172200"/>
            <a:ext cx="1783080" cy="347472"/>
          </a:xfrm>
          <a:prstGeom prst="rect">
            <a:avLst/>
          </a:prstGeom>
          <a:noFill/>
        </p:spPr>
        <p:txBody>
          <a:bodyPr wrap="square">
            <a:spAutoFit/>
          </a:bodyPr>
          <a:lstStyle/>
          <a:p>
            <a:pPr algn="ctr"/>
            <a:r>
              <a:rPr sz="900" b="0" i="0">
                <a:solidFill>
                  <a:srgbClr val="94A3B8"/>
                </a:solidFill>
              </a:rPr>
              <a:t>Groq AI</a:t>
            </a:r>
          </a:p>
        </p:txBody>
      </p:sp>
      <p:sp>
        <p:nvSpPr>
          <p:cNvPr id="49" name="TextBox 48"/>
          <p:cNvSpPr txBox="1"/>
          <p:nvPr/>
        </p:nvSpPr>
        <p:spPr>
          <a:xfrm>
            <a:off x="11612880" y="6537960"/>
            <a:ext cx="457200" cy="256032"/>
          </a:xfrm>
          <a:prstGeom prst="rect">
            <a:avLst/>
          </a:prstGeom>
          <a:noFill/>
        </p:spPr>
        <p:txBody>
          <a:bodyPr wrap="square">
            <a:spAutoFit/>
          </a:bodyPr>
          <a:lstStyle/>
          <a:p>
            <a:pPr algn="r"/>
            <a:r>
              <a:rPr sz="900" b="0" i="0">
                <a:solidFill>
                  <a:srgbClr val="1E293B"/>
                </a:solidFil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Rectangle 1"/>
          <p:cNvSpPr/>
          <p:nvPr/>
        </p:nvSpPr>
        <p:spPr>
          <a:xfrm>
            <a:off x="9144000" y="0"/>
            <a:ext cx="3044952" cy="27432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10312" cy="68580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12188952" cy="2286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0" y="2286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0" y="4572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029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
            <a:ext cx="10972800" cy="320040"/>
          </a:xfrm>
          <a:prstGeom prst="rect">
            <a:avLst/>
          </a:prstGeom>
          <a:noFill/>
        </p:spPr>
        <p:txBody>
          <a:bodyPr wrap="square">
            <a:spAutoFit/>
          </a:bodyPr>
          <a:lstStyle/>
          <a:p>
            <a:pPr algn="l"/>
            <a:r>
              <a:rPr sz="900" b="1" i="0">
                <a:solidFill>
                  <a:srgbClr val="EF4444"/>
                </a:solidFill>
              </a:rPr>
              <a:t>PROBLEM STATEMENT &amp; OBJECTIVES</a:t>
            </a:r>
          </a:p>
        </p:txBody>
      </p:sp>
      <p:sp>
        <p:nvSpPr>
          <p:cNvPr id="9" name="Rectangle 8"/>
          <p:cNvSpPr/>
          <p:nvPr/>
        </p:nvSpPr>
        <p:spPr>
          <a:xfrm>
            <a:off x="457200" y="530352"/>
            <a:ext cx="45720" cy="7315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30352"/>
            <a:ext cx="10972800" cy="731520"/>
          </a:xfrm>
          <a:prstGeom prst="rect">
            <a:avLst/>
          </a:prstGeom>
          <a:noFill/>
        </p:spPr>
        <p:txBody>
          <a:bodyPr wrap="square">
            <a:spAutoFit/>
          </a:bodyPr>
          <a:lstStyle/>
          <a:p>
            <a:pPr algn="l"/>
            <a:r>
              <a:rPr sz="2800" b="1" i="0">
                <a:solidFill>
                  <a:srgbClr val="FFFFFF"/>
                </a:solidFill>
              </a:rPr>
              <a:t>The Challenge We Are Solving</a:t>
            </a:r>
          </a:p>
        </p:txBody>
      </p:sp>
      <p:sp>
        <p:nvSpPr>
          <p:cNvPr id="11" name="Rectangle 10"/>
          <p:cNvSpPr/>
          <p:nvPr/>
        </p:nvSpPr>
        <p:spPr>
          <a:xfrm>
            <a:off x="457200" y="1389888"/>
            <a:ext cx="11274552"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481328"/>
            <a:ext cx="5440680" cy="5102352"/>
          </a:xfrm>
          <a:prstGeom prst="rect">
            <a:avLst/>
          </a:prstGeom>
          <a:solidFill>
            <a:srgbClr val="0F1B30"/>
          </a:solidFill>
          <a:ln w="10160">
            <a:solidFill>
              <a:srgbClr val="3A1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481328"/>
            <a:ext cx="5440680" cy="5029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72768"/>
            <a:ext cx="5029200" cy="292608"/>
          </a:xfrm>
          <a:prstGeom prst="rect">
            <a:avLst/>
          </a:prstGeom>
          <a:noFill/>
        </p:spPr>
        <p:txBody>
          <a:bodyPr wrap="square">
            <a:spAutoFit/>
          </a:bodyPr>
          <a:lstStyle/>
          <a:p>
            <a:pPr algn="l"/>
            <a:r>
              <a:rPr sz="900" b="1" i="0">
                <a:solidFill>
                  <a:srgbClr val="EF4444"/>
                </a:solidFill>
              </a:rPr>
              <a:t>THE PROBLEM</a:t>
            </a:r>
          </a:p>
        </p:txBody>
      </p:sp>
      <p:sp>
        <p:nvSpPr>
          <p:cNvPr id="15" name="TextBox 14"/>
          <p:cNvSpPr txBox="1"/>
          <p:nvPr/>
        </p:nvSpPr>
        <p:spPr>
          <a:xfrm>
            <a:off x="502920" y="1901952"/>
            <a:ext cx="5166360" cy="868680"/>
          </a:xfrm>
          <a:prstGeom prst="rect">
            <a:avLst/>
          </a:prstGeom>
          <a:noFill/>
        </p:spPr>
        <p:txBody>
          <a:bodyPr wrap="square">
            <a:spAutoFit/>
          </a:bodyPr>
          <a:lstStyle/>
          <a:p>
            <a:pPr algn="l"/>
            <a:r>
              <a:rPr sz="1150" b="0" i="0">
                <a:solidFill>
                  <a:srgbClr val="94A3B8"/>
                </a:solidFill>
              </a:rPr>
              <a:t>Sports injuries cost athletes seasons and entire careers. Across professional sport, injury-related absences account for significant financial loss and performance decline — yet most are preventable if caught early.</a:t>
            </a:r>
          </a:p>
        </p:txBody>
      </p:sp>
      <p:sp>
        <p:nvSpPr>
          <p:cNvPr id="16" name="Rectangle 15"/>
          <p:cNvSpPr/>
          <p:nvPr/>
        </p:nvSpPr>
        <p:spPr>
          <a:xfrm>
            <a:off x="475488" y="2834640"/>
            <a:ext cx="59436"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834640"/>
            <a:ext cx="4937760" cy="292608"/>
          </a:xfrm>
          <a:prstGeom prst="rect">
            <a:avLst/>
          </a:prstGeom>
          <a:noFill/>
        </p:spPr>
        <p:txBody>
          <a:bodyPr wrap="square">
            <a:spAutoFit/>
          </a:bodyPr>
          <a:lstStyle/>
          <a:p>
            <a:pPr algn="l"/>
            <a:r>
              <a:rPr sz="1100" b="1" i="0">
                <a:solidFill>
                  <a:srgbClr val="FFFFFF"/>
                </a:solidFill>
              </a:rPr>
              <a:t>Manual Assessment is Subjective</a:t>
            </a:r>
          </a:p>
        </p:txBody>
      </p:sp>
      <p:sp>
        <p:nvSpPr>
          <p:cNvPr id="18" name="TextBox 17"/>
          <p:cNvSpPr txBox="1"/>
          <p:nvPr/>
        </p:nvSpPr>
        <p:spPr>
          <a:xfrm>
            <a:off x="640080" y="3136392"/>
            <a:ext cx="4937760" cy="594360"/>
          </a:xfrm>
          <a:prstGeom prst="rect">
            <a:avLst/>
          </a:prstGeom>
          <a:noFill/>
        </p:spPr>
        <p:txBody>
          <a:bodyPr wrap="square">
            <a:spAutoFit/>
          </a:bodyPr>
          <a:lstStyle/>
          <a:p>
            <a:pPr algn="l"/>
            <a:r>
              <a:rPr sz="1050" b="0" i="0">
                <a:solidFill>
                  <a:srgbClr val="94A3B8"/>
                </a:solidFill>
              </a:rPr>
              <a:t>Coaches and physios rely on visual observation. There is no standardised, data-driven method to flag risky movement patterns in real training environments before they cause an injury.</a:t>
            </a:r>
          </a:p>
        </p:txBody>
      </p:sp>
      <p:sp>
        <p:nvSpPr>
          <p:cNvPr id="19" name="Rectangle 18"/>
          <p:cNvSpPr/>
          <p:nvPr/>
        </p:nvSpPr>
        <p:spPr>
          <a:xfrm>
            <a:off x="475488" y="3794760"/>
            <a:ext cx="59436"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94760"/>
            <a:ext cx="4937760" cy="292608"/>
          </a:xfrm>
          <a:prstGeom prst="rect">
            <a:avLst/>
          </a:prstGeom>
          <a:noFill/>
        </p:spPr>
        <p:txBody>
          <a:bodyPr wrap="square">
            <a:spAutoFit/>
          </a:bodyPr>
          <a:lstStyle/>
          <a:p>
            <a:pPr algn="l"/>
            <a:r>
              <a:rPr sz="1100" b="1" i="0">
                <a:solidFill>
                  <a:srgbClr val="FFFFFF"/>
                </a:solidFill>
              </a:rPr>
              <a:t>Diagnosis Happens After the Injury</a:t>
            </a:r>
          </a:p>
        </p:txBody>
      </p:sp>
      <p:sp>
        <p:nvSpPr>
          <p:cNvPr id="21" name="TextBox 20"/>
          <p:cNvSpPr txBox="1"/>
          <p:nvPr/>
        </p:nvSpPr>
        <p:spPr>
          <a:xfrm>
            <a:off x="640080" y="4096512"/>
            <a:ext cx="4937760" cy="594360"/>
          </a:xfrm>
          <a:prstGeom prst="rect">
            <a:avLst/>
          </a:prstGeom>
          <a:noFill/>
        </p:spPr>
        <p:txBody>
          <a:bodyPr wrap="square">
            <a:spAutoFit/>
          </a:bodyPr>
          <a:lstStyle/>
          <a:p>
            <a:pPr algn="l"/>
            <a:r>
              <a:rPr sz="1050" b="0" i="0">
                <a:solidFill>
                  <a:srgbClr val="94A3B8"/>
                </a:solidFill>
              </a:rPr>
              <a:t>Current clinical tools measure damage after it has occurred. Athletes lack any systematic early-warning system that identifies biomechanical deterioration during training sessions.</a:t>
            </a:r>
          </a:p>
        </p:txBody>
      </p:sp>
      <p:sp>
        <p:nvSpPr>
          <p:cNvPr id="22" name="Rectangle 21"/>
          <p:cNvSpPr/>
          <p:nvPr/>
        </p:nvSpPr>
        <p:spPr>
          <a:xfrm>
            <a:off x="475488" y="4754880"/>
            <a:ext cx="59436"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54880"/>
            <a:ext cx="4937760" cy="292608"/>
          </a:xfrm>
          <a:prstGeom prst="rect">
            <a:avLst/>
          </a:prstGeom>
          <a:noFill/>
        </p:spPr>
        <p:txBody>
          <a:bodyPr wrap="square">
            <a:spAutoFit/>
          </a:bodyPr>
          <a:lstStyle/>
          <a:p>
            <a:pPr algn="l"/>
            <a:r>
              <a:rPr sz="1100" b="1" i="0">
                <a:solidFill>
                  <a:srgbClr val="FFFFFF"/>
                </a:solidFill>
              </a:rPr>
              <a:t>No Personalised Continuous Monitoring</a:t>
            </a:r>
          </a:p>
        </p:txBody>
      </p:sp>
      <p:sp>
        <p:nvSpPr>
          <p:cNvPr id="24" name="TextBox 23"/>
          <p:cNvSpPr txBox="1"/>
          <p:nvPr/>
        </p:nvSpPr>
        <p:spPr>
          <a:xfrm>
            <a:off x="640080" y="5056632"/>
            <a:ext cx="4937760" cy="594360"/>
          </a:xfrm>
          <a:prstGeom prst="rect">
            <a:avLst/>
          </a:prstGeom>
          <a:noFill/>
        </p:spPr>
        <p:txBody>
          <a:bodyPr wrap="square">
            <a:spAutoFit/>
          </a:bodyPr>
          <a:lstStyle/>
          <a:p>
            <a:pPr algn="l"/>
            <a:r>
              <a:rPr sz="1050" b="0" i="0">
                <a:solidFill>
                  <a:srgbClr val="94A3B8"/>
                </a:solidFill>
              </a:rPr>
              <a:t>Generic advice does not account for sport type, position, individual injury history, or bilateral movement asymmetry — all of which significantly affect risk levels.</a:t>
            </a:r>
          </a:p>
        </p:txBody>
      </p:sp>
      <p:sp>
        <p:nvSpPr>
          <p:cNvPr id="25" name="Rectangle 24"/>
          <p:cNvSpPr/>
          <p:nvPr/>
        </p:nvSpPr>
        <p:spPr>
          <a:xfrm>
            <a:off x="5989320" y="1481328"/>
            <a:ext cx="5943600" cy="5102352"/>
          </a:xfrm>
          <a:prstGeom prst="rect">
            <a:avLst/>
          </a:prstGeom>
          <a:solidFill>
            <a:srgbClr val="0F1B30"/>
          </a:solidFill>
          <a:ln w="10160">
            <a:solidFill>
              <a:srgbClr val="101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89320" y="1481328"/>
            <a:ext cx="5943600" cy="502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1572768"/>
            <a:ext cx="5486400" cy="292608"/>
          </a:xfrm>
          <a:prstGeom prst="rect">
            <a:avLst/>
          </a:prstGeom>
          <a:noFill/>
        </p:spPr>
        <p:txBody>
          <a:bodyPr wrap="square">
            <a:spAutoFit/>
          </a:bodyPr>
          <a:lstStyle/>
          <a:p>
            <a:pPr algn="l"/>
            <a:r>
              <a:rPr sz="900" b="1" i="0">
                <a:solidFill>
                  <a:srgbClr val="3B82F6"/>
                </a:solidFill>
              </a:rPr>
              <a:t>PROJECT OBJECTIVES</a:t>
            </a:r>
          </a:p>
        </p:txBody>
      </p:sp>
      <p:sp>
        <p:nvSpPr>
          <p:cNvPr id="28" name="Rounded Rectangle 27"/>
          <p:cNvSpPr/>
          <p:nvPr/>
        </p:nvSpPr>
        <p:spPr>
          <a:xfrm>
            <a:off x="6144768" y="1938528"/>
            <a:ext cx="438912" cy="438912"/>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44768" y="1938528"/>
            <a:ext cx="438912" cy="438912"/>
          </a:xfrm>
          <a:prstGeom prst="rect">
            <a:avLst/>
          </a:prstGeom>
          <a:noFill/>
        </p:spPr>
        <p:txBody>
          <a:bodyPr wrap="square">
            <a:spAutoFit/>
          </a:bodyPr>
          <a:lstStyle/>
          <a:p>
            <a:pPr algn="ctr"/>
            <a:r>
              <a:rPr sz="1300" b="1" i="0">
                <a:solidFill>
                  <a:srgbClr val="FFFFFF"/>
                </a:solidFill>
              </a:rPr>
              <a:t>01</a:t>
            </a:r>
          </a:p>
        </p:txBody>
      </p:sp>
      <p:sp>
        <p:nvSpPr>
          <p:cNvPr id="30" name="TextBox 29"/>
          <p:cNvSpPr txBox="1"/>
          <p:nvPr/>
        </p:nvSpPr>
        <p:spPr>
          <a:xfrm>
            <a:off x="6675120" y="1938528"/>
            <a:ext cx="5074920" cy="384048"/>
          </a:xfrm>
          <a:prstGeom prst="rect">
            <a:avLst/>
          </a:prstGeom>
          <a:noFill/>
        </p:spPr>
        <p:txBody>
          <a:bodyPr wrap="square">
            <a:spAutoFit/>
          </a:bodyPr>
          <a:lstStyle/>
          <a:p>
            <a:pPr algn="l"/>
            <a:r>
              <a:rPr sz="1200" b="1" i="0">
                <a:solidFill>
                  <a:srgbClr val="3B82F6"/>
                </a:solidFill>
              </a:rPr>
              <a:t>Detect Biomechanical Risk Before Injury Occurs</a:t>
            </a:r>
          </a:p>
        </p:txBody>
      </p:sp>
      <p:sp>
        <p:nvSpPr>
          <p:cNvPr id="31" name="TextBox 30"/>
          <p:cNvSpPr txBox="1"/>
          <p:nvPr/>
        </p:nvSpPr>
        <p:spPr>
          <a:xfrm>
            <a:off x="6675120" y="2322576"/>
            <a:ext cx="5074920" cy="1051560"/>
          </a:xfrm>
          <a:prstGeom prst="rect">
            <a:avLst/>
          </a:prstGeom>
          <a:noFill/>
        </p:spPr>
        <p:txBody>
          <a:bodyPr wrap="square">
            <a:spAutoFit/>
          </a:bodyPr>
          <a:lstStyle/>
          <a:p>
            <a:pPr algn="l"/>
            <a:r>
              <a:rPr sz="1000" b="0" i="0">
                <a:solidFill>
                  <a:srgbClr val="94A3B8"/>
                </a:solidFill>
              </a:rPr>
              <a:t>Design and deploy a complete video analysis pipeline that extracts pose landmarks, calculates clinical biomechanical metrics (knee angle, trunk lean, movement symmetry, knee valgus), and flags patterns associated with common sports injuries such as ACL tears, hamstring strains, and lower-back overload — before any injury has taken place.</a:t>
            </a:r>
          </a:p>
        </p:txBody>
      </p:sp>
      <p:sp>
        <p:nvSpPr>
          <p:cNvPr id="32" name="Rounded Rectangle 31"/>
          <p:cNvSpPr/>
          <p:nvPr/>
        </p:nvSpPr>
        <p:spPr>
          <a:xfrm>
            <a:off x="6144768" y="3493008"/>
            <a:ext cx="438912" cy="438912"/>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44768" y="3493008"/>
            <a:ext cx="438912" cy="438912"/>
          </a:xfrm>
          <a:prstGeom prst="rect">
            <a:avLst/>
          </a:prstGeom>
          <a:noFill/>
        </p:spPr>
        <p:txBody>
          <a:bodyPr wrap="square">
            <a:spAutoFit/>
          </a:bodyPr>
          <a:lstStyle/>
          <a:p>
            <a:pPr algn="ctr"/>
            <a:r>
              <a:rPr sz="1300" b="1" i="0">
                <a:solidFill>
                  <a:srgbClr val="FFFFFF"/>
                </a:solidFill>
              </a:rPr>
              <a:t>02</a:t>
            </a:r>
          </a:p>
        </p:txBody>
      </p:sp>
      <p:sp>
        <p:nvSpPr>
          <p:cNvPr id="34" name="TextBox 33"/>
          <p:cNvSpPr txBox="1"/>
          <p:nvPr/>
        </p:nvSpPr>
        <p:spPr>
          <a:xfrm>
            <a:off x="6675120" y="3493008"/>
            <a:ext cx="5074920" cy="384048"/>
          </a:xfrm>
          <a:prstGeom prst="rect">
            <a:avLst/>
          </a:prstGeom>
          <a:noFill/>
        </p:spPr>
        <p:txBody>
          <a:bodyPr wrap="square">
            <a:spAutoFit/>
          </a:bodyPr>
          <a:lstStyle/>
          <a:p>
            <a:pPr algn="l"/>
            <a:r>
              <a:rPr sz="1200" b="1" i="0">
                <a:solidFill>
                  <a:srgbClr val="06B6D4"/>
                </a:solidFill>
              </a:rPr>
              <a:t>Deliver Role-Specific Insights to Every Stakeholder</a:t>
            </a:r>
          </a:p>
        </p:txBody>
      </p:sp>
      <p:sp>
        <p:nvSpPr>
          <p:cNvPr id="35" name="TextBox 34"/>
          <p:cNvSpPr txBox="1"/>
          <p:nvPr/>
        </p:nvSpPr>
        <p:spPr>
          <a:xfrm>
            <a:off x="6675120" y="3877056"/>
            <a:ext cx="5074920" cy="1051560"/>
          </a:xfrm>
          <a:prstGeom prst="rect">
            <a:avLst/>
          </a:prstGeom>
          <a:noFill/>
        </p:spPr>
        <p:txBody>
          <a:bodyPr wrap="square">
            <a:spAutoFit/>
          </a:bodyPr>
          <a:lstStyle/>
          <a:p>
            <a:pPr algn="l"/>
            <a:r>
              <a:rPr sz="1000" b="0" i="0">
                <a:solidFill>
                  <a:srgbClr val="94A3B8"/>
                </a:solidFill>
              </a:rPr>
              <a:t>Build a multi-role platform with dedicated dashboards for Athletes, Coaches, Physiotherapists, Sports Scientists, and Administrators. Each user sees data relevant to their responsibilities — an athlete sees their corrective plan, a coach sees team risk overview, a physio sees rehabilitation tracking.</a:t>
            </a:r>
          </a:p>
        </p:txBody>
      </p:sp>
      <p:sp>
        <p:nvSpPr>
          <p:cNvPr id="36" name="Rounded Rectangle 35"/>
          <p:cNvSpPr/>
          <p:nvPr/>
        </p:nvSpPr>
        <p:spPr>
          <a:xfrm>
            <a:off x="6144768" y="5047488"/>
            <a:ext cx="438912" cy="438912"/>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44768" y="5047488"/>
            <a:ext cx="438912" cy="438912"/>
          </a:xfrm>
          <a:prstGeom prst="rect">
            <a:avLst/>
          </a:prstGeom>
          <a:noFill/>
        </p:spPr>
        <p:txBody>
          <a:bodyPr wrap="square">
            <a:spAutoFit/>
          </a:bodyPr>
          <a:lstStyle/>
          <a:p>
            <a:pPr algn="ctr"/>
            <a:r>
              <a:rPr sz="1300" b="1" i="0">
                <a:solidFill>
                  <a:srgbClr val="FFFFFF"/>
                </a:solidFill>
              </a:rPr>
              <a:t>03</a:t>
            </a:r>
          </a:p>
        </p:txBody>
      </p:sp>
      <p:sp>
        <p:nvSpPr>
          <p:cNvPr id="38" name="TextBox 37"/>
          <p:cNvSpPr txBox="1"/>
          <p:nvPr/>
        </p:nvSpPr>
        <p:spPr>
          <a:xfrm>
            <a:off x="6675120" y="5047488"/>
            <a:ext cx="5074920" cy="384048"/>
          </a:xfrm>
          <a:prstGeom prst="rect">
            <a:avLst/>
          </a:prstGeom>
          <a:noFill/>
        </p:spPr>
        <p:txBody>
          <a:bodyPr wrap="square">
            <a:spAutoFit/>
          </a:bodyPr>
          <a:lstStyle/>
          <a:p>
            <a:pPr algn="l"/>
            <a:r>
              <a:rPr sz="1200" b="1" i="0">
                <a:solidFill>
                  <a:srgbClr val="22C55E"/>
                </a:solidFill>
              </a:rPr>
              <a:t>Generate Actionable, Personalised Recommendations</a:t>
            </a:r>
          </a:p>
        </p:txBody>
      </p:sp>
      <p:sp>
        <p:nvSpPr>
          <p:cNvPr id="39" name="TextBox 38"/>
          <p:cNvSpPr txBox="1"/>
          <p:nvPr/>
        </p:nvSpPr>
        <p:spPr>
          <a:xfrm>
            <a:off x="6675120" y="5431536"/>
            <a:ext cx="5074920" cy="1051560"/>
          </a:xfrm>
          <a:prstGeom prst="rect">
            <a:avLst/>
          </a:prstGeom>
          <a:noFill/>
        </p:spPr>
        <p:txBody>
          <a:bodyPr wrap="square">
            <a:spAutoFit/>
          </a:bodyPr>
          <a:lstStyle/>
          <a:p>
            <a:pPr algn="l"/>
            <a:r>
              <a:rPr sz="1000" b="0" i="0">
                <a:solidFill>
                  <a:srgbClr val="94A3B8"/>
                </a:solidFill>
              </a:rPr>
              <a:t>Use a Groq-hosted large language model (Llama 3.3-70B) to convert the raw risk data into a clear, personalised corrective exercise plan covering targeted exercises, mobility drills, and recovery scheduling — adapted to the athlete's sport type and specific biomechanical flags detected.</a:t>
            </a:r>
          </a:p>
        </p:txBody>
      </p:sp>
      <p:sp>
        <p:nvSpPr>
          <p:cNvPr id="40" name="TextBox 39"/>
          <p:cNvSpPr txBox="1"/>
          <p:nvPr/>
        </p:nvSpPr>
        <p:spPr>
          <a:xfrm>
            <a:off x="11612880" y="6537960"/>
            <a:ext cx="457200" cy="256032"/>
          </a:xfrm>
          <a:prstGeom prst="rect">
            <a:avLst/>
          </a:prstGeom>
          <a:noFill/>
        </p:spPr>
        <p:txBody>
          <a:bodyPr wrap="square">
            <a:spAutoFit/>
          </a:bodyPr>
          <a:lstStyle/>
          <a:p>
            <a:pPr algn="r"/>
            <a:r>
              <a:rPr sz="900" b="0" i="0">
                <a:solidFill>
                  <a:srgbClr val="1E293B"/>
                </a:solidFil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Rectangle 1"/>
          <p:cNvSpPr/>
          <p:nvPr/>
        </p:nvSpPr>
        <p:spPr>
          <a:xfrm>
            <a:off x="9144000" y="0"/>
            <a:ext cx="3044952" cy="27432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10312" cy="68580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12188952" cy="2286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0" y="2286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0" y="4572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029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
            <a:ext cx="10972800" cy="320040"/>
          </a:xfrm>
          <a:prstGeom prst="rect">
            <a:avLst/>
          </a:prstGeom>
          <a:noFill/>
        </p:spPr>
        <p:txBody>
          <a:bodyPr wrap="square">
            <a:spAutoFit/>
          </a:bodyPr>
          <a:lstStyle/>
          <a:p>
            <a:pPr algn="l"/>
            <a:r>
              <a:rPr sz="900" b="1" i="0">
                <a:solidFill>
                  <a:srgbClr val="06B6D4"/>
                </a:solidFill>
              </a:rPr>
              <a:t>OUR SOLUTION</a:t>
            </a:r>
          </a:p>
        </p:txBody>
      </p:sp>
      <p:sp>
        <p:nvSpPr>
          <p:cNvPr id="9" name="Rectangle 8"/>
          <p:cNvSpPr/>
          <p:nvPr/>
        </p:nvSpPr>
        <p:spPr>
          <a:xfrm>
            <a:off x="457200" y="530352"/>
            <a:ext cx="45720" cy="7315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30352"/>
            <a:ext cx="10972800" cy="731520"/>
          </a:xfrm>
          <a:prstGeom prst="rect">
            <a:avLst/>
          </a:prstGeom>
          <a:noFill/>
        </p:spPr>
        <p:txBody>
          <a:bodyPr wrap="square">
            <a:spAutoFit/>
          </a:bodyPr>
          <a:lstStyle/>
          <a:p>
            <a:pPr algn="l"/>
            <a:r>
              <a:rPr sz="2800" b="1" i="0">
                <a:solidFill>
                  <a:srgbClr val="FFFFFF"/>
                </a:solidFill>
              </a:rPr>
              <a:t>What the Platform Delivers</a:t>
            </a:r>
          </a:p>
        </p:txBody>
      </p:sp>
      <p:sp>
        <p:nvSpPr>
          <p:cNvPr id="11" name="Rectangle 10"/>
          <p:cNvSpPr/>
          <p:nvPr/>
        </p:nvSpPr>
        <p:spPr>
          <a:xfrm>
            <a:off x="457200" y="1389888"/>
            <a:ext cx="11274552" cy="127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63040"/>
            <a:ext cx="11384280" cy="804672"/>
          </a:xfrm>
          <a:prstGeom prst="rect">
            <a:avLst/>
          </a:prstGeom>
          <a:noFill/>
        </p:spPr>
        <p:txBody>
          <a:bodyPr wrap="square">
            <a:spAutoFit/>
          </a:bodyPr>
          <a:lstStyle/>
          <a:p>
            <a:pPr algn="l"/>
            <a:r>
              <a:rPr sz="1200" b="0" i="0">
                <a:solidFill>
                  <a:srgbClr val="94A3B8"/>
                </a:solidFill>
              </a:rPr>
              <a:t>SportGuard is a full-stack web application that ingests sports training videos and produces structured, data-driven injury risk assessments. Every uploaded video is processed through a five-stage AI pipeline that extracts pose landmarks, calculates biomechanical metrics, predicts risk level using a trained XGBoost classifier, and generates a personalised corrective plan via a large language model.</a:t>
            </a:r>
          </a:p>
        </p:txBody>
      </p:sp>
      <p:sp>
        <p:nvSpPr>
          <p:cNvPr id="13" name="Rectangle 12"/>
          <p:cNvSpPr/>
          <p:nvPr/>
        </p:nvSpPr>
        <p:spPr>
          <a:xfrm>
            <a:off x="320040" y="2350008"/>
            <a:ext cx="3749039" cy="1691640"/>
          </a:xfrm>
          <a:prstGeom prst="rect">
            <a:avLst/>
          </a:prstGeom>
          <a:solidFill>
            <a:srgbClr val="0F1B30"/>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 y="2350008"/>
            <a:ext cx="3749039" cy="5943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9768" y="2459736"/>
            <a:ext cx="274320" cy="2743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2459736"/>
            <a:ext cx="274320" cy="274320"/>
          </a:xfrm>
          <a:prstGeom prst="rect">
            <a:avLst/>
          </a:prstGeom>
          <a:noFill/>
        </p:spPr>
        <p:txBody>
          <a:bodyPr wrap="square">
            <a:spAutoFit/>
          </a:bodyPr>
          <a:lstStyle/>
          <a:p>
            <a:pPr algn="ctr"/>
            <a:r>
              <a:rPr sz="900" b="1" i="0">
                <a:solidFill>
                  <a:srgbClr val="FFFFFF"/>
                </a:solidFill>
              </a:rPr>
              <a:t>1</a:t>
            </a:r>
          </a:p>
        </p:txBody>
      </p:sp>
      <p:sp>
        <p:nvSpPr>
          <p:cNvPr id="17" name="TextBox 16"/>
          <p:cNvSpPr txBox="1"/>
          <p:nvPr/>
        </p:nvSpPr>
        <p:spPr>
          <a:xfrm>
            <a:off x="795528" y="2459736"/>
            <a:ext cx="3182111" cy="347472"/>
          </a:xfrm>
          <a:prstGeom prst="rect">
            <a:avLst/>
          </a:prstGeom>
          <a:noFill/>
        </p:spPr>
        <p:txBody>
          <a:bodyPr wrap="square">
            <a:spAutoFit/>
          </a:bodyPr>
          <a:lstStyle/>
          <a:p>
            <a:pPr algn="l"/>
            <a:r>
              <a:rPr sz="1150" b="1" i="0">
                <a:solidFill>
                  <a:srgbClr val="3B82F6"/>
                </a:solidFill>
              </a:rPr>
              <a:t>Video Ingestion &amp; Processing</a:t>
            </a:r>
          </a:p>
        </p:txBody>
      </p:sp>
      <p:sp>
        <p:nvSpPr>
          <p:cNvPr id="18" name="TextBox 17"/>
          <p:cNvSpPr txBox="1"/>
          <p:nvPr/>
        </p:nvSpPr>
        <p:spPr>
          <a:xfrm>
            <a:off x="429768" y="2852928"/>
            <a:ext cx="3547871" cy="1097280"/>
          </a:xfrm>
          <a:prstGeom prst="rect">
            <a:avLst/>
          </a:prstGeom>
          <a:noFill/>
        </p:spPr>
        <p:txBody>
          <a:bodyPr wrap="square">
            <a:spAutoFit/>
          </a:bodyPr>
          <a:lstStyle/>
          <a:p>
            <a:pPr algn="l"/>
            <a:r>
              <a:rPr sz="980" b="0" i="0">
                <a:solidFill>
                  <a:srgbClr val="94A3B8"/>
                </a:solidFill>
              </a:rPr>
              <a:t>Athletes upload videos in any common format (MP4, MOV, AVI). FFmpeg normalises the footage and OpenCV samples every third frame. A skeleton-annotated MP4 is returned at the end of analysis.</a:t>
            </a:r>
          </a:p>
        </p:txBody>
      </p:sp>
      <p:sp>
        <p:nvSpPr>
          <p:cNvPr id="19" name="Rectangle 18"/>
          <p:cNvSpPr/>
          <p:nvPr/>
        </p:nvSpPr>
        <p:spPr>
          <a:xfrm>
            <a:off x="4251959" y="2350008"/>
            <a:ext cx="3749039" cy="1691640"/>
          </a:xfrm>
          <a:prstGeom prst="rect">
            <a:avLst/>
          </a:prstGeom>
          <a:solidFill>
            <a:srgbClr val="0F1B30"/>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51959" y="2350008"/>
            <a:ext cx="3749039" cy="5943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61687" y="2459736"/>
            <a:ext cx="274320" cy="2743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7" y="2459736"/>
            <a:ext cx="274320" cy="274320"/>
          </a:xfrm>
          <a:prstGeom prst="rect">
            <a:avLst/>
          </a:prstGeom>
          <a:noFill/>
        </p:spPr>
        <p:txBody>
          <a:bodyPr wrap="square">
            <a:spAutoFit/>
          </a:bodyPr>
          <a:lstStyle/>
          <a:p>
            <a:pPr algn="ctr"/>
            <a:r>
              <a:rPr sz="900" b="1" i="0">
                <a:solidFill>
                  <a:srgbClr val="FFFFFF"/>
                </a:solidFill>
              </a:rPr>
              <a:t>2</a:t>
            </a:r>
          </a:p>
        </p:txBody>
      </p:sp>
      <p:sp>
        <p:nvSpPr>
          <p:cNvPr id="23" name="TextBox 22"/>
          <p:cNvSpPr txBox="1"/>
          <p:nvPr/>
        </p:nvSpPr>
        <p:spPr>
          <a:xfrm>
            <a:off x="4727447" y="2459736"/>
            <a:ext cx="3182111" cy="347472"/>
          </a:xfrm>
          <a:prstGeom prst="rect">
            <a:avLst/>
          </a:prstGeom>
          <a:noFill/>
        </p:spPr>
        <p:txBody>
          <a:bodyPr wrap="square">
            <a:spAutoFit/>
          </a:bodyPr>
          <a:lstStyle/>
          <a:p>
            <a:pPr algn="l"/>
            <a:r>
              <a:rPr sz="1150" b="1" i="0">
                <a:solidFill>
                  <a:srgbClr val="8B5CF6"/>
                </a:solidFill>
              </a:rPr>
              <a:t>MediaPipe Pose Estimation</a:t>
            </a:r>
          </a:p>
        </p:txBody>
      </p:sp>
      <p:sp>
        <p:nvSpPr>
          <p:cNvPr id="24" name="TextBox 23"/>
          <p:cNvSpPr txBox="1"/>
          <p:nvPr/>
        </p:nvSpPr>
        <p:spPr>
          <a:xfrm>
            <a:off x="4361687" y="2852928"/>
            <a:ext cx="3547871" cy="1097280"/>
          </a:xfrm>
          <a:prstGeom prst="rect">
            <a:avLst/>
          </a:prstGeom>
          <a:noFill/>
        </p:spPr>
        <p:txBody>
          <a:bodyPr wrap="square">
            <a:spAutoFit/>
          </a:bodyPr>
          <a:lstStyle/>
          <a:p>
            <a:pPr algn="l"/>
            <a:r>
              <a:rPr sz="980" b="0" i="0">
                <a:solidFill>
                  <a:srgbClr val="94A3B8"/>
                </a:solidFill>
              </a:rPr>
              <a:t>Google MediaPipe Pose Landmarker detects 33 body landmarks per frame. Landmarks are filtered by visibility (≥0.75) and a 4 % inset margin to reject hallucinated off-screen joints.</a:t>
            </a:r>
          </a:p>
        </p:txBody>
      </p:sp>
      <p:sp>
        <p:nvSpPr>
          <p:cNvPr id="25" name="Rectangle 24"/>
          <p:cNvSpPr/>
          <p:nvPr/>
        </p:nvSpPr>
        <p:spPr>
          <a:xfrm>
            <a:off x="8183878" y="2350008"/>
            <a:ext cx="3749039" cy="1691640"/>
          </a:xfrm>
          <a:prstGeom prst="rect">
            <a:avLst/>
          </a:prstGeom>
          <a:solidFill>
            <a:srgbClr val="0F1B30"/>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78" y="2350008"/>
            <a:ext cx="3749039" cy="5943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93606" y="2459736"/>
            <a:ext cx="274320" cy="2743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6" y="2459736"/>
            <a:ext cx="274320" cy="274320"/>
          </a:xfrm>
          <a:prstGeom prst="rect">
            <a:avLst/>
          </a:prstGeom>
          <a:noFill/>
        </p:spPr>
        <p:txBody>
          <a:bodyPr wrap="square">
            <a:spAutoFit/>
          </a:bodyPr>
          <a:lstStyle/>
          <a:p>
            <a:pPr algn="ctr"/>
            <a:r>
              <a:rPr sz="900" b="1" i="0">
                <a:solidFill>
                  <a:srgbClr val="FFFFFF"/>
                </a:solidFill>
              </a:rPr>
              <a:t>3</a:t>
            </a:r>
          </a:p>
        </p:txBody>
      </p:sp>
      <p:sp>
        <p:nvSpPr>
          <p:cNvPr id="29" name="TextBox 28"/>
          <p:cNvSpPr txBox="1"/>
          <p:nvPr/>
        </p:nvSpPr>
        <p:spPr>
          <a:xfrm>
            <a:off x="8659366" y="2459736"/>
            <a:ext cx="3182111" cy="347472"/>
          </a:xfrm>
          <a:prstGeom prst="rect">
            <a:avLst/>
          </a:prstGeom>
          <a:noFill/>
        </p:spPr>
        <p:txBody>
          <a:bodyPr wrap="square">
            <a:spAutoFit/>
          </a:bodyPr>
          <a:lstStyle/>
          <a:p>
            <a:pPr algn="l"/>
            <a:r>
              <a:rPr sz="1150" b="1" i="0">
                <a:solidFill>
                  <a:srgbClr val="06B6D4"/>
                </a:solidFill>
              </a:rPr>
              <a:t>Biomechanical Analysis Engine</a:t>
            </a:r>
          </a:p>
        </p:txBody>
      </p:sp>
      <p:sp>
        <p:nvSpPr>
          <p:cNvPr id="30" name="TextBox 29"/>
          <p:cNvSpPr txBox="1"/>
          <p:nvPr/>
        </p:nvSpPr>
        <p:spPr>
          <a:xfrm>
            <a:off x="8293606" y="2852928"/>
            <a:ext cx="3547871" cy="1097280"/>
          </a:xfrm>
          <a:prstGeom prst="rect">
            <a:avLst/>
          </a:prstGeom>
          <a:noFill/>
        </p:spPr>
        <p:txBody>
          <a:bodyPr wrap="square">
            <a:spAutoFit/>
          </a:bodyPr>
          <a:lstStyle/>
          <a:p>
            <a:pPr algn="l"/>
            <a:r>
              <a:rPr sz="980" b="0" i="0">
                <a:solidFill>
                  <a:srgbClr val="94A3B8"/>
                </a:solidFill>
              </a:rPr>
              <a:t>Calculates knee flexion, hip angle, trunk lean, elbow angle, knee valgus (FPPA), bilateral symmetry, and balance offset. Risk flags activate when thresholds are breached in ≥10–25 % of frames.</a:t>
            </a:r>
          </a:p>
        </p:txBody>
      </p:sp>
      <p:sp>
        <p:nvSpPr>
          <p:cNvPr id="31" name="Rectangle 30"/>
          <p:cNvSpPr/>
          <p:nvPr/>
        </p:nvSpPr>
        <p:spPr>
          <a:xfrm>
            <a:off x="320040" y="4187952"/>
            <a:ext cx="3749039" cy="1691640"/>
          </a:xfrm>
          <a:prstGeom prst="rect">
            <a:avLst/>
          </a:prstGeom>
          <a:solidFill>
            <a:srgbClr val="0F1B30"/>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040" y="4187952"/>
            <a:ext cx="3749039" cy="5943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29768" y="4297680"/>
            <a:ext cx="274320" cy="2743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 y="4297680"/>
            <a:ext cx="274320" cy="274320"/>
          </a:xfrm>
          <a:prstGeom prst="rect">
            <a:avLst/>
          </a:prstGeom>
          <a:noFill/>
        </p:spPr>
        <p:txBody>
          <a:bodyPr wrap="square">
            <a:spAutoFit/>
          </a:bodyPr>
          <a:lstStyle/>
          <a:p>
            <a:pPr algn="ctr"/>
            <a:r>
              <a:rPr sz="900" b="1" i="0">
                <a:solidFill>
                  <a:srgbClr val="FFFFFF"/>
                </a:solidFill>
              </a:rPr>
              <a:t>4</a:t>
            </a:r>
          </a:p>
        </p:txBody>
      </p:sp>
      <p:sp>
        <p:nvSpPr>
          <p:cNvPr id="35" name="TextBox 34"/>
          <p:cNvSpPr txBox="1"/>
          <p:nvPr/>
        </p:nvSpPr>
        <p:spPr>
          <a:xfrm>
            <a:off x="795528" y="4297680"/>
            <a:ext cx="3182111" cy="347472"/>
          </a:xfrm>
          <a:prstGeom prst="rect">
            <a:avLst/>
          </a:prstGeom>
          <a:noFill/>
        </p:spPr>
        <p:txBody>
          <a:bodyPr wrap="square">
            <a:spAutoFit/>
          </a:bodyPr>
          <a:lstStyle/>
          <a:p>
            <a:pPr algn="l"/>
            <a:r>
              <a:rPr sz="1150" b="1" i="0">
                <a:solidFill>
                  <a:srgbClr val="22C55E"/>
                </a:solidFill>
              </a:rPr>
              <a:t>XGBoost Risk Prediction</a:t>
            </a:r>
          </a:p>
        </p:txBody>
      </p:sp>
      <p:sp>
        <p:nvSpPr>
          <p:cNvPr id="36" name="TextBox 35"/>
          <p:cNvSpPr txBox="1"/>
          <p:nvPr/>
        </p:nvSpPr>
        <p:spPr>
          <a:xfrm>
            <a:off x="429768" y="4690872"/>
            <a:ext cx="3547871" cy="1097280"/>
          </a:xfrm>
          <a:prstGeom prst="rect">
            <a:avLst/>
          </a:prstGeom>
          <a:noFill/>
        </p:spPr>
        <p:txBody>
          <a:bodyPr wrap="square">
            <a:spAutoFit/>
          </a:bodyPr>
          <a:lstStyle/>
          <a:p>
            <a:pPr algn="l"/>
            <a:r>
              <a:rPr sz="980" b="0" i="0">
                <a:solidFill>
                  <a:srgbClr val="94A3B8"/>
                </a:solidFill>
              </a:rPr>
              <a:t>A trained XGBoost classifier receives 12 aggregated features and outputs one of four risk classes: Low, Moderate, High, or Critical. Feature importance is led by symmetry score and valgus angle — not raw knee bend.</a:t>
            </a:r>
          </a:p>
        </p:txBody>
      </p:sp>
      <p:sp>
        <p:nvSpPr>
          <p:cNvPr id="37" name="Rectangle 36"/>
          <p:cNvSpPr/>
          <p:nvPr/>
        </p:nvSpPr>
        <p:spPr>
          <a:xfrm>
            <a:off x="4251959" y="4187952"/>
            <a:ext cx="3749039" cy="1691640"/>
          </a:xfrm>
          <a:prstGeom prst="rect">
            <a:avLst/>
          </a:prstGeom>
          <a:solidFill>
            <a:srgbClr val="0F1B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51959" y="4187952"/>
            <a:ext cx="3749039" cy="5943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361687" y="4297680"/>
            <a:ext cx="274320" cy="2743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61687" y="4297680"/>
            <a:ext cx="274320" cy="274320"/>
          </a:xfrm>
          <a:prstGeom prst="rect">
            <a:avLst/>
          </a:prstGeom>
          <a:noFill/>
        </p:spPr>
        <p:txBody>
          <a:bodyPr wrap="square">
            <a:spAutoFit/>
          </a:bodyPr>
          <a:lstStyle/>
          <a:p>
            <a:pPr algn="ctr"/>
            <a:r>
              <a:rPr sz="900" b="1" i="0">
                <a:solidFill>
                  <a:srgbClr val="FFFFFF"/>
                </a:solidFill>
              </a:rPr>
              <a:t>5</a:t>
            </a:r>
          </a:p>
        </p:txBody>
      </p:sp>
      <p:sp>
        <p:nvSpPr>
          <p:cNvPr id="41" name="TextBox 40"/>
          <p:cNvSpPr txBox="1"/>
          <p:nvPr/>
        </p:nvSpPr>
        <p:spPr>
          <a:xfrm>
            <a:off x="4727447" y="4297680"/>
            <a:ext cx="3182111" cy="347472"/>
          </a:xfrm>
          <a:prstGeom prst="rect">
            <a:avLst/>
          </a:prstGeom>
          <a:noFill/>
        </p:spPr>
        <p:txBody>
          <a:bodyPr wrap="square">
            <a:spAutoFit/>
          </a:bodyPr>
          <a:lstStyle/>
          <a:p>
            <a:pPr algn="l"/>
            <a:r>
              <a:rPr sz="1150" b="1" i="0">
                <a:solidFill>
                  <a:srgbClr val="F59E0B"/>
                </a:solidFill>
              </a:rPr>
              <a:t>Groq AI Recommendations</a:t>
            </a:r>
          </a:p>
        </p:txBody>
      </p:sp>
      <p:sp>
        <p:nvSpPr>
          <p:cNvPr id="42" name="TextBox 41"/>
          <p:cNvSpPr txBox="1"/>
          <p:nvPr/>
        </p:nvSpPr>
        <p:spPr>
          <a:xfrm>
            <a:off x="4361687" y="4690872"/>
            <a:ext cx="3547871" cy="1097280"/>
          </a:xfrm>
          <a:prstGeom prst="rect">
            <a:avLst/>
          </a:prstGeom>
          <a:noFill/>
        </p:spPr>
        <p:txBody>
          <a:bodyPr wrap="square">
            <a:spAutoFit/>
          </a:bodyPr>
          <a:lstStyle/>
          <a:p>
            <a:pPr algn="l"/>
            <a:r>
              <a:rPr sz="980" b="0" i="0">
                <a:solidFill>
                  <a:srgbClr val="94A3B8"/>
                </a:solidFill>
              </a:rPr>
              <a:t>The Llama 3.3-70B model (via Groq API) generates a structured corrective plan: targeted exercises, mobility drills, and recovery scheduling — adapted to the user's role and the specific flags detected in their session.</a:t>
            </a:r>
          </a:p>
        </p:txBody>
      </p:sp>
      <p:sp>
        <p:nvSpPr>
          <p:cNvPr id="43" name="Rectangle 42"/>
          <p:cNvSpPr/>
          <p:nvPr/>
        </p:nvSpPr>
        <p:spPr>
          <a:xfrm>
            <a:off x="8183878" y="4187952"/>
            <a:ext cx="3749039" cy="1691640"/>
          </a:xfrm>
          <a:prstGeom prst="rect">
            <a:avLst/>
          </a:prstGeom>
          <a:solidFill>
            <a:srgbClr val="0F1B3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83878" y="4187952"/>
            <a:ext cx="3749039" cy="5943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293606" y="4297680"/>
            <a:ext cx="274320" cy="27432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3606" y="4297680"/>
            <a:ext cx="274320" cy="274320"/>
          </a:xfrm>
          <a:prstGeom prst="rect">
            <a:avLst/>
          </a:prstGeom>
          <a:noFill/>
        </p:spPr>
        <p:txBody>
          <a:bodyPr wrap="square">
            <a:spAutoFit/>
          </a:bodyPr>
          <a:lstStyle/>
          <a:p>
            <a:pPr algn="ctr"/>
            <a:r>
              <a:rPr sz="900" b="1" i="0">
                <a:solidFill>
                  <a:srgbClr val="FFFFFF"/>
                </a:solidFill>
              </a:rPr>
              <a:t>6</a:t>
            </a:r>
          </a:p>
        </p:txBody>
      </p:sp>
      <p:sp>
        <p:nvSpPr>
          <p:cNvPr id="47" name="TextBox 46"/>
          <p:cNvSpPr txBox="1"/>
          <p:nvPr/>
        </p:nvSpPr>
        <p:spPr>
          <a:xfrm>
            <a:off x="8659366" y="4297680"/>
            <a:ext cx="3182111" cy="347472"/>
          </a:xfrm>
          <a:prstGeom prst="rect">
            <a:avLst/>
          </a:prstGeom>
          <a:noFill/>
        </p:spPr>
        <p:txBody>
          <a:bodyPr wrap="square">
            <a:spAutoFit/>
          </a:bodyPr>
          <a:lstStyle/>
          <a:p>
            <a:pPr algn="l"/>
            <a:r>
              <a:rPr sz="1150" b="1" i="0">
                <a:solidFill>
                  <a:srgbClr val="EF4444"/>
                </a:solidFill>
              </a:rPr>
              <a:t>Role-Based Dashboards &amp; Reports</a:t>
            </a:r>
          </a:p>
        </p:txBody>
      </p:sp>
      <p:sp>
        <p:nvSpPr>
          <p:cNvPr id="48" name="TextBox 47"/>
          <p:cNvSpPr txBox="1"/>
          <p:nvPr/>
        </p:nvSpPr>
        <p:spPr>
          <a:xfrm>
            <a:off x="8293606" y="4690872"/>
            <a:ext cx="3547871" cy="1097280"/>
          </a:xfrm>
          <a:prstGeom prst="rect">
            <a:avLst/>
          </a:prstGeom>
          <a:noFill/>
        </p:spPr>
        <p:txBody>
          <a:bodyPr wrap="square">
            <a:spAutoFit/>
          </a:bodyPr>
          <a:lstStyle/>
          <a:p>
            <a:pPr algn="l"/>
            <a:r>
              <a:rPr sz="980" b="0" i="0">
                <a:solidFill>
                  <a:srgbClr val="94A3B8"/>
                </a:solidFill>
              </a:rPr>
              <a:t>Five dedicated dashboards (Athlete, Coach, Physiotherapist, Sports Scientist, Admin). Each view surfaces the information most relevant to that role. Sessions can be deleted by the athlete; all deletions are logged for the admin.</a:t>
            </a:r>
          </a:p>
        </p:txBody>
      </p:sp>
      <p:sp>
        <p:nvSpPr>
          <p:cNvPr id="49" name="TextBox 48"/>
          <p:cNvSpPr txBox="1"/>
          <p:nvPr/>
        </p:nvSpPr>
        <p:spPr>
          <a:xfrm>
            <a:off x="11612880" y="6537960"/>
            <a:ext cx="457200" cy="256032"/>
          </a:xfrm>
          <a:prstGeom prst="rect">
            <a:avLst/>
          </a:prstGeom>
          <a:noFill/>
        </p:spPr>
        <p:txBody>
          <a:bodyPr wrap="square">
            <a:spAutoFit/>
          </a:bodyPr>
          <a:lstStyle/>
          <a:p>
            <a:pPr algn="r"/>
            <a:r>
              <a:rPr sz="900" b="0" i="0">
                <a:solidFill>
                  <a:srgbClr val="1E293B"/>
                </a:solidFil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E1A"/>
        </a:solidFill>
        <a:effectLst/>
      </p:bgPr>
    </p:bg>
    <p:spTree>
      <p:nvGrpSpPr>
        <p:cNvPr id="1" name=""/>
        <p:cNvGrpSpPr/>
        <p:nvPr/>
      </p:nvGrpSpPr>
      <p:grpSpPr/>
      <p:sp>
        <p:nvSpPr>
          <p:cNvPr id="2" name="Rectangle 1"/>
          <p:cNvSpPr/>
          <p:nvPr/>
        </p:nvSpPr>
        <p:spPr>
          <a:xfrm>
            <a:off x="9144000" y="0"/>
            <a:ext cx="3044952" cy="27432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10312" cy="68580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29400"/>
            <a:ext cx="12188952" cy="228600"/>
          </a:xfrm>
          <a:prstGeom prst="rect">
            <a:avLst/>
          </a:prstGeom>
          <a:solidFill>
            <a:srgbClr val="0F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0" y="2286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0" y="4572000"/>
            <a:ext cx="3044952" cy="1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029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1440"/>
            <a:ext cx="10972800" cy="320040"/>
          </a:xfrm>
          <a:prstGeom prst="rect">
            <a:avLst/>
          </a:prstGeom>
          <a:noFill/>
        </p:spPr>
        <p:txBody>
          <a:bodyPr wrap="square">
            <a:spAutoFit/>
          </a:bodyPr>
          <a:lstStyle/>
          <a:p>
            <a:pPr algn="l"/>
            <a:r>
              <a:rPr sz="900" b="1" i="0">
                <a:solidFill>
                  <a:srgbClr val="8B5CF6"/>
                </a:solidFill>
              </a:rPr>
              <a:t>SYSTEM WORKFLOW</a:t>
            </a:r>
          </a:p>
        </p:txBody>
      </p:sp>
      <p:pic>
        <p:nvPicPr>
          <p:cNvPr id="9" name="Picture 8" descr="workflow_chart_v2.png"/>
          <p:cNvPicPr>
            <a:picLocks noChangeAspect="1"/>
          </p:cNvPicPr>
          <p:nvPr/>
        </p:nvPicPr>
        <p:blipFill>
          <a:blip r:embed="rId2"/>
          <a:stretch>
            <a:fillRect/>
          </a:stretch>
        </p:blipFill>
        <p:spPr>
          <a:xfrm>
            <a:off x="0" y="384048"/>
            <a:ext cx="12188952" cy="6473952"/>
          </a:xfrm>
          <a:prstGeom prst="rect">
            <a:avLst/>
          </a:prstGeom>
        </p:spPr>
      </p:pic>
      <p:sp>
        <p:nvSpPr>
          <p:cNvPr id="10" name="TextBox 9"/>
          <p:cNvSpPr txBox="1"/>
          <p:nvPr/>
        </p:nvSpPr>
        <p:spPr>
          <a:xfrm>
            <a:off x="11612880" y="6537960"/>
            <a:ext cx="457200" cy="256032"/>
          </a:xfrm>
          <a:prstGeom prst="rect">
            <a:avLst/>
          </a:prstGeom>
          <a:noFill/>
        </p:spPr>
        <p:txBody>
          <a:bodyPr wrap="square">
            <a:spAutoFit/>
          </a:bodyPr>
          <a:lstStyle/>
          <a:p>
            <a:pPr algn="r"/>
            <a:r>
              <a:rPr sz="900" b="0" i="0">
                <a:solidFill>
                  <a:srgbClr val="1E293B"/>
                </a:solidFill>
              </a:rPr>
              <a:t>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